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de090bdb5a4176" /><Relationship Type="http://schemas.openxmlformats.org/officeDocument/2006/relationships/extended-properties" Target="/docProps/app.xml" Id="R4280306bf4b84697" /><Relationship Type="http://schemas.openxmlformats.org/officeDocument/2006/relationships/officeDocument" Target="/ppt/presentation.xml" Id="Rf660f1e6b7494984" /></Relationships>
</file>

<file path=ppt/presentation.xml><?xml version="1.0" encoding="utf-8"?>
<p:presentation xmlns:p="http://schemas.openxmlformats.org/presentationml/2006/main">
  <p:sldMasterIdLst>
    <p:sldMasterId xmlns:r="http://schemas.openxmlformats.org/officeDocument/2006/relationships" id="2147483648" r:id="Rb2d541301dab4eb6"/>
  </p:sldMasterIdLst>
  <p:notesMasterIdLst>
    <p:notesMasterId xmlns:r="http://schemas.openxmlformats.org/officeDocument/2006/relationships" r:id="R9e1addee7e7e4a4a"/>
  </p:notesMasterIdLst>
  <p:sldIdLst>
    <p:sldId xmlns:r="http://schemas.openxmlformats.org/officeDocument/2006/relationships" id="256" r:id="Re7e7f7fb665b4354"/>
    <p:sldId xmlns:r="http://schemas.openxmlformats.org/officeDocument/2006/relationships" id="257" r:id="R0a7c4b7b2c6547b5"/>
    <p:sldId xmlns:r="http://schemas.openxmlformats.org/officeDocument/2006/relationships" id="258" r:id="Rbd74d907e59a44be"/>
    <p:sldId xmlns:r="http://schemas.openxmlformats.org/officeDocument/2006/relationships" id="259" r:id="Rc6ec1784e5474d7b"/>
    <p:sldId xmlns:r="http://schemas.openxmlformats.org/officeDocument/2006/relationships" id="260" r:id="R9cf7feac1b7c40fd"/>
    <p:sldId xmlns:r="http://schemas.openxmlformats.org/officeDocument/2006/relationships" id="261" r:id="R5cad64e1a2b447f4"/>
    <p:sldId xmlns:r="http://schemas.openxmlformats.org/officeDocument/2006/relationships" id="262" r:id="Rf8efd4cb76e94b64"/>
    <p:sldId xmlns:r="http://schemas.openxmlformats.org/officeDocument/2006/relationships" id="263" r:id="Rbf06d8c53a0a4f95"/>
    <p:sldId xmlns:r="http://schemas.openxmlformats.org/officeDocument/2006/relationships" id="264" r:id="Rfa7d05d8f53d4206"/>
    <p:sldId xmlns:r="http://schemas.openxmlformats.org/officeDocument/2006/relationships" id="265" r:id="R98d8f1253267438c"/>
    <p:sldId xmlns:r="http://schemas.openxmlformats.org/officeDocument/2006/relationships" id="266" r:id="R3b6720b6249d45a1"/>
    <p:sldId xmlns:r="http://schemas.openxmlformats.org/officeDocument/2006/relationships" id="267" r:id="Rbb8e1c2a7af04cd2"/>
    <p:sldId xmlns:r="http://schemas.openxmlformats.org/officeDocument/2006/relationships" id="268" r:id="Rb9485253f3904c6c"/>
    <p:sldId xmlns:r="http://schemas.openxmlformats.org/officeDocument/2006/relationships" id="269" r:id="R67e6849c38964875"/>
    <p:sldId xmlns:r="http://schemas.openxmlformats.org/officeDocument/2006/relationships" id="270" r:id="R95c0bcad0ef6481b"/>
    <p:sldId xmlns:r="http://schemas.openxmlformats.org/officeDocument/2006/relationships" id="271" r:id="R965b77084da64de4"/>
    <p:sldId xmlns:r="http://schemas.openxmlformats.org/officeDocument/2006/relationships" id="272" r:id="R2b9eb22701294520"/>
    <p:sldId xmlns:r="http://schemas.openxmlformats.org/officeDocument/2006/relationships" id="273" r:id="Rc9527b21d18244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9803a5531e4082" /><Relationship Type="http://schemas.openxmlformats.org/officeDocument/2006/relationships/slideMaster" Target="/ppt/slideMasters/slideMaster1.xml" Id="Rb2d541301dab4eb6" /><Relationship Type="http://schemas.openxmlformats.org/officeDocument/2006/relationships/notesMaster" Target="/ppt/notesMasters/notesMaster1.xml" Id="R9e1addee7e7e4a4a" /><Relationship Type="http://schemas.openxmlformats.org/officeDocument/2006/relationships/presProps" Target="/ppt/presProps.xml" Id="R9f9016f982ae4131" /><Relationship Type="http://schemas.openxmlformats.org/officeDocument/2006/relationships/tableStyles" Target="/ppt/tableStyles.xml" Id="R95ac06ae489949c0" /><Relationship Type="http://schemas.openxmlformats.org/officeDocument/2006/relationships/slide" Target="/ppt/slides/slide1.xml" Id="Re7e7f7fb665b4354" /><Relationship Type="http://schemas.openxmlformats.org/officeDocument/2006/relationships/slide" Target="/ppt/slides/slide2.xml" Id="R0a7c4b7b2c6547b5" /><Relationship Type="http://schemas.openxmlformats.org/officeDocument/2006/relationships/slide" Target="/ppt/slides/slide3.xml" Id="Rbd74d907e59a44be" /><Relationship Type="http://schemas.openxmlformats.org/officeDocument/2006/relationships/slide" Target="/ppt/slides/slide4.xml" Id="Rc6ec1784e5474d7b" /><Relationship Type="http://schemas.openxmlformats.org/officeDocument/2006/relationships/slide" Target="/ppt/slides/slide5.xml" Id="R9cf7feac1b7c40fd" /><Relationship Type="http://schemas.openxmlformats.org/officeDocument/2006/relationships/slide" Target="/ppt/slides/slide6.xml" Id="R5cad64e1a2b447f4" /><Relationship Type="http://schemas.openxmlformats.org/officeDocument/2006/relationships/slide" Target="/ppt/slides/slide7.xml" Id="Rf8efd4cb76e94b64" /><Relationship Type="http://schemas.openxmlformats.org/officeDocument/2006/relationships/slide" Target="/ppt/slides/slide8.xml" Id="Rbf06d8c53a0a4f95" /><Relationship Type="http://schemas.openxmlformats.org/officeDocument/2006/relationships/slide" Target="/ppt/slides/slide9.xml" Id="Rfa7d05d8f53d4206" /><Relationship Type="http://schemas.openxmlformats.org/officeDocument/2006/relationships/slide" Target="/ppt/slides/slide10.xml" Id="R98d8f1253267438c" /><Relationship Type="http://schemas.openxmlformats.org/officeDocument/2006/relationships/slide" Target="/ppt/slides/slide11.xml" Id="R3b6720b6249d45a1" /><Relationship Type="http://schemas.openxmlformats.org/officeDocument/2006/relationships/slide" Target="/ppt/slides/slide12.xml" Id="Rbb8e1c2a7af04cd2" /><Relationship Type="http://schemas.openxmlformats.org/officeDocument/2006/relationships/slide" Target="/ppt/slides/slide13.xml" Id="Rb9485253f3904c6c" /><Relationship Type="http://schemas.openxmlformats.org/officeDocument/2006/relationships/slide" Target="/ppt/slides/slide14.xml" Id="R67e6849c38964875" /><Relationship Type="http://schemas.openxmlformats.org/officeDocument/2006/relationships/slide" Target="/ppt/slides/slide15.xml" Id="R95c0bcad0ef6481b" /><Relationship Type="http://schemas.openxmlformats.org/officeDocument/2006/relationships/slide" Target="/ppt/slides/slide16.xml" Id="R965b77084da64de4" /><Relationship Type="http://schemas.openxmlformats.org/officeDocument/2006/relationships/slide" Target="/ppt/slides/slide17.xml" Id="R2b9eb22701294520" /><Relationship Type="http://schemas.openxmlformats.org/officeDocument/2006/relationships/slide" Target="/ppt/slides/slide18.xml" Id="Rc9527b21d18244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221e73d0a041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ea36e5aa7f4a44" /><Relationship Type="http://schemas.openxmlformats.org/officeDocument/2006/relationships/notesMaster" Target="/ppt/notesMasters/notesMaster1.xml" Id="R22483aa5aed34d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6ff172d6534e4a" /><Relationship Type="http://schemas.openxmlformats.org/officeDocument/2006/relationships/notesMaster" Target="/ppt/notesMasters/notesMaster1.xml" Id="R79ed18f92d7b47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1d4d3f76384ffb" /><Relationship Type="http://schemas.openxmlformats.org/officeDocument/2006/relationships/notesMaster" Target="/ppt/notesMasters/notesMaster1.xml" Id="R04b19feae51247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c1962391ea43cd" /><Relationship Type="http://schemas.openxmlformats.org/officeDocument/2006/relationships/notesMaster" Target="/ppt/notesMasters/notesMaster1.xml" Id="R84c6f64fe0c742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65d67bdb9b41f5" /><Relationship Type="http://schemas.openxmlformats.org/officeDocument/2006/relationships/notesMaster" Target="/ppt/notesMasters/notesMaster1.xml" Id="Rf8e78266aac84d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3d5a4b82a240b9" /><Relationship Type="http://schemas.openxmlformats.org/officeDocument/2006/relationships/notesMaster" Target="/ppt/notesMasters/notesMaster1.xml" Id="Rf587a5ec20e549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59210db6b34901" /><Relationship Type="http://schemas.openxmlformats.org/officeDocument/2006/relationships/notesMaster" Target="/ppt/notesMasters/notesMaster1.xml" Id="R285ad184d23c41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5a429c0e904d56" /><Relationship Type="http://schemas.openxmlformats.org/officeDocument/2006/relationships/notesMaster" Target="/ppt/notesMasters/notesMaster1.xml" Id="R285c842bafe446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3bc9da43574f3c" /><Relationship Type="http://schemas.openxmlformats.org/officeDocument/2006/relationships/notesMaster" Target="/ppt/notesMasters/notesMaster1.xml" Id="Rcad6e8b18aa445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24debc26454eaa" /><Relationship Type="http://schemas.openxmlformats.org/officeDocument/2006/relationships/notesMaster" Target="/ppt/notesMasters/notesMaster1.xml" Id="R7556697b3b4f48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dde2966bff48ef" /><Relationship Type="http://schemas.openxmlformats.org/officeDocument/2006/relationships/notesMaster" Target="/ppt/notesMasters/notesMaster1.xml" Id="R5854bf54c15a40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72e9b690324368" /><Relationship Type="http://schemas.openxmlformats.org/officeDocument/2006/relationships/notesMaster" Target="/ppt/notesMasters/notesMaster1.xml" Id="R272cd33ccdbc4f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985856946594427" /><Relationship Type="http://schemas.openxmlformats.org/officeDocument/2006/relationships/notesMaster" Target="/ppt/notesMasters/notesMaster1.xml" Id="R81fa9e99fe4944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9012b9c79d4076" /><Relationship Type="http://schemas.openxmlformats.org/officeDocument/2006/relationships/notesMaster" Target="/ppt/notesMasters/notesMaster1.xml" Id="R2d5bf06887d2481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fdd33cc69f94be1" /><Relationship Type="http://schemas.openxmlformats.org/officeDocument/2006/relationships/notesMaster" Target="/ppt/notesMasters/notesMaster1.xml" Id="Ra825b547cee1421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ff772ce79e423a" /><Relationship Type="http://schemas.openxmlformats.org/officeDocument/2006/relationships/notesMaster" Target="/ppt/notesMasters/notesMaster1.xml" Id="R2fa1b961676e4bb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93b2b9b5e874862" /><Relationship Type="http://schemas.openxmlformats.org/officeDocument/2006/relationships/notesMaster" Target="/ppt/notesMasters/notesMaster1.xml" Id="Rf9474dbab511487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88203e230046de" /><Relationship Type="http://schemas.openxmlformats.org/officeDocument/2006/relationships/notesMaster" Target="/ppt/notesMasters/notesMaster1.xml" Id="R935606f09dce4c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Social Ear helps organizations explore social feedback, identify recurring issues and investigate the original conversations. This deck describes the implemented local application and separates working features from configuration requirements and future work. Screenshots show synthetic demo data, never private API keys.</a:t>
            </a:r>
          </a:p>
          <a:p xmlns:a="http://schemas.openxmlformats.org/drawingml/2006/main">
            <a:r>
              <a:t>Source: https://github.com/HamzaElhaddaji/social-ear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Teams can receive feedback across several channels. Social Ear centralizes imported conversations so a user can inspect the underlying evidence rather than relying only on aggregate metrics. The platform does not claim complete coverage of social networks or automatically understand every conversation.</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users include marketing teams, customer-experience teams, community managers and researchers. These are target audiences rather than documented customer deployments. Example: a mobile-app team imports launch feedback, discovers support complaints, checks original records and assigns a reviewer.</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CSV uploads and enabled social connectors produce durable background jobs. The worker normalizes dates, rejects oversized records and skips duplicates before committing a batch. Sentiment and language metadata travel with each record. The dashboard, research assistant and team workflow use tenant-scoped records.</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an actual local platform capture. Demo data currently contains 12 posts, with five positive, five negative and two neutral records after local reanalysis. The dashboard updates when filters change. Topic clusters depend on the selected records.</a:t>
            </a:r>
          </a:p>
          <a:p xmlns:a="http://schemas.openxmlformats.org/drawingml/2006/main">
            <a:r>
              <a:t>Screenshot source: http://127.0.0.1:8001/ captured on 20 October 2026. Data belongs to the synthetic demo workspace.</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conversation explorer paginates results at 25 posts per page by default. Exports include filtered evidence. The backend protects exported cells from spreadsheet formula interpretation. Social-source records can retain original URLs and provider IDs.</a:t>
            </a:r>
          </a:p>
          <a:p xmlns:a="http://schemas.openxmlformats.org/drawingml/2006/main">
            <a:r>
              <a:t>Screenshot source: http://127.0.0.1:8001/ captured on 20 October 2026. Data belongs to the synthetic demo workspace.</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optional ONNX backend uses a pinned quantized export of Cardiff NLP twitter-XLM-roBERTa sentiment. Supported languages are Arabic, English, French, German, Hindi, Italian, Spanish and Portuguese. Model card: https://huggingface.co/cardiffnlp/twitter-xlm-roberta-base-sentiment . Implementation and setup: https://github.com/HamzaElhaddaji/social-ear/blob/main/docs/MULTILINGUAL.md . Topic discovery uses TF-IDF and K-means. Default fallback configuration is English VADER plus explicit product-support rules. The running demo uses ONNX.</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running application uses Groq hosted research with model openai/gpt-oss-20b. The question and at most five excerpts, each capped at 2,000 characters, go to the provider when the user submits a question. Keys stay server-side. Existing citations only establish that referenced records exist, not that generated claims are true. Extractive mode and optional local Ollama mode also remain available. Source: https://github.com/HamzaElhaddaji/social-ear/blob/main/docs/GROQ.md</a:t>
            </a:r>
          </a:p>
          <a:p xmlns:a="http://schemas.openxmlformats.org/drawingml/2006/main">
            <a:r>
              <a:t>Screenshot source: http://127.0.0.1:8001/ captured on 20 October 2026. Data belongs to the synthetic demo workspace.</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 dialog displays one synthetic conversation. Investigation states are open, investigating and resolved. Assignment requires an existing workspace member. Audit entries record review actions. Human-reviewed sentiment survives subsequent automated reanalysis.</a:t>
            </a:r>
          </a:p>
          <a:p xmlns:a="http://schemas.openxmlformats.org/drawingml/2006/main">
            <a:r>
              <a:t>Screenshot source: http://127.0.0.1:8001/ captured on 20 October 2026. Data belongs to the synthetic demo workspace.</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explicit keyword/count thresholds. They are not predictive crisis models or statistically validated anomaly detection. Dates use UTC. The monitor uses published time, with ingestion time when no published date exists. The screenshot shows configured demo monitors and the current absence of matching alerts.</a:t>
            </a:r>
          </a:p>
          <a:p xmlns:a="http://schemas.openxmlformats.org/drawingml/2006/main">
            <a:r>
              <a:t>Screenshot source: http://127.0.0.1:8001/ captured on 20 October 2026. Data belongs to the synthetic demo workspace.</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jobs run in the database-backed worker. Saved reports contain a summary plus a bounded evidence sample. The current export format is JSON, not a styled PDF report. Schedules coalesce missed intervals into one report after restart. This release does not email reports.</a:t>
            </a:r>
          </a:p>
          <a:p xmlns:a="http://schemas.openxmlformats.org/drawingml/2006/main">
            <a:r>
              <a:t>Screenshot source: http://127.0.0.1:8001/ captured on 20 October 2026. Data belongs to the synthetic demo workspace.</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import interface queues a job and reports completion or a redacted failure. Users can retry failed jobs up to three attempts. The original CSV is not committed to Git. Storage is local SQLite by default or PostgreSQL through configuration.</a:t>
            </a:r>
          </a:p>
          <a:p xmlns:a="http://schemas.openxmlformats.org/drawingml/2006/main">
            <a:r>
              <a:t>Screenshot source: http://127.0.0.1:8001/ captured on 20 October 2026. Data belongs to the synthetic demo workspace.</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Provider access and permissions determine live availability. CSV import works without external service credentials. Mastodon public access returned 40 posts in a live read-only check during development. YouTube has mocked integration coverage and needs an API key. Social connectors remain disabled in the current demo configuration. Sources: https://github.com/HamzaElhaddaji/social-ear/blob/main/docs/SOCIAL_CONNECTORS.md</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is implemented in Python and browser JavaScript. FastAPI exposes authenticated endpoints, SQLAlchemy handles relational storage and a single worker thread processes durable job records. SQLite and PostgreSQL use the same service code. Topic analysis and sentiment run locally. Groq is an optional external boundary for research generation. This is a single-process deployment rather than a distributed production architecture.</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controls include scrypt password hashing, expiring server-side sessions, HTTP-only cookies, CSRF checks, host/origin validation and tenant-scoped lookups. Tests exercise isolation and role enforcement. Local .env stores plaintext credentials and requires ordinary filesystem protection. This deck intentionally excludes keys, passwords and provider key-management screens. The screenshot contains a synthetic demo email address.</a:t>
            </a:r>
          </a:p>
          <a:p xmlns:a="http://schemas.openxmlformats.org/drawingml/2006/main">
            <a:r>
              <a:t>Screenshot source: http://127.0.0.1:8001/ captured on 20 October 2026. Data belongs to the synthetic demo workspace.</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application commit in this presentation is 72d8725. Local regression execution ran 41 tests: 40 passed, and one optional live multilingual-model test was skipped in that run. The live model test passed separately earlier. GitHub CI for the commit passed SQLite, PostgreSQL and Docker build jobs. This does not establish production load capacity or perfect AI accuracy. Local Docker engine execution was unavailable during development. CI source: https://github.com/HamzaElhaddaji/social-ear/actions/runs/39438928786</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local platform is useful for bounded feedback datasets. The complete advanced vision still requires representative model evaluation, stronger production operations and account administration. Existing alerts use thresholds. Current connectors do not provide comprehensive social-network coverage, incremental synchronization or deletion propagation. Public hosting is outside the selected local/Docker delivery target. Source: https://github.com/HamzaElhaddaji/social-ear/blob/main/docs/ROADMAP.md</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is private. Viewers need access from the repository owner. The repository README includes setup, architecture, scope and links to detailed configuration documentation.</a:t>
            </a:r>
          </a:p>
          <a:p xmlns:a="http://schemas.openxmlformats.org/drawingml/2006/main">
            <a:r>
              <a:t>Repository: https://github.com/HamzaElhaddaji/social-ear</a:t>
            </a:r>
          </a:p>
          <a:p xmlns:a="http://schemas.openxmlformats.org/drawingml/2006/main">
            <a:r>
              <a:t/>
            </a:r>
          </a:p>
          <a:p xmlns:a="http://schemas.openxmlformats.org/drawingml/2006/main">
            <a:r>
              <a:t>Project source: https://github.com/HamzaElhaddaji/social-ear</a:t>
            </a:r>
          </a:p>
          <a:p xmlns:a="http://schemas.openxmlformats.org/drawingml/2006/main">
            <a:r>
              <a:t>Presentation snapshot: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785429c3f44c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c1ed0318a4041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79c62ed39f4a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f6ffbb7b9746c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8b39e65ac843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3b625fcfd44c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44EC3B-02A4-48B0-A046-F5AA46FD858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2904FC9-7AD0-462E-86FA-5361048BF2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C6FE97F-3640-4186-85AA-73F1B469CC1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08C258-D4D6-442E-8CBB-A698FE9690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566040A-A268-4F44-B594-4238307CD5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72C7B8-5DF7-44CD-A6C5-2A9F56D4BF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DCF2C7-018A-42F5-91A9-2B3568C503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9DF2FC4-92B2-478F-9B4F-96A010E832D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E654FB-10FB-4AA2-8EB2-D39AFE7CC6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C7AB90-FD60-4154-BE07-E44CD54925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d813818c614791" /><Relationship Type="http://schemas.openxmlformats.org/officeDocument/2006/relationships/slideLayout" Target="/ppt/slideLayouts/slideLayout1.xml" Id="R996a296ed40342d7" /><Relationship Type="http://schemas.openxmlformats.org/officeDocument/2006/relationships/slideLayout" Target="/ppt/slideLayouts/slideLayout2.xml" Id="R410e476793fa4724" /><Relationship Type="http://schemas.openxmlformats.org/officeDocument/2006/relationships/slideLayout" Target="/ppt/slideLayouts/slideLayout3.xml" Id="Rd0d0af042e6c45a5" /><Relationship Type="http://schemas.openxmlformats.org/officeDocument/2006/relationships/slideLayout" Target="/ppt/slideLayouts/slideLayout4.xml" Id="R6297f0f617ad4cdb" /><Relationship Type="http://schemas.openxmlformats.org/officeDocument/2006/relationships/slideLayout" Target="/ppt/slideLayouts/slideLayout5.xml" Id="R1ba25cd44e8147ac" /><Relationship Type="http://schemas.openxmlformats.org/officeDocument/2006/relationships/slideLayout" Target="/ppt/slideLayouts/slideLayout6.xml" Id="R298646db728e40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6a296ed40342d7"/>
    <p:sldLayoutId xmlns:r="http://schemas.openxmlformats.org/officeDocument/2006/relationships" id="2147483650" r:id="R410e476793fa4724"/>
    <p:sldLayoutId xmlns:r="http://schemas.openxmlformats.org/officeDocument/2006/relationships" id="2147483651" r:id="Rd0d0af042e6c45a5"/>
    <p:sldLayoutId xmlns:r="http://schemas.openxmlformats.org/officeDocument/2006/relationships" id="2147483652" r:id="R6297f0f617ad4cdb"/>
    <p:sldLayoutId xmlns:r="http://schemas.openxmlformats.org/officeDocument/2006/relationships" id="2147483653" r:id="R1ba25cd44e8147ac"/>
    <p:sldLayoutId xmlns:r="http://schemas.openxmlformats.org/officeDocument/2006/relationships" id="2147483654" r:id="R298646db728e40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5a462e8a2b143ec" /><Relationship Type="http://schemas.openxmlformats.org/officeDocument/2006/relationships/notesSlide" Target="/ppt/notesSlides/notesSlide1.xml" Id="R6fb8e68d640945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79037ab030e49b1" /><Relationship Type="http://schemas.openxmlformats.org/officeDocument/2006/relationships/notesSlide" Target="/ppt/notesSlides/notesSlide2.xml" Id="Rc8bcdd55890c42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ecf0efb5ce44dbe" /><Relationship Type="http://schemas.openxmlformats.org/officeDocument/2006/relationships/notesSlide" Target="/ppt/notesSlides/notesSlide3.xml" Id="R390af9c8bc6045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332cdbf08544d6" /><Relationship Type="http://schemas.openxmlformats.org/officeDocument/2006/relationships/notesSlide" Target="/ppt/notesSlides/notesSlide4.xml" Id="Rac267834e2ea49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40ebf0086474823" /><Relationship Type="http://schemas.openxmlformats.org/officeDocument/2006/relationships/image" Target="/ppt/media/image.jpeg" Id="Rcac18c66f55349a0" /><Relationship Type="http://schemas.openxmlformats.org/officeDocument/2006/relationships/notesSlide" Target="/ppt/notesSlides/notesSlide5.xml" Id="R6c019ce7d56147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f15f2fa152c42da" /><Relationship Type="http://schemas.openxmlformats.org/officeDocument/2006/relationships/image" Target="/ppt/media/image2.jpeg" Id="Rcc7a77380b65421d" /><Relationship Type="http://schemas.openxmlformats.org/officeDocument/2006/relationships/notesSlide" Target="/ppt/notesSlides/notesSlide6.xml" Id="Rf628605ccfaf43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cdf42f12884201" /><Relationship Type="http://schemas.openxmlformats.org/officeDocument/2006/relationships/notesSlide" Target="/ppt/notesSlides/notesSlide7.xml" Id="Rd47b6827cd3140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c4ebd0043ee49d9" /><Relationship Type="http://schemas.openxmlformats.org/officeDocument/2006/relationships/image" Target="/ppt/media/image3.jpeg" Id="R9e3999e468394be1" /><Relationship Type="http://schemas.openxmlformats.org/officeDocument/2006/relationships/notesSlide" Target="/ppt/notesSlides/notesSlide8.xml" Id="R6594721bf06e45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45521d9a7a94629" /><Relationship Type="http://schemas.openxmlformats.org/officeDocument/2006/relationships/image" Target="/ppt/media/image4.jpeg" Id="Rb9f131226d0a46e0" /><Relationship Type="http://schemas.openxmlformats.org/officeDocument/2006/relationships/notesSlide" Target="/ppt/notesSlides/notesSlide9.xml" Id="R7f9aeea216b244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3f424de15c84a54" /><Relationship Type="http://schemas.openxmlformats.org/officeDocument/2006/relationships/image" Target="/ppt/media/image5.jpeg" Id="R5558b0b9aa0b4ceb" /><Relationship Type="http://schemas.openxmlformats.org/officeDocument/2006/relationships/notesSlide" Target="/ppt/notesSlides/notesSlide10.xml" Id="Rf8fc51b0487a49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0317752db294ed6" /><Relationship Type="http://schemas.openxmlformats.org/officeDocument/2006/relationships/image" Target="/ppt/media/image6.jpeg" Id="Rd90f6e7398a045b6" /><Relationship Type="http://schemas.openxmlformats.org/officeDocument/2006/relationships/notesSlide" Target="/ppt/notesSlides/notesSlide11.xml" Id="Ra9ddf624f6b146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d91413c42174292" /><Relationship Type="http://schemas.openxmlformats.org/officeDocument/2006/relationships/image" Target="/ppt/media/image7.jpeg" Id="R7ccc906981e848ec" /><Relationship Type="http://schemas.openxmlformats.org/officeDocument/2006/relationships/notesSlide" Target="/ppt/notesSlides/notesSlide12.xml" Id="Raf4127409caa47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0bc4253e0254931" /><Relationship Type="http://schemas.openxmlformats.org/officeDocument/2006/relationships/notesSlide" Target="/ppt/notesSlides/notesSlide13.xml" Id="R27224f1adffe44e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b6f672d808e495d" /><Relationship Type="http://schemas.openxmlformats.org/officeDocument/2006/relationships/notesSlide" Target="/ppt/notesSlides/notesSlide14.xml" Id="Rfd8c3959a59d4c3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a02a2a275dc412d" /><Relationship Type="http://schemas.openxmlformats.org/officeDocument/2006/relationships/image" Target="/ppt/media/image8.jpeg" Id="Raa33ef5bd57740b3" /><Relationship Type="http://schemas.openxmlformats.org/officeDocument/2006/relationships/notesSlide" Target="/ppt/notesSlides/notesSlide15.xml" Id="R47fd13a80457491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1cba330d1a34404" /><Relationship Type="http://schemas.openxmlformats.org/officeDocument/2006/relationships/notesSlide" Target="/ppt/notesSlides/notesSlide16.xml" Id="Rb22093da3f22494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2987bc23f9c4c75" /><Relationship Type="http://schemas.openxmlformats.org/officeDocument/2006/relationships/notesSlide" Target="/ppt/notesSlides/notesSlide17.xml" Id="Rfe6e70e79e9a4a4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1ebaaed0ae04da1" /><Relationship Type="http://schemas.openxmlformats.org/officeDocument/2006/relationships/hyperlink" Target="https://github.com/HamzaElhaddaji/social-ear" TargetMode="External" Id="Rb17241ad8bd54b44" /><Relationship Type="http://schemas.openxmlformats.org/officeDocument/2006/relationships/notesSlide" Target="/ppt/notesSlides/notesSlide18.xml" Id="Ra67d561f97e9484a" /></Relationships>
</file>

<file path=ppt/slides/slide1.xml><?xml version="1.0" encoding="utf-8"?>
<p:sld xmlns:p="http://schemas.openxmlformats.org/presentationml/2006/main">
  <p:cSld>
    <p:bg>
      <p:bgPr>
        <a:solidFill xmlns:a="http://schemas.openxmlformats.org/drawingml/2006/main">
          <a:srgbClr val="153A3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2DCC85D-0B79-4AEB-82F2-BEAD03D97BB5}"/>
              </a:ext>
            </a:extLst>
          </p:cNvPr>
          <p:cNvSpPr>
            <a:spLocks xmlns:a="http://schemas.openxmlformats.org/drawingml/2006/main" noGrp="1"/>
          </p:cNvSpPr>
          <p:nvPr/>
        </p:nvSpPr>
        <p:spPr>
          <a:xfrm xmlns:a="http://schemas.openxmlformats.org/drawingml/2006/main">
            <a:off x="685800" y="6381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1">
                <a:solidFill>
                  <a:srgbClr val="BED78D"/>
                </a:solidFill>
                <a:latin typeface="Arial"/>
                <a:ea typeface="Arial"/>
                <a:cs typeface="Arial"/>
              </a:defRPr>
            </a:defPPr>
            <a:lvl1pPr>
              <a:defRPr sz="1425" b="1">
                <a:solidFill>
                  <a:srgbClr val="BED78D"/>
                </a:solidFill>
                <a:latin typeface="Arial"/>
                <a:ea typeface="Arial"/>
                <a:cs typeface="Arial"/>
              </a:defRPr>
            </a:lvl1pPr>
            <a:lvl2pPr>
              <a:defRPr sz="1425" b="1">
                <a:solidFill>
                  <a:srgbClr val="BED78D"/>
                </a:solidFill>
                <a:latin typeface="Arial"/>
                <a:ea typeface="Arial"/>
                <a:cs typeface="Arial"/>
              </a:defRPr>
            </a:lvl2pPr>
            <a:lvl3pPr>
              <a:defRPr sz="1425" b="1">
                <a:solidFill>
                  <a:srgbClr val="BED78D"/>
                </a:solidFill>
                <a:latin typeface="Arial"/>
                <a:ea typeface="Arial"/>
                <a:cs typeface="Arial"/>
              </a:defRPr>
            </a:lvl3pPr>
            <a:lvl4pPr>
              <a:defRPr sz="1425" b="1">
                <a:solidFill>
                  <a:srgbClr val="BED78D"/>
                </a:solidFill>
                <a:latin typeface="Arial"/>
                <a:ea typeface="Arial"/>
                <a:cs typeface="Arial"/>
              </a:defRPr>
            </a:lvl4pPr>
            <a:lvl5pPr>
              <a:defRPr sz="1425" b="1">
                <a:solidFill>
                  <a:srgbClr val="BED78D"/>
                </a:solidFill>
                <a:latin typeface="Arial"/>
                <a:ea typeface="Arial"/>
                <a:cs typeface="Arial"/>
              </a:defRPr>
            </a:lvl5pPr>
            <a:lvl6pPr>
              <a:defRPr sz="1425" b="1">
                <a:solidFill>
                  <a:srgbClr val="BED78D"/>
                </a:solidFill>
                <a:latin typeface="Arial"/>
                <a:ea typeface="Arial"/>
                <a:cs typeface="Arial"/>
              </a:defRPr>
            </a:lvl6pPr>
            <a:lvl7pPr>
              <a:defRPr sz="1425" b="1">
                <a:solidFill>
                  <a:srgbClr val="BED78D"/>
                </a:solidFill>
                <a:latin typeface="Arial"/>
                <a:ea typeface="Arial"/>
                <a:cs typeface="Arial"/>
              </a:defRPr>
            </a:lvl7pPr>
            <a:lvl8pPr>
              <a:defRPr sz="1425" b="1">
                <a:solidFill>
                  <a:srgbClr val="BED78D"/>
                </a:solidFill>
                <a:latin typeface="Arial"/>
                <a:ea typeface="Arial"/>
                <a:cs typeface="Arial"/>
              </a:defRPr>
            </a:lvl8pPr>
            <a:lvl9pPr>
              <a:defRPr sz="1425" b="1">
                <a:solidFill>
                  <a:srgbClr val="BED78D"/>
                </a:solidFill>
                <a:latin typeface="Arial"/>
                <a:ea typeface="Arial"/>
                <a:cs typeface="Arial"/>
              </a:defRPr>
            </a:lvl9pPr>
          </a:lstStyle>
          <a:p xmlns:a="http://schemas.openxmlformats.org/drawingml/2006/main">
            <a:pPr>
              <a:defRPr sz="1425" b="1">
                <a:solidFill>
                  <a:srgbClr val="BED78D"/>
                </a:solidFill>
                <a:latin typeface="Arial"/>
                <a:ea typeface="Arial"/>
                <a:cs typeface="Arial"/>
              </a:defRPr>
            </a:pPr>
            <a:r>
              <a:rPr sz="1425" b="1">
                <a:solidFill>
                  <a:srgbClr val="BED78D"/>
                </a:solidFill>
                <a:latin typeface="Arial"/>
                <a:ea typeface="Arial"/>
                <a:cs typeface="Arial"/>
              </a:rPr>
              <a:t>SOCIAL CONVERSATION INTELLIGENCE</a:t>
            </a:r>
          </a:p>
        </p:txBody>
      </p:sp>
      <p:sp>
        <p:nvSpPr>
          <p:cNvPr id="3" name="">
            <a:extLst xmlns:a="http://schemas.openxmlformats.org/drawingml/2006/main">
              <a:ext uri="{FF2B5EF4-FFF2-40B4-BE49-F238E27FC236}">
                <a16:creationId xmlns:a16="http://schemas.microsoft.com/office/drawing/2014/main" id="{21C7CE28-0BF7-45C0-9FB0-17979FB48A10}"/>
              </a:ext>
            </a:extLst>
          </p:cNvPr>
          <p:cNvSpPr>
            <a:spLocks xmlns:a="http://schemas.openxmlformats.org/drawingml/2006/main" noGrp="1"/>
          </p:cNvSpPr>
          <p:nvPr/>
        </p:nvSpPr>
        <p:spPr>
          <a:xfrm xmlns:a="http://schemas.openxmlformats.org/drawingml/2006/main">
            <a:off x="685800" y="203835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6900" b="1">
                <a:solidFill>
                  <a:srgbClr val="FFFFFF"/>
                </a:solidFill>
                <a:latin typeface="Arial"/>
                <a:ea typeface="Arial"/>
                <a:cs typeface="Arial"/>
              </a:defRPr>
            </a:defPPr>
            <a:lvl1pPr>
              <a:defRPr sz="6900" b="1">
                <a:solidFill>
                  <a:srgbClr val="FFFFFF"/>
                </a:solidFill>
                <a:latin typeface="Arial"/>
                <a:ea typeface="Arial"/>
                <a:cs typeface="Arial"/>
              </a:defRPr>
            </a:lvl1pPr>
            <a:lvl2pPr>
              <a:defRPr sz="6900" b="1">
                <a:solidFill>
                  <a:srgbClr val="FFFFFF"/>
                </a:solidFill>
                <a:latin typeface="Arial"/>
                <a:ea typeface="Arial"/>
                <a:cs typeface="Arial"/>
              </a:defRPr>
            </a:lvl2pPr>
            <a:lvl3pPr>
              <a:defRPr sz="6900" b="1">
                <a:solidFill>
                  <a:srgbClr val="FFFFFF"/>
                </a:solidFill>
                <a:latin typeface="Arial"/>
                <a:ea typeface="Arial"/>
                <a:cs typeface="Arial"/>
              </a:defRPr>
            </a:lvl3pPr>
            <a:lvl4pPr>
              <a:defRPr sz="6900" b="1">
                <a:solidFill>
                  <a:srgbClr val="FFFFFF"/>
                </a:solidFill>
                <a:latin typeface="Arial"/>
                <a:ea typeface="Arial"/>
                <a:cs typeface="Arial"/>
              </a:defRPr>
            </a:lvl4pPr>
            <a:lvl5pPr>
              <a:defRPr sz="6900" b="1">
                <a:solidFill>
                  <a:srgbClr val="FFFFFF"/>
                </a:solidFill>
                <a:latin typeface="Arial"/>
                <a:ea typeface="Arial"/>
                <a:cs typeface="Arial"/>
              </a:defRPr>
            </a:lvl5pPr>
            <a:lvl6pPr>
              <a:defRPr sz="6900" b="1">
                <a:solidFill>
                  <a:srgbClr val="FFFFFF"/>
                </a:solidFill>
                <a:latin typeface="Arial"/>
                <a:ea typeface="Arial"/>
                <a:cs typeface="Arial"/>
              </a:defRPr>
            </a:lvl6pPr>
            <a:lvl7pPr>
              <a:defRPr sz="6900" b="1">
                <a:solidFill>
                  <a:srgbClr val="FFFFFF"/>
                </a:solidFill>
                <a:latin typeface="Arial"/>
                <a:ea typeface="Arial"/>
                <a:cs typeface="Arial"/>
              </a:defRPr>
            </a:lvl7pPr>
            <a:lvl8pPr>
              <a:defRPr sz="6900" b="1">
                <a:solidFill>
                  <a:srgbClr val="FFFFFF"/>
                </a:solidFill>
                <a:latin typeface="Arial"/>
                <a:ea typeface="Arial"/>
                <a:cs typeface="Arial"/>
              </a:defRPr>
            </a:lvl8pPr>
            <a:lvl9pPr>
              <a:defRPr sz="6900" b="1">
                <a:solidFill>
                  <a:srgbClr val="FFFFFF"/>
                </a:solidFill>
                <a:latin typeface="Arial"/>
                <a:ea typeface="Arial"/>
                <a:cs typeface="Arial"/>
              </a:defRPr>
            </a:lvl9pPr>
          </a:lstStyle>
          <a:p xmlns:a="http://schemas.openxmlformats.org/drawingml/2006/main">
            <a:pPr>
              <a:defRPr sz="6900" b="1">
                <a:solidFill>
                  <a:srgbClr val="FFFFFF"/>
                </a:solidFill>
                <a:latin typeface="Arial"/>
                <a:ea typeface="Arial"/>
                <a:cs typeface="Arial"/>
              </a:defRPr>
            </a:pPr>
            <a:r>
              <a:rPr sz="6900" b="1">
                <a:solidFill>
                  <a:srgbClr val="FFFFFF"/>
                </a:solidFill>
                <a:latin typeface="Arial"/>
                <a:ea typeface="Arial"/>
                <a:cs typeface="Arial"/>
              </a:rPr>
              <a:t>Social Ear</a:t>
            </a:r>
          </a:p>
        </p:txBody>
      </p:sp>
      <p:sp>
        <p:nvSpPr>
          <p:cNvPr id="4" name="">
            <a:extLst xmlns:a="http://schemas.openxmlformats.org/drawingml/2006/main">
              <a:ext uri="{FF2B5EF4-FFF2-40B4-BE49-F238E27FC236}">
                <a16:creationId xmlns:a16="http://schemas.microsoft.com/office/drawing/2014/main" id="{1C82E11D-DD44-4063-8CB2-C50A2C1EA18D}"/>
              </a:ext>
            </a:extLst>
          </p:cNvPr>
          <p:cNvSpPr>
            <a:spLocks xmlns:a="http://schemas.openxmlformats.org/drawingml/2006/main" noGrp="1"/>
          </p:cNvSpPr>
          <p:nvPr/>
        </p:nvSpPr>
        <p:spPr>
          <a:xfrm xmlns:a="http://schemas.openxmlformats.org/drawingml/2006/main">
            <a:off x="733425" y="3476625"/>
            <a:ext cx="9525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850" b="0">
                <a:solidFill>
                  <a:srgbClr val="FFFFFF"/>
                </a:solidFill>
                <a:latin typeface="Arial"/>
                <a:ea typeface="Arial"/>
                <a:cs typeface="Arial"/>
              </a:defRPr>
            </a:defPPr>
            <a:lvl1pPr>
              <a:defRPr sz="2850" b="0">
                <a:solidFill>
                  <a:srgbClr val="FFFFFF"/>
                </a:solidFill>
                <a:latin typeface="Arial"/>
                <a:ea typeface="Arial"/>
                <a:cs typeface="Arial"/>
              </a:defRPr>
            </a:lvl1pPr>
            <a:lvl2pPr>
              <a:defRPr sz="2850" b="0">
                <a:solidFill>
                  <a:srgbClr val="FFFFFF"/>
                </a:solidFill>
                <a:latin typeface="Arial"/>
                <a:ea typeface="Arial"/>
                <a:cs typeface="Arial"/>
              </a:defRPr>
            </a:lvl2pPr>
            <a:lvl3pPr>
              <a:defRPr sz="2850" b="0">
                <a:solidFill>
                  <a:srgbClr val="FFFFFF"/>
                </a:solidFill>
                <a:latin typeface="Arial"/>
                <a:ea typeface="Arial"/>
                <a:cs typeface="Arial"/>
              </a:defRPr>
            </a:lvl3pPr>
            <a:lvl4pPr>
              <a:defRPr sz="2850" b="0">
                <a:solidFill>
                  <a:srgbClr val="FFFFFF"/>
                </a:solidFill>
                <a:latin typeface="Arial"/>
                <a:ea typeface="Arial"/>
                <a:cs typeface="Arial"/>
              </a:defRPr>
            </a:lvl4pPr>
            <a:lvl5pPr>
              <a:defRPr sz="2850" b="0">
                <a:solidFill>
                  <a:srgbClr val="FFFFFF"/>
                </a:solidFill>
                <a:latin typeface="Arial"/>
                <a:ea typeface="Arial"/>
                <a:cs typeface="Arial"/>
              </a:defRPr>
            </a:lvl5pPr>
            <a:lvl6pPr>
              <a:defRPr sz="2850" b="0">
                <a:solidFill>
                  <a:srgbClr val="FFFFFF"/>
                </a:solidFill>
                <a:latin typeface="Arial"/>
                <a:ea typeface="Arial"/>
                <a:cs typeface="Arial"/>
              </a:defRPr>
            </a:lvl6pPr>
            <a:lvl7pPr>
              <a:defRPr sz="2850" b="0">
                <a:solidFill>
                  <a:srgbClr val="FFFFFF"/>
                </a:solidFill>
                <a:latin typeface="Arial"/>
                <a:ea typeface="Arial"/>
                <a:cs typeface="Arial"/>
              </a:defRPr>
            </a:lvl7pPr>
            <a:lvl8pPr>
              <a:defRPr sz="2850" b="0">
                <a:solidFill>
                  <a:srgbClr val="FFFFFF"/>
                </a:solidFill>
                <a:latin typeface="Arial"/>
                <a:ea typeface="Arial"/>
                <a:cs typeface="Arial"/>
              </a:defRPr>
            </a:lvl8pPr>
            <a:lvl9pPr>
              <a:defRPr sz="2850" b="0">
                <a:solidFill>
                  <a:srgbClr val="FFFFFF"/>
                </a:solidFill>
                <a:latin typeface="Arial"/>
                <a:ea typeface="Arial"/>
                <a:cs typeface="Arial"/>
              </a:defRPr>
            </a:lvl9pPr>
          </a:lstStyle>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Understanding public feedback</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with AI and source evidence</a:t>
            </a:r>
          </a:p>
        </p:txBody>
      </p:sp>
      <p:sp>
        <p:nvSpPr>
          <p:cNvPr id="5" name="">
            <a:extLst xmlns:a="http://schemas.openxmlformats.org/drawingml/2006/main">
              <a:ext uri="{FF2B5EF4-FFF2-40B4-BE49-F238E27FC236}">
                <a16:creationId xmlns:a16="http://schemas.microsoft.com/office/drawing/2014/main" id="{F742F5E4-D955-4D25-A241-8ACC99CFB0D5}"/>
              </a:ext>
            </a:extLst>
          </p:cNvPr>
          <p:cNvSpPr>
            <a:spLocks xmlns:a="http://schemas.openxmlformats.org/drawingml/2006/main" noGrp="1"/>
          </p:cNvSpPr>
          <p:nvPr/>
        </p:nvSpPr>
        <p:spPr>
          <a:xfrm xmlns:a="http://schemas.openxmlformats.org/drawingml/2006/main">
            <a:off x="742950" y="555307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BED78D"/>
                </a:solidFill>
                <a:latin typeface="Arial"/>
                <a:ea typeface="Arial"/>
                <a:cs typeface="Arial"/>
              </a:defRPr>
            </a:defPPr>
            <a:lvl1pPr>
              <a:defRPr sz="1875" b="0">
                <a:solidFill>
                  <a:srgbClr val="BED78D"/>
                </a:solidFill>
                <a:latin typeface="Arial"/>
                <a:ea typeface="Arial"/>
                <a:cs typeface="Arial"/>
              </a:defRPr>
            </a:lvl1pPr>
            <a:lvl2pPr>
              <a:defRPr sz="1875" b="0">
                <a:solidFill>
                  <a:srgbClr val="BED78D"/>
                </a:solidFill>
                <a:latin typeface="Arial"/>
                <a:ea typeface="Arial"/>
                <a:cs typeface="Arial"/>
              </a:defRPr>
            </a:lvl2pPr>
            <a:lvl3pPr>
              <a:defRPr sz="1875" b="0">
                <a:solidFill>
                  <a:srgbClr val="BED78D"/>
                </a:solidFill>
                <a:latin typeface="Arial"/>
                <a:ea typeface="Arial"/>
                <a:cs typeface="Arial"/>
              </a:defRPr>
            </a:lvl3pPr>
            <a:lvl4pPr>
              <a:defRPr sz="1875" b="0">
                <a:solidFill>
                  <a:srgbClr val="BED78D"/>
                </a:solidFill>
                <a:latin typeface="Arial"/>
                <a:ea typeface="Arial"/>
                <a:cs typeface="Arial"/>
              </a:defRPr>
            </a:lvl4pPr>
            <a:lvl5pPr>
              <a:defRPr sz="1875" b="0">
                <a:solidFill>
                  <a:srgbClr val="BED78D"/>
                </a:solidFill>
                <a:latin typeface="Arial"/>
                <a:ea typeface="Arial"/>
                <a:cs typeface="Arial"/>
              </a:defRPr>
            </a:lvl5pPr>
            <a:lvl6pPr>
              <a:defRPr sz="1875" b="0">
                <a:solidFill>
                  <a:srgbClr val="BED78D"/>
                </a:solidFill>
                <a:latin typeface="Arial"/>
                <a:ea typeface="Arial"/>
                <a:cs typeface="Arial"/>
              </a:defRPr>
            </a:lvl6pPr>
            <a:lvl7pPr>
              <a:defRPr sz="1875" b="0">
                <a:solidFill>
                  <a:srgbClr val="BED78D"/>
                </a:solidFill>
                <a:latin typeface="Arial"/>
                <a:ea typeface="Arial"/>
                <a:cs typeface="Arial"/>
              </a:defRPr>
            </a:lvl7pPr>
            <a:lvl8pPr>
              <a:defRPr sz="1875" b="0">
                <a:solidFill>
                  <a:srgbClr val="BED78D"/>
                </a:solidFill>
                <a:latin typeface="Arial"/>
                <a:ea typeface="Arial"/>
                <a:cs typeface="Arial"/>
              </a:defRPr>
            </a:lvl8pPr>
            <a:lvl9pPr>
              <a:defRPr sz="1875" b="0">
                <a:solidFill>
                  <a:srgbClr val="BED78D"/>
                </a:solidFill>
                <a:latin typeface="Arial"/>
                <a:ea typeface="Arial"/>
                <a:cs typeface="Arial"/>
              </a:defRPr>
            </a:lvl9pPr>
          </a:lstStyle>
          <a:p xmlns:a="http://schemas.openxmlformats.org/drawingml/2006/main">
            <a:pPr>
              <a:defRPr sz="1875" b="0">
                <a:solidFill>
                  <a:srgbClr val="BED78D"/>
                </a:solidFill>
                <a:latin typeface="Arial"/>
                <a:ea typeface="Arial"/>
                <a:cs typeface="Arial"/>
              </a:defRPr>
            </a:pPr>
            <a:r>
              <a:rPr sz="1875" b="0">
                <a:solidFill>
                  <a:srgbClr val="BED78D"/>
                </a:solidFill>
                <a:latin typeface="Arial"/>
                <a:ea typeface="Arial"/>
                <a:cs typeface="Arial"/>
              </a:rPr>
              <a:t>Project overview and platform walkthrough</a:t>
            </a:r>
          </a:p>
        </p:txBody>
      </p:sp>
      <p:sp>
        <p:nvSpPr>
          <p:cNvPr id="6" name="">
            <a:extLst xmlns:a="http://schemas.openxmlformats.org/drawingml/2006/main">
              <a:ext uri="{FF2B5EF4-FFF2-40B4-BE49-F238E27FC236}">
                <a16:creationId xmlns:a16="http://schemas.microsoft.com/office/drawing/2014/main" id="{04328DD8-6B8D-427E-A0DE-C6FA49BEDF88}"/>
              </a:ext>
            </a:extLst>
          </p:cNvPr>
          <p:cNvSpPr>
            <a:spLocks xmlns:a="http://schemas.openxmlformats.org/drawingml/2006/main" noGrp="1"/>
          </p:cNvSpPr>
          <p:nvPr/>
        </p:nvSpPr>
        <p:spPr>
          <a:xfrm xmlns:a="http://schemas.openxmlformats.org/drawingml/2006/main">
            <a:off x="742950" y="6124575"/>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BED78D"/>
                </a:solidFill>
                <a:latin typeface="Arial"/>
                <a:ea typeface="Arial"/>
                <a:cs typeface="Arial"/>
              </a:defRPr>
            </a:defPPr>
            <a:lvl1pPr>
              <a:defRPr sz="1350" b="0">
                <a:solidFill>
                  <a:srgbClr val="BED78D"/>
                </a:solidFill>
                <a:latin typeface="Arial"/>
                <a:ea typeface="Arial"/>
                <a:cs typeface="Arial"/>
              </a:defRPr>
            </a:lvl1pPr>
            <a:lvl2pPr>
              <a:defRPr sz="1350" b="0">
                <a:solidFill>
                  <a:srgbClr val="BED78D"/>
                </a:solidFill>
                <a:latin typeface="Arial"/>
                <a:ea typeface="Arial"/>
                <a:cs typeface="Arial"/>
              </a:defRPr>
            </a:lvl2pPr>
            <a:lvl3pPr>
              <a:defRPr sz="1350" b="0">
                <a:solidFill>
                  <a:srgbClr val="BED78D"/>
                </a:solidFill>
                <a:latin typeface="Arial"/>
                <a:ea typeface="Arial"/>
                <a:cs typeface="Arial"/>
              </a:defRPr>
            </a:lvl3pPr>
            <a:lvl4pPr>
              <a:defRPr sz="1350" b="0">
                <a:solidFill>
                  <a:srgbClr val="BED78D"/>
                </a:solidFill>
                <a:latin typeface="Arial"/>
                <a:ea typeface="Arial"/>
                <a:cs typeface="Arial"/>
              </a:defRPr>
            </a:lvl4pPr>
            <a:lvl5pPr>
              <a:defRPr sz="1350" b="0">
                <a:solidFill>
                  <a:srgbClr val="BED78D"/>
                </a:solidFill>
                <a:latin typeface="Arial"/>
                <a:ea typeface="Arial"/>
                <a:cs typeface="Arial"/>
              </a:defRPr>
            </a:lvl5pPr>
            <a:lvl6pPr>
              <a:defRPr sz="1350" b="0">
                <a:solidFill>
                  <a:srgbClr val="BED78D"/>
                </a:solidFill>
                <a:latin typeface="Arial"/>
                <a:ea typeface="Arial"/>
                <a:cs typeface="Arial"/>
              </a:defRPr>
            </a:lvl6pPr>
            <a:lvl7pPr>
              <a:defRPr sz="1350" b="0">
                <a:solidFill>
                  <a:srgbClr val="BED78D"/>
                </a:solidFill>
                <a:latin typeface="Arial"/>
                <a:ea typeface="Arial"/>
                <a:cs typeface="Arial"/>
              </a:defRPr>
            </a:lvl7pPr>
            <a:lvl8pPr>
              <a:defRPr sz="1350" b="0">
                <a:solidFill>
                  <a:srgbClr val="BED78D"/>
                </a:solidFill>
                <a:latin typeface="Arial"/>
                <a:ea typeface="Arial"/>
                <a:cs typeface="Arial"/>
              </a:defRPr>
            </a:lvl8pPr>
            <a:lvl9pPr>
              <a:defRPr sz="1350" b="0">
                <a:solidFill>
                  <a:srgbClr val="BED78D"/>
                </a:solidFill>
                <a:latin typeface="Arial"/>
                <a:ea typeface="Arial"/>
                <a:cs typeface="Arial"/>
              </a:defRPr>
            </a:lvl9pPr>
          </a:lstStyle>
          <a:p xmlns:a="http://schemas.openxmlformats.org/drawingml/2006/main">
            <a:pPr>
              <a:defRPr sz="1350" b="0">
                <a:solidFill>
                  <a:srgbClr val="BED78D"/>
                </a:solidFill>
                <a:latin typeface="Arial"/>
                <a:ea typeface="Arial"/>
                <a:cs typeface="Arial"/>
              </a:defRPr>
            </a:pPr>
            <a:r>
              <a:rPr sz="1350" b="0">
                <a:solidFill>
                  <a:srgbClr val="BED78D"/>
                </a:solidFill>
                <a:latin typeface="Arial"/>
                <a:ea typeface="Arial"/>
                <a:cs typeface="Arial"/>
              </a:rPr>
              <a:t>20 October 2026</a:t>
            </a:r>
          </a:p>
        </p:txBody>
      </p:sp>
    </p:spTree>
    <p:extLst>
      <p:ext uri="{BB962C8B-B14F-4D97-AF65-F5344CB8AC3E}">
        <p14:creationId xmlns:p14="http://schemas.microsoft.com/office/powerpoint/2010/main" val="173257573"/>
      </p:ext>
    </p:extLst>
  </p:cSld>
</p:sld>
</file>

<file path=ppt/slides/slide2.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7FC77CA-3235-40E3-A2E8-0061645D36B3}"/>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PROJECT IDEA</a:t>
            </a:r>
          </a:p>
        </p:txBody>
      </p:sp>
      <p:sp>
        <p:nvSpPr>
          <p:cNvPr id="3" name="">
            <a:extLst xmlns:a="http://schemas.openxmlformats.org/drawingml/2006/main">
              <a:ext uri="{FF2B5EF4-FFF2-40B4-BE49-F238E27FC236}">
                <a16:creationId xmlns:a16="http://schemas.microsoft.com/office/drawing/2014/main" id="{30F79772-63BD-4B87-8E9A-6E36EF7B18FC}"/>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The problem Social Ear addresses</a:t>
            </a:r>
          </a:p>
        </p:txBody>
      </p:sp>
      <p:sp>
        <p:nvSpPr>
          <p:cNvPr id="4" name="">
            <a:extLst xmlns:a="http://schemas.openxmlformats.org/drawingml/2006/main">
              <a:ext uri="{FF2B5EF4-FFF2-40B4-BE49-F238E27FC236}">
                <a16:creationId xmlns:a16="http://schemas.microsoft.com/office/drawing/2014/main" id="{8F8C1E15-BE29-4B2A-90B5-AC761AC54060}"/>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1AC60C5-7FE1-4C4B-BE66-2E43E6D095B0}"/>
              </a:ext>
            </a:extLst>
          </p:cNvPr>
          <p:cNvSpPr>
            <a:spLocks xmlns:a="http://schemas.openxmlformats.org/drawingml/2006/main" noGrp="1"/>
          </p:cNvSpPr>
          <p:nvPr/>
        </p:nvSpPr>
        <p:spPr>
          <a:xfrm xmlns:a="http://schemas.openxmlformats.org/drawingml/2006/main">
            <a:off x="609600" y="1809750"/>
            <a:ext cx="5810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525" b="1">
                <a:solidFill>
                  <a:srgbClr val="153A32"/>
                </a:solidFill>
                <a:latin typeface="Arial"/>
                <a:ea typeface="Arial"/>
                <a:cs typeface="Arial"/>
              </a:defRPr>
            </a:defPPr>
            <a:lvl1pPr>
              <a:defRPr sz="3525" b="1">
                <a:solidFill>
                  <a:srgbClr val="153A32"/>
                </a:solidFill>
                <a:latin typeface="Arial"/>
                <a:ea typeface="Arial"/>
                <a:cs typeface="Arial"/>
              </a:defRPr>
            </a:lvl1pPr>
            <a:lvl2pPr>
              <a:defRPr sz="3525" b="1">
                <a:solidFill>
                  <a:srgbClr val="153A32"/>
                </a:solidFill>
                <a:latin typeface="Arial"/>
                <a:ea typeface="Arial"/>
                <a:cs typeface="Arial"/>
              </a:defRPr>
            </a:lvl2pPr>
            <a:lvl3pPr>
              <a:defRPr sz="3525" b="1">
                <a:solidFill>
                  <a:srgbClr val="153A32"/>
                </a:solidFill>
                <a:latin typeface="Arial"/>
                <a:ea typeface="Arial"/>
                <a:cs typeface="Arial"/>
              </a:defRPr>
            </a:lvl3pPr>
            <a:lvl4pPr>
              <a:defRPr sz="3525" b="1">
                <a:solidFill>
                  <a:srgbClr val="153A32"/>
                </a:solidFill>
                <a:latin typeface="Arial"/>
                <a:ea typeface="Arial"/>
                <a:cs typeface="Arial"/>
              </a:defRPr>
            </a:lvl4pPr>
            <a:lvl5pPr>
              <a:defRPr sz="3525" b="1">
                <a:solidFill>
                  <a:srgbClr val="153A32"/>
                </a:solidFill>
                <a:latin typeface="Arial"/>
                <a:ea typeface="Arial"/>
                <a:cs typeface="Arial"/>
              </a:defRPr>
            </a:lvl5pPr>
            <a:lvl6pPr>
              <a:defRPr sz="3525" b="1">
                <a:solidFill>
                  <a:srgbClr val="153A32"/>
                </a:solidFill>
                <a:latin typeface="Arial"/>
                <a:ea typeface="Arial"/>
                <a:cs typeface="Arial"/>
              </a:defRPr>
            </a:lvl6pPr>
            <a:lvl7pPr>
              <a:defRPr sz="3525" b="1">
                <a:solidFill>
                  <a:srgbClr val="153A32"/>
                </a:solidFill>
                <a:latin typeface="Arial"/>
                <a:ea typeface="Arial"/>
                <a:cs typeface="Arial"/>
              </a:defRPr>
            </a:lvl7pPr>
            <a:lvl8pPr>
              <a:defRPr sz="3525" b="1">
                <a:solidFill>
                  <a:srgbClr val="153A32"/>
                </a:solidFill>
                <a:latin typeface="Arial"/>
                <a:ea typeface="Arial"/>
                <a:cs typeface="Arial"/>
              </a:defRPr>
            </a:lvl8pPr>
            <a:lvl9pPr>
              <a:defRPr sz="3525" b="1">
                <a:solidFill>
                  <a:srgbClr val="153A32"/>
                </a:solidFill>
                <a:latin typeface="Arial"/>
                <a:ea typeface="Arial"/>
                <a:cs typeface="Arial"/>
              </a:defRPr>
            </a:lvl9pPr>
          </a:lstStyle>
          <a:p xmlns:a="http://schemas.openxmlformats.org/drawingml/2006/main">
            <a:pPr>
              <a:defRPr sz="3525" b="1">
                <a:solidFill>
                  <a:srgbClr val="153A32"/>
                </a:solidFill>
                <a:latin typeface="Arial"/>
                <a:ea typeface="Arial"/>
                <a:cs typeface="Arial"/>
              </a:defRPr>
            </a:pPr>
            <a:r>
              <a:rPr sz="3525" b="1">
                <a:solidFill>
                  <a:srgbClr val="153A32"/>
                </a:solidFill>
                <a:latin typeface="Arial"/>
                <a:ea typeface="Arial"/>
                <a:cs typeface="Arial"/>
              </a:rPr>
              <a:t>Public feedback is difficult</a:t>
            </a:r>
          </a:p>
          <a:p xmlns:a="http://schemas.openxmlformats.org/drawingml/2006/main">
            <a:pPr>
              <a:defRPr sz="3525" b="1">
                <a:solidFill>
                  <a:srgbClr val="153A32"/>
                </a:solidFill>
                <a:latin typeface="Arial"/>
                <a:ea typeface="Arial"/>
                <a:cs typeface="Arial"/>
              </a:defRPr>
            </a:pPr>
            <a:r>
              <a:rPr sz="3525" b="1">
                <a:solidFill>
                  <a:srgbClr val="153A32"/>
                </a:solidFill>
                <a:latin typeface="Arial"/>
                <a:ea typeface="Arial"/>
                <a:cs typeface="Arial"/>
              </a:rPr>
              <a:t>to review at scale</a:t>
            </a:r>
          </a:p>
        </p:txBody>
      </p:sp>
      <p:sp>
        <p:nvSpPr>
          <p:cNvPr id="6" name="">
            <a:extLst xmlns:a="http://schemas.openxmlformats.org/drawingml/2006/main">
              <a:ext uri="{FF2B5EF4-FFF2-40B4-BE49-F238E27FC236}">
                <a16:creationId xmlns:a16="http://schemas.microsoft.com/office/drawing/2014/main" id="{C6BAC679-D5CD-4666-9E69-34668C1C82B6}"/>
              </a:ext>
            </a:extLst>
          </p:cNvPr>
          <p:cNvSpPr>
            <a:spLocks xmlns:a="http://schemas.openxmlformats.org/drawingml/2006/main" noGrp="1"/>
          </p:cNvSpPr>
          <p:nvPr/>
        </p:nvSpPr>
        <p:spPr>
          <a:xfrm xmlns:a="http://schemas.openxmlformats.org/drawingml/2006/main">
            <a:off x="619125" y="3638550"/>
            <a:ext cx="5810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64786A"/>
                </a:solidFill>
                <a:latin typeface="Arial"/>
                <a:ea typeface="Arial"/>
                <a:cs typeface="Arial"/>
              </a:defRPr>
            </a:defPPr>
            <a:lvl1pPr>
              <a:defRPr sz="2175" b="0">
                <a:solidFill>
                  <a:srgbClr val="64786A"/>
                </a:solidFill>
                <a:latin typeface="Arial"/>
                <a:ea typeface="Arial"/>
                <a:cs typeface="Arial"/>
              </a:defRPr>
            </a:lvl1pPr>
            <a:lvl2pPr>
              <a:defRPr sz="2175" b="0">
                <a:solidFill>
                  <a:srgbClr val="64786A"/>
                </a:solidFill>
                <a:latin typeface="Arial"/>
                <a:ea typeface="Arial"/>
                <a:cs typeface="Arial"/>
              </a:defRPr>
            </a:lvl2pPr>
            <a:lvl3pPr>
              <a:defRPr sz="2175" b="0">
                <a:solidFill>
                  <a:srgbClr val="64786A"/>
                </a:solidFill>
                <a:latin typeface="Arial"/>
                <a:ea typeface="Arial"/>
                <a:cs typeface="Arial"/>
              </a:defRPr>
            </a:lvl3pPr>
            <a:lvl4pPr>
              <a:defRPr sz="2175" b="0">
                <a:solidFill>
                  <a:srgbClr val="64786A"/>
                </a:solidFill>
                <a:latin typeface="Arial"/>
                <a:ea typeface="Arial"/>
                <a:cs typeface="Arial"/>
              </a:defRPr>
            </a:lvl4pPr>
            <a:lvl5pPr>
              <a:defRPr sz="2175" b="0">
                <a:solidFill>
                  <a:srgbClr val="64786A"/>
                </a:solidFill>
                <a:latin typeface="Arial"/>
                <a:ea typeface="Arial"/>
                <a:cs typeface="Arial"/>
              </a:defRPr>
            </a:lvl5pPr>
            <a:lvl6pPr>
              <a:defRPr sz="2175" b="0">
                <a:solidFill>
                  <a:srgbClr val="64786A"/>
                </a:solidFill>
                <a:latin typeface="Arial"/>
                <a:ea typeface="Arial"/>
                <a:cs typeface="Arial"/>
              </a:defRPr>
            </a:lvl6pPr>
            <a:lvl7pPr>
              <a:defRPr sz="2175" b="0">
                <a:solidFill>
                  <a:srgbClr val="64786A"/>
                </a:solidFill>
                <a:latin typeface="Arial"/>
                <a:ea typeface="Arial"/>
                <a:cs typeface="Arial"/>
              </a:defRPr>
            </a:lvl7pPr>
            <a:lvl8pPr>
              <a:defRPr sz="2175" b="0">
                <a:solidFill>
                  <a:srgbClr val="64786A"/>
                </a:solidFill>
                <a:latin typeface="Arial"/>
                <a:ea typeface="Arial"/>
                <a:cs typeface="Arial"/>
              </a:defRPr>
            </a:lvl8pPr>
            <a:lvl9pPr>
              <a:defRPr sz="2175" b="0">
                <a:solidFill>
                  <a:srgbClr val="64786A"/>
                </a:solidFill>
                <a:latin typeface="Arial"/>
                <a:ea typeface="Arial"/>
                <a:cs typeface="Arial"/>
              </a:defRPr>
            </a:lvl9pPr>
          </a:lstStyle>
          <a:p xmlns:a="http://schemas.openxmlformats.org/drawingml/2006/main">
            <a:pPr>
              <a:defRPr sz="2175" b="0">
                <a:solidFill>
                  <a:srgbClr val="64786A"/>
                </a:solidFill>
                <a:latin typeface="Arial"/>
                <a:ea typeface="Arial"/>
                <a:cs typeface="Arial"/>
              </a:defRPr>
            </a:pPr>
            <a:r>
              <a:rPr sz="2175" b="0">
                <a:solidFill>
                  <a:srgbClr val="64786A"/>
                </a:solidFill>
                <a:latin typeface="Arial"/>
                <a:ea typeface="Arial"/>
                <a:cs typeface="Arial"/>
              </a:rPr>
              <a:t>Comments arrive in different places,</a:t>
            </a:r>
          </a:p>
          <a:p xmlns:a="http://schemas.openxmlformats.org/drawingml/2006/main">
            <a:pPr>
              <a:defRPr sz="2175" b="0">
                <a:solidFill>
                  <a:srgbClr val="64786A"/>
                </a:solidFill>
                <a:latin typeface="Arial"/>
                <a:ea typeface="Arial"/>
                <a:cs typeface="Arial"/>
              </a:defRPr>
            </a:pPr>
            <a:r>
              <a:rPr sz="2175" b="0">
                <a:solidFill>
                  <a:srgbClr val="64786A"/>
                </a:solidFill>
                <a:latin typeface="Arial"/>
                <a:ea typeface="Arial"/>
                <a:cs typeface="Arial"/>
              </a:rPr>
              <a:t>repeat the same issues and mix</a:t>
            </a:r>
          </a:p>
          <a:p xmlns:a="http://schemas.openxmlformats.org/drawingml/2006/main">
            <a:pPr>
              <a:defRPr sz="2175" b="0">
                <a:solidFill>
                  <a:srgbClr val="64786A"/>
                </a:solidFill>
                <a:latin typeface="Arial"/>
                <a:ea typeface="Arial"/>
                <a:cs typeface="Arial"/>
              </a:defRPr>
            </a:pPr>
            <a:r>
              <a:rPr sz="2175" b="0">
                <a:solidFill>
                  <a:srgbClr val="64786A"/>
                </a:solidFill>
                <a:latin typeface="Arial"/>
                <a:ea typeface="Arial"/>
                <a:cs typeface="Arial"/>
              </a:rPr>
              <a:t>positive feedback with complaints.</a:t>
            </a:r>
          </a:p>
        </p:txBody>
      </p:sp>
      <p:sp>
        <p:nvSpPr>
          <p:cNvPr id="7" name="">
            <a:extLst xmlns:a="http://schemas.openxmlformats.org/drawingml/2006/main">
              <a:ext uri="{FF2B5EF4-FFF2-40B4-BE49-F238E27FC236}">
                <a16:creationId xmlns:a16="http://schemas.microsoft.com/office/drawing/2014/main" id="{33665F24-AA48-4E0D-8320-61D05E1CE839}"/>
              </a:ext>
            </a:extLst>
          </p:cNvPr>
          <p:cNvSpPr>
            <a:spLocks xmlns:a="http://schemas.openxmlformats.org/drawingml/2006/main" noGrp="1"/>
          </p:cNvSpPr>
          <p:nvPr/>
        </p:nvSpPr>
        <p:spPr>
          <a:xfrm xmlns:a="http://schemas.openxmlformats.org/drawingml/2006/main">
            <a:off x="7239000" y="18097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What are people discussing?</a:t>
            </a:r>
          </a:p>
        </p:txBody>
      </p:sp>
      <p:sp>
        <p:nvSpPr>
          <p:cNvPr id="8" name="">
            <a:extLst xmlns:a="http://schemas.openxmlformats.org/drawingml/2006/main">
              <a:ext uri="{FF2B5EF4-FFF2-40B4-BE49-F238E27FC236}">
                <a16:creationId xmlns:a16="http://schemas.microsoft.com/office/drawing/2014/main" id="{E0DE2459-6E52-4C8D-B8E2-E22E1E848853}"/>
              </a:ext>
            </a:extLst>
          </p:cNvPr>
          <p:cNvSpPr>
            <a:spLocks xmlns:a="http://schemas.openxmlformats.org/drawingml/2006/main" noGrp="1"/>
          </p:cNvSpPr>
          <p:nvPr/>
        </p:nvSpPr>
        <p:spPr>
          <a:xfrm xmlns:a="http://schemas.openxmlformats.org/drawingml/2006/main">
            <a:off x="7239000" y="2266950"/>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Identify recurring topics and product features.</a:t>
            </a:r>
          </a:p>
        </p:txBody>
      </p:sp>
      <p:sp>
        <p:nvSpPr>
          <p:cNvPr id="9" name="">
            <a:extLst xmlns:a="http://schemas.openxmlformats.org/drawingml/2006/main">
              <a:ext uri="{FF2B5EF4-FFF2-40B4-BE49-F238E27FC236}">
                <a16:creationId xmlns:a16="http://schemas.microsoft.com/office/drawing/2014/main" id="{E229DF85-1382-496D-A29E-CC57CE0401D9}"/>
              </a:ext>
            </a:extLst>
          </p:cNvPr>
          <p:cNvSpPr>
            <a:spLocks xmlns:a="http://schemas.openxmlformats.org/drawingml/2006/main" noGrp="1"/>
          </p:cNvSpPr>
          <p:nvPr/>
        </p:nvSpPr>
        <p:spPr>
          <a:xfrm xmlns:a="http://schemas.openxmlformats.org/drawingml/2006/main">
            <a:off x="7239000" y="33337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How do they feel?</a:t>
            </a:r>
          </a:p>
        </p:txBody>
      </p:sp>
      <p:sp>
        <p:nvSpPr>
          <p:cNvPr id="10" name="">
            <a:extLst xmlns:a="http://schemas.openxmlformats.org/drawingml/2006/main">
              <a:ext uri="{FF2B5EF4-FFF2-40B4-BE49-F238E27FC236}">
                <a16:creationId xmlns:a16="http://schemas.microsoft.com/office/drawing/2014/main" id="{97578DCB-744D-42D5-9F77-2CBADDE3F105}"/>
              </a:ext>
            </a:extLst>
          </p:cNvPr>
          <p:cNvSpPr>
            <a:spLocks xmlns:a="http://schemas.openxmlformats.org/drawingml/2006/main" noGrp="1"/>
          </p:cNvSpPr>
          <p:nvPr/>
        </p:nvSpPr>
        <p:spPr>
          <a:xfrm xmlns:a="http://schemas.openxmlformats.org/drawingml/2006/main">
            <a:off x="7239000" y="3790950"/>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Compare estimated sentiment and review uncertain cases.</a:t>
            </a:r>
          </a:p>
        </p:txBody>
      </p:sp>
      <p:sp>
        <p:nvSpPr>
          <p:cNvPr id="11" name="">
            <a:extLst xmlns:a="http://schemas.openxmlformats.org/drawingml/2006/main">
              <a:ext uri="{FF2B5EF4-FFF2-40B4-BE49-F238E27FC236}">
                <a16:creationId xmlns:a16="http://schemas.microsoft.com/office/drawing/2014/main" id="{1AAAAA78-E0EE-4CF6-9137-E6676AB6F17C}"/>
              </a:ext>
            </a:extLst>
          </p:cNvPr>
          <p:cNvSpPr>
            <a:spLocks xmlns:a="http://schemas.openxmlformats.org/drawingml/2006/main" noGrp="1"/>
          </p:cNvSpPr>
          <p:nvPr/>
        </p:nvSpPr>
        <p:spPr>
          <a:xfrm xmlns:a="http://schemas.openxmlformats.org/drawingml/2006/main">
            <a:off x="7239000" y="48577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What needs investigation?</a:t>
            </a:r>
          </a:p>
        </p:txBody>
      </p:sp>
      <p:sp>
        <p:nvSpPr>
          <p:cNvPr id="12" name="">
            <a:extLst xmlns:a="http://schemas.openxmlformats.org/drawingml/2006/main">
              <a:ext uri="{FF2B5EF4-FFF2-40B4-BE49-F238E27FC236}">
                <a16:creationId xmlns:a16="http://schemas.microsoft.com/office/drawing/2014/main" id="{1151A499-4A9C-4FA6-9E0F-BD2856428788}"/>
              </a:ext>
            </a:extLst>
          </p:cNvPr>
          <p:cNvSpPr>
            <a:spLocks xmlns:a="http://schemas.openxmlformats.org/drawingml/2006/main" noGrp="1"/>
          </p:cNvSpPr>
          <p:nvPr/>
        </p:nvSpPr>
        <p:spPr>
          <a:xfrm xmlns:a="http://schemas.openxmlformats.org/drawingml/2006/main">
            <a:off x="7239000" y="5314950"/>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Inspect original posts and assign follow-up work.</a:t>
            </a:r>
          </a:p>
        </p:txBody>
      </p:sp>
    </p:spTree>
    <p:extLst>
      <p:ext uri="{BB962C8B-B14F-4D97-AF65-F5344CB8AC3E}">
        <p14:creationId xmlns:p14="http://schemas.microsoft.com/office/powerpoint/2010/main" val="1907648564"/>
      </p:ext>
    </p:extLst>
  </p:cSld>
</p:sld>
</file>

<file path=ppt/slides/slide3.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D52D464-2E46-4C4B-A443-0388F22A9291}"/>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WHO IT SERVES</a:t>
            </a:r>
          </a:p>
        </p:txBody>
      </p:sp>
      <p:sp>
        <p:nvSpPr>
          <p:cNvPr id="3" name="">
            <a:extLst xmlns:a="http://schemas.openxmlformats.org/drawingml/2006/main">
              <a:ext uri="{FF2B5EF4-FFF2-40B4-BE49-F238E27FC236}">
                <a16:creationId xmlns:a16="http://schemas.microsoft.com/office/drawing/2014/main" id="{5296B987-A326-41DF-82DA-105056F2C0C5}"/>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Users and a typical scenario</a:t>
            </a:r>
          </a:p>
        </p:txBody>
      </p:sp>
      <p:sp>
        <p:nvSpPr>
          <p:cNvPr id="4" name="">
            <a:extLst xmlns:a="http://schemas.openxmlformats.org/drawingml/2006/main">
              <a:ext uri="{FF2B5EF4-FFF2-40B4-BE49-F238E27FC236}">
                <a16:creationId xmlns:a16="http://schemas.microsoft.com/office/drawing/2014/main" id="{420047B6-E907-48A1-B4CC-6151E9970132}"/>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B1A8EC60-E284-49BC-A017-2307FF854D25}"/>
              </a:ext>
            </a:extLst>
          </p:cNvPr>
          <p:cNvSpPr>
            <a:spLocks xmlns:a="http://schemas.openxmlformats.org/drawingml/2006/main" noGrp="1"/>
          </p:cNvSpPr>
          <p:nvPr/>
        </p:nvSpPr>
        <p:spPr>
          <a:xfrm xmlns:a="http://schemas.openxmlformats.org/drawingml/2006/main">
            <a:off x="609600" y="17145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Marketing teams</a:t>
            </a:r>
          </a:p>
        </p:txBody>
      </p:sp>
      <p:sp>
        <p:nvSpPr>
          <p:cNvPr id="6" name="">
            <a:extLst xmlns:a="http://schemas.openxmlformats.org/drawingml/2006/main">
              <a:ext uri="{FF2B5EF4-FFF2-40B4-BE49-F238E27FC236}">
                <a16:creationId xmlns:a16="http://schemas.microsoft.com/office/drawing/2014/main" id="{BFC4C8F8-CFB4-4A1C-B7E0-9103AED65058}"/>
              </a:ext>
            </a:extLst>
          </p:cNvPr>
          <p:cNvSpPr>
            <a:spLocks xmlns:a="http://schemas.openxmlformats.org/drawingml/2006/main" noGrp="1"/>
          </p:cNvSpPr>
          <p:nvPr/>
        </p:nvSpPr>
        <p:spPr>
          <a:xfrm xmlns:a="http://schemas.openxmlformats.org/drawingml/2006/main">
            <a:off x="609600" y="21717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Understand brand mentions and compare keyword-based conversation groups.</a:t>
            </a:r>
          </a:p>
        </p:txBody>
      </p:sp>
      <p:sp>
        <p:nvSpPr>
          <p:cNvPr id="7" name="">
            <a:extLst xmlns:a="http://schemas.openxmlformats.org/drawingml/2006/main">
              <a:ext uri="{FF2B5EF4-FFF2-40B4-BE49-F238E27FC236}">
                <a16:creationId xmlns:a16="http://schemas.microsoft.com/office/drawing/2014/main" id="{09060BD1-955F-454F-9238-9AA9F4725559}"/>
              </a:ext>
            </a:extLst>
          </p:cNvPr>
          <p:cNvSpPr>
            <a:spLocks xmlns:a="http://schemas.openxmlformats.org/drawingml/2006/main" noGrp="1"/>
          </p:cNvSpPr>
          <p:nvPr/>
        </p:nvSpPr>
        <p:spPr>
          <a:xfrm xmlns:a="http://schemas.openxmlformats.org/drawingml/2006/main">
            <a:off x="6705600" y="17145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Customer experience teams</a:t>
            </a:r>
          </a:p>
        </p:txBody>
      </p:sp>
      <p:sp>
        <p:nvSpPr>
          <p:cNvPr id="8" name="">
            <a:extLst xmlns:a="http://schemas.openxmlformats.org/drawingml/2006/main">
              <a:ext uri="{FF2B5EF4-FFF2-40B4-BE49-F238E27FC236}">
                <a16:creationId xmlns:a16="http://schemas.microsoft.com/office/drawing/2014/main" id="{158E9970-D0F5-464F-80AC-E717875F9FDC}"/>
              </a:ext>
            </a:extLst>
          </p:cNvPr>
          <p:cNvSpPr>
            <a:spLocks xmlns:a="http://schemas.openxmlformats.org/drawingml/2006/main" noGrp="1"/>
          </p:cNvSpPr>
          <p:nvPr/>
        </p:nvSpPr>
        <p:spPr>
          <a:xfrm xmlns:a="http://schemas.openxmlformats.org/drawingml/2006/main">
            <a:off x="6705600" y="21717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Find recurring support issues and track investigations.</a:t>
            </a:r>
          </a:p>
        </p:txBody>
      </p:sp>
      <p:sp>
        <p:nvSpPr>
          <p:cNvPr id="9" name="">
            <a:extLst xmlns:a="http://schemas.openxmlformats.org/drawingml/2006/main">
              <a:ext uri="{FF2B5EF4-FFF2-40B4-BE49-F238E27FC236}">
                <a16:creationId xmlns:a16="http://schemas.microsoft.com/office/drawing/2014/main" id="{1DB0B3E0-98AB-4957-A29B-CA8AB4F71F99}"/>
              </a:ext>
            </a:extLst>
          </p:cNvPr>
          <p:cNvSpPr>
            <a:spLocks xmlns:a="http://schemas.openxmlformats.org/drawingml/2006/main" noGrp="1"/>
          </p:cNvSpPr>
          <p:nvPr/>
        </p:nvSpPr>
        <p:spPr>
          <a:xfrm xmlns:a="http://schemas.openxmlformats.org/drawingml/2006/main">
            <a:off x="609600" y="34766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Community managers</a:t>
            </a:r>
          </a:p>
        </p:txBody>
      </p:sp>
      <p:sp>
        <p:nvSpPr>
          <p:cNvPr id="10" name="">
            <a:extLst xmlns:a="http://schemas.openxmlformats.org/drawingml/2006/main">
              <a:ext uri="{FF2B5EF4-FFF2-40B4-BE49-F238E27FC236}">
                <a16:creationId xmlns:a16="http://schemas.microsoft.com/office/drawing/2014/main" id="{37528DAB-B5FE-4B69-9C55-96E0FCFDFDDF}"/>
              </a:ext>
            </a:extLst>
          </p:cNvPr>
          <p:cNvSpPr>
            <a:spLocks xmlns:a="http://schemas.openxmlformats.org/drawingml/2006/main" noGrp="1"/>
          </p:cNvSpPr>
          <p:nvPr/>
        </p:nvSpPr>
        <p:spPr>
          <a:xfrm xmlns:a="http://schemas.openxmlformats.org/drawingml/2006/main">
            <a:off x="609600" y="393382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Review conversations and acknowledge relevant alerts.</a:t>
            </a:r>
          </a:p>
        </p:txBody>
      </p:sp>
      <p:sp>
        <p:nvSpPr>
          <p:cNvPr id="11" name="">
            <a:extLst xmlns:a="http://schemas.openxmlformats.org/drawingml/2006/main">
              <a:ext uri="{FF2B5EF4-FFF2-40B4-BE49-F238E27FC236}">
                <a16:creationId xmlns:a16="http://schemas.microsoft.com/office/drawing/2014/main" id="{BB09C50B-AEC6-4ECA-A6F6-AB03830C5D1D}"/>
              </a:ext>
            </a:extLst>
          </p:cNvPr>
          <p:cNvSpPr>
            <a:spLocks xmlns:a="http://schemas.openxmlformats.org/drawingml/2006/main" noGrp="1"/>
          </p:cNvSpPr>
          <p:nvPr/>
        </p:nvSpPr>
        <p:spPr>
          <a:xfrm xmlns:a="http://schemas.openxmlformats.org/drawingml/2006/main">
            <a:off x="6705600" y="34766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Researchers</a:t>
            </a:r>
          </a:p>
        </p:txBody>
      </p:sp>
      <p:sp>
        <p:nvSpPr>
          <p:cNvPr id="12" name="">
            <a:extLst xmlns:a="http://schemas.openxmlformats.org/drawingml/2006/main">
              <a:ext uri="{FF2B5EF4-FFF2-40B4-BE49-F238E27FC236}">
                <a16:creationId xmlns:a16="http://schemas.microsoft.com/office/drawing/2014/main" id="{ACE4E197-F8C6-46EB-834B-A20CE2E3467E}"/>
              </a:ext>
            </a:extLst>
          </p:cNvPr>
          <p:cNvSpPr>
            <a:spLocks xmlns:a="http://schemas.openxmlformats.org/drawingml/2006/main" noGrp="1"/>
          </p:cNvSpPr>
          <p:nvPr/>
        </p:nvSpPr>
        <p:spPr>
          <a:xfrm xmlns:a="http://schemas.openxmlformats.org/drawingml/2006/main">
            <a:off x="6705600" y="393382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Explore a bounded dataset and export evidence for further analysis.</a:t>
            </a:r>
          </a:p>
        </p:txBody>
      </p:sp>
      <p:sp>
        <p:nvSpPr>
          <p:cNvPr id="13" name="">
            <a:extLst xmlns:a="http://schemas.openxmlformats.org/drawingml/2006/main">
              <a:ext uri="{FF2B5EF4-FFF2-40B4-BE49-F238E27FC236}">
                <a16:creationId xmlns:a16="http://schemas.microsoft.com/office/drawing/2014/main" id="{FA60EF0C-118A-451E-A1F6-5B1CA375AB76}"/>
              </a:ext>
            </a:extLst>
          </p:cNvPr>
          <p:cNvSpPr>
            <a:spLocks xmlns:a="http://schemas.openxmlformats.org/drawingml/2006/main" noGrp="1"/>
          </p:cNvSpPr>
          <p:nvPr/>
        </p:nvSpPr>
        <p:spPr>
          <a:xfrm xmlns:a="http://schemas.openxmlformats.org/drawingml/2006/main">
            <a:off x="609600" y="55626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153A32"/>
                </a:solidFill>
                <a:latin typeface="Arial"/>
                <a:ea typeface="Arial"/>
                <a:cs typeface="Arial"/>
              </a:defRPr>
            </a:defPPr>
            <a:lvl1pPr>
              <a:defRPr sz="2025" b="1">
                <a:solidFill>
                  <a:srgbClr val="153A32"/>
                </a:solidFill>
                <a:latin typeface="Arial"/>
                <a:ea typeface="Arial"/>
                <a:cs typeface="Arial"/>
              </a:defRPr>
            </a:lvl1pPr>
            <a:lvl2pPr>
              <a:defRPr sz="2025" b="1">
                <a:solidFill>
                  <a:srgbClr val="153A32"/>
                </a:solidFill>
                <a:latin typeface="Arial"/>
                <a:ea typeface="Arial"/>
                <a:cs typeface="Arial"/>
              </a:defRPr>
            </a:lvl2pPr>
            <a:lvl3pPr>
              <a:defRPr sz="2025" b="1">
                <a:solidFill>
                  <a:srgbClr val="153A32"/>
                </a:solidFill>
                <a:latin typeface="Arial"/>
                <a:ea typeface="Arial"/>
                <a:cs typeface="Arial"/>
              </a:defRPr>
            </a:lvl3pPr>
            <a:lvl4pPr>
              <a:defRPr sz="2025" b="1">
                <a:solidFill>
                  <a:srgbClr val="153A32"/>
                </a:solidFill>
                <a:latin typeface="Arial"/>
                <a:ea typeface="Arial"/>
                <a:cs typeface="Arial"/>
              </a:defRPr>
            </a:lvl4pPr>
            <a:lvl5pPr>
              <a:defRPr sz="2025" b="1">
                <a:solidFill>
                  <a:srgbClr val="153A32"/>
                </a:solidFill>
                <a:latin typeface="Arial"/>
                <a:ea typeface="Arial"/>
                <a:cs typeface="Arial"/>
              </a:defRPr>
            </a:lvl5pPr>
            <a:lvl6pPr>
              <a:defRPr sz="2025" b="1">
                <a:solidFill>
                  <a:srgbClr val="153A32"/>
                </a:solidFill>
                <a:latin typeface="Arial"/>
                <a:ea typeface="Arial"/>
                <a:cs typeface="Arial"/>
              </a:defRPr>
            </a:lvl6pPr>
            <a:lvl7pPr>
              <a:defRPr sz="2025" b="1">
                <a:solidFill>
                  <a:srgbClr val="153A32"/>
                </a:solidFill>
                <a:latin typeface="Arial"/>
                <a:ea typeface="Arial"/>
                <a:cs typeface="Arial"/>
              </a:defRPr>
            </a:lvl7pPr>
            <a:lvl8pPr>
              <a:defRPr sz="2025" b="1">
                <a:solidFill>
                  <a:srgbClr val="153A32"/>
                </a:solidFill>
                <a:latin typeface="Arial"/>
                <a:ea typeface="Arial"/>
                <a:cs typeface="Arial"/>
              </a:defRPr>
            </a:lvl8pPr>
            <a:lvl9pPr>
              <a:defRPr sz="2025" b="1">
                <a:solidFill>
                  <a:srgbClr val="153A32"/>
                </a:solidFill>
                <a:latin typeface="Arial"/>
                <a:ea typeface="Arial"/>
                <a:cs typeface="Arial"/>
              </a:defRPr>
            </a:lvl9pPr>
          </a:lstStyle>
          <a:p xmlns:a="http://schemas.openxmlformats.org/drawingml/2006/main">
            <a:pPr>
              <a:defRPr sz="2025" b="1">
                <a:solidFill>
                  <a:srgbClr val="153A32"/>
                </a:solidFill>
                <a:latin typeface="Arial"/>
                <a:ea typeface="Arial"/>
                <a:cs typeface="Arial"/>
              </a:defRPr>
            </a:pPr>
            <a:r>
              <a:rPr sz="2025" b="1">
                <a:solidFill>
                  <a:srgbClr val="153A32"/>
                </a:solidFill>
                <a:latin typeface="Arial"/>
                <a:ea typeface="Arial"/>
                <a:cs typeface="Arial"/>
              </a:rPr>
              <a:t>Example: a mobile-app launch generates complaints about login and notifications.</a:t>
            </a:r>
          </a:p>
        </p:txBody>
      </p:sp>
    </p:spTree>
    <p:extLst>
      <p:ext uri="{BB962C8B-B14F-4D97-AF65-F5344CB8AC3E}">
        <p14:creationId xmlns:p14="http://schemas.microsoft.com/office/powerpoint/2010/main" val="585543857"/>
      </p:ext>
    </p:extLst>
  </p:cSld>
</p:sld>
</file>

<file path=ppt/slides/slide4.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21FB56F-4754-4AC1-AE93-5085C77F9FDF}"/>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HOW IT WORKS</a:t>
            </a:r>
          </a:p>
        </p:txBody>
      </p:sp>
      <p:sp>
        <p:nvSpPr>
          <p:cNvPr id="3" name="">
            <a:extLst xmlns:a="http://schemas.openxmlformats.org/drawingml/2006/main">
              <a:ext uri="{FF2B5EF4-FFF2-40B4-BE49-F238E27FC236}">
                <a16:creationId xmlns:a16="http://schemas.microsoft.com/office/drawing/2014/main" id="{1D9EF9CB-693C-4BF2-B4CD-10F4B26C40D2}"/>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The conversation analysis workflow</a:t>
            </a:r>
          </a:p>
        </p:txBody>
      </p:sp>
      <p:sp>
        <p:nvSpPr>
          <p:cNvPr id="4" name="">
            <a:extLst xmlns:a="http://schemas.openxmlformats.org/drawingml/2006/main">
              <a:ext uri="{FF2B5EF4-FFF2-40B4-BE49-F238E27FC236}">
                <a16:creationId xmlns:a16="http://schemas.microsoft.com/office/drawing/2014/main" id="{C2D02783-DC10-4A79-B719-498CB36958AF}"/>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BD662D8-E0B8-442C-BB67-56691CEFAB99}"/>
              </a:ext>
            </a:extLst>
          </p:cNvPr>
          <p:cNvSpPr>
            <a:spLocks xmlns:a="http://schemas.openxmlformats.org/drawingml/2006/main" noGrp="1"/>
          </p:cNvSpPr>
          <p:nvPr/>
        </p:nvSpPr>
        <p:spPr>
          <a:xfrm xmlns:a="http://schemas.openxmlformats.org/drawingml/2006/main">
            <a:off x="619125" y="1695450"/>
            <a:ext cx="714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625" b="0">
                <a:solidFill>
                  <a:srgbClr val="64786A"/>
                </a:solidFill>
                <a:latin typeface="Arial"/>
                <a:ea typeface="Arial"/>
                <a:cs typeface="Arial"/>
              </a:defRPr>
            </a:defPPr>
            <a:lvl1pPr>
              <a:defRPr sz="2625" b="0">
                <a:solidFill>
                  <a:srgbClr val="64786A"/>
                </a:solidFill>
                <a:latin typeface="Arial"/>
                <a:ea typeface="Arial"/>
                <a:cs typeface="Arial"/>
              </a:defRPr>
            </a:lvl1pPr>
            <a:lvl2pPr>
              <a:defRPr sz="2625" b="0">
                <a:solidFill>
                  <a:srgbClr val="64786A"/>
                </a:solidFill>
                <a:latin typeface="Arial"/>
                <a:ea typeface="Arial"/>
                <a:cs typeface="Arial"/>
              </a:defRPr>
            </a:lvl2pPr>
            <a:lvl3pPr>
              <a:defRPr sz="2625" b="0">
                <a:solidFill>
                  <a:srgbClr val="64786A"/>
                </a:solidFill>
                <a:latin typeface="Arial"/>
                <a:ea typeface="Arial"/>
                <a:cs typeface="Arial"/>
              </a:defRPr>
            </a:lvl3pPr>
            <a:lvl4pPr>
              <a:defRPr sz="2625" b="0">
                <a:solidFill>
                  <a:srgbClr val="64786A"/>
                </a:solidFill>
                <a:latin typeface="Arial"/>
                <a:ea typeface="Arial"/>
                <a:cs typeface="Arial"/>
              </a:defRPr>
            </a:lvl4pPr>
            <a:lvl5pPr>
              <a:defRPr sz="2625" b="0">
                <a:solidFill>
                  <a:srgbClr val="64786A"/>
                </a:solidFill>
                <a:latin typeface="Arial"/>
                <a:ea typeface="Arial"/>
                <a:cs typeface="Arial"/>
              </a:defRPr>
            </a:lvl5pPr>
            <a:lvl6pPr>
              <a:defRPr sz="2625" b="0">
                <a:solidFill>
                  <a:srgbClr val="64786A"/>
                </a:solidFill>
                <a:latin typeface="Arial"/>
                <a:ea typeface="Arial"/>
                <a:cs typeface="Arial"/>
              </a:defRPr>
            </a:lvl6pPr>
            <a:lvl7pPr>
              <a:defRPr sz="2625" b="0">
                <a:solidFill>
                  <a:srgbClr val="64786A"/>
                </a:solidFill>
                <a:latin typeface="Arial"/>
                <a:ea typeface="Arial"/>
                <a:cs typeface="Arial"/>
              </a:defRPr>
            </a:lvl7pPr>
            <a:lvl8pPr>
              <a:defRPr sz="2625" b="0">
                <a:solidFill>
                  <a:srgbClr val="64786A"/>
                </a:solidFill>
                <a:latin typeface="Arial"/>
                <a:ea typeface="Arial"/>
                <a:cs typeface="Arial"/>
              </a:defRPr>
            </a:lvl8pPr>
            <a:lvl9pPr>
              <a:defRPr sz="2625" b="0">
                <a:solidFill>
                  <a:srgbClr val="64786A"/>
                </a:solidFill>
                <a:latin typeface="Arial"/>
                <a:ea typeface="Arial"/>
                <a:cs typeface="Arial"/>
              </a:defRPr>
            </a:lvl9pPr>
          </a:lstStyle>
          <a:p xmlns:a="http://schemas.openxmlformats.org/drawingml/2006/main">
            <a:pPr>
              <a:defRPr sz="2625" b="0">
                <a:solidFill>
                  <a:srgbClr val="64786A"/>
                </a:solidFill>
                <a:latin typeface="Arial"/>
                <a:ea typeface="Arial"/>
                <a:cs typeface="Arial"/>
              </a:defRPr>
            </a:pPr>
            <a:r>
              <a:rPr sz="2625" b="0">
                <a:solidFill>
                  <a:srgbClr val="64786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741DF5E-B9CC-4D3B-A5F2-04787D6E8F73}"/>
              </a:ext>
            </a:extLst>
          </p:cNvPr>
          <p:cNvSpPr>
            <a:spLocks xmlns:a="http://schemas.openxmlformats.org/drawingml/2006/main" noGrp="1"/>
          </p:cNvSpPr>
          <p:nvPr/>
        </p:nvSpPr>
        <p:spPr>
          <a:xfrm xmlns:a="http://schemas.openxmlformats.org/drawingml/2006/main">
            <a:off x="1647825" y="1695450"/>
            <a:ext cx="2238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153A32"/>
                </a:solidFill>
                <a:latin typeface="Arial"/>
                <a:ea typeface="Arial"/>
                <a:cs typeface="Arial"/>
              </a:defRPr>
            </a:defPPr>
            <a:lvl1pPr>
              <a:defRPr sz="2325" b="1">
                <a:solidFill>
                  <a:srgbClr val="153A32"/>
                </a:solidFill>
                <a:latin typeface="Arial"/>
                <a:ea typeface="Arial"/>
                <a:cs typeface="Arial"/>
              </a:defRPr>
            </a:lvl1pPr>
            <a:lvl2pPr>
              <a:defRPr sz="2325" b="1">
                <a:solidFill>
                  <a:srgbClr val="153A32"/>
                </a:solidFill>
                <a:latin typeface="Arial"/>
                <a:ea typeface="Arial"/>
                <a:cs typeface="Arial"/>
              </a:defRPr>
            </a:lvl2pPr>
            <a:lvl3pPr>
              <a:defRPr sz="2325" b="1">
                <a:solidFill>
                  <a:srgbClr val="153A32"/>
                </a:solidFill>
                <a:latin typeface="Arial"/>
                <a:ea typeface="Arial"/>
                <a:cs typeface="Arial"/>
              </a:defRPr>
            </a:lvl3pPr>
            <a:lvl4pPr>
              <a:defRPr sz="2325" b="1">
                <a:solidFill>
                  <a:srgbClr val="153A32"/>
                </a:solidFill>
                <a:latin typeface="Arial"/>
                <a:ea typeface="Arial"/>
                <a:cs typeface="Arial"/>
              </a:defRPr>
            </a:lvl4pPr>
            <a:lvl5pPr>
              <a:defRPr sz="2325" b="1">
                <a:solidFill>
                  <a:srgbClr val="153A32"/>
                </a:solidFill>
                <a:latin typeface="Arial"/>
                <a:ea typeface="Arial"/>
                <a:cs typeface="Arial"/>
              </a:defRPr>
            </a:lvl5pPr>
            <a:lvl6pPr>
              <a:defRPr sz="2325" b="1">
                <a:solidFill>
                  <a:srgbClr val="153A32"/>
                </a:solidFill>
                <a:latin typeface="Arial"/>
                <a:ea typeface="Arial"/>
                <a:cs typeface="Arial"/>
              </a:defRPr>
            </a:lvl6pPr>
            <a:lvl7pPr>
              <a:defRPr sz="2325" b="1">
                <a:solidFill>
                  <a:srgbClr val="153A32"/>
                </a:solidFill>
                <a:latin typeface="Arial"/>
                <a:ea typeface="Arial"/>
                <a:cs typeface="Arial"/>
              </a:defRPr>
            </a:lvl7pPr>
            <a:lvl8pPr>
              <a:defRPr sz="2325" b="1">
                <a:solidFill>
                  <a:srgbClr val="153A32"/>
                </a:solidFill>
                <a:latin typeface="Arial"/>
                <a:ea typeface="Arial"/>
                <a:cs typeface="Arial"/>
              </a:defRPr>
            </a:lvl8pPr>
            <a:lvl9pPr>
              <a:defRPr sz="2325" b="1">
                <a:solidFill>
                  <a:srgbClr val="153A32"/>
                </a:solidFill>
                <a:latin typeface="Arial"/>
                <a:ea typeface="Arial"/>
                <a:cs typeface="Arial"/>
              </a:defRPr>
            </a:lvl9pPr>
          </a:lstStyle>
          <a:p xmlns:a="http://schemas.openxmlformats.org/drawingml/2006/main">
            <a:pPr>
              <a:defRPr sz="2325" b="1">
                <a:solidFill>
                  <a:srgbClr val="153A32"/>
                </a:solidFill>
                <a:latin typeface="Arial"/>
                <a:ea typeface="Arial"/>
                <a:cs typeface="Arial"/>
              </a:defRPr>
            </a:pPr>
            <a:r>
              <a:rPr sz="2325" b="1">
                <a:solidFill>
                  <a:srgbClr val="153A32"/>
                </a:solidFill>
                <a:latin typeface="Arial"/>
                <a:ea typeface="Arial"/>
                <a:cs typeface="Arial"/>
              </a:rPr>
              <a:t>Collect</a:t>
            </a:r>
          </a:p>
        </p:txBody>
      </p:sp>
      <p:sp>
        <p:nvSpPr>
          <p:cNvPr id="7" name="">
            <a:extLst xmlns:a="http://schemas.openxmlformats.org/drawingml/2006/main">
              <a:ext uri="{FF2B5EF4-FFF2-40B4-BE49-F238E27FC236}">
                <a16:creationId xmlns:a16="http://schemas.microsoft.com/office/drawing/2014/main" id="{0CFB6F91-F09A-4484-A97D-FF1AD224E279}"/>
              </a:ext>
            </a:extLst>
          </p:cNvPr>
          <p:cNvSpPr>
            <a:spLocks xmlns:a="http://schemas.openxmlformats.org/drawingml/2006/main" noGrp="1"/>
          </p:cNvSpPr>
          <p:nvPr/>
        </p:nvSpPr>
        <p:spPr>
          <a:xfrm xmlns:a="http://schemas.openxmlformats.org/drawingml/2006/main">
            <a:off x="4276725" y="17240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Upload a CSV or run an enabled connector.</a:t>
            </a:r>
          </a:p>
        </p:txBody>
      </p:sp>
      <p:sp>
        <p:nvSpPr>
          <p:cNvPr id="8" name="">
            <a:extLst xmlns:a="http://schemas.openxmlformats.org/drawingml/2006/main">
              <a:ext uri="{FF2B5EF4-FFF2-40B4-BE49-F238E27FC236}">
                <a16:creationId xmlns:a16="http://schemas.microsoft.com/office/drawing/2014/main" id="{9C94E4DB-C0A5-4479-A962-2F8A430273AB}"/>
              </a:ext>
            </a:extLst>
          </p:cNvPr>
          <p:cNvSpPr>
            <a:spLocks xmlns:a="http://schemas.openxmlformats.org/drawingml/2006/main" noGrp="1"/>
          </p:cNvSpPr>
          <p:nvPr/>
        </p:nvSpPr>
        <p:spPr>
          <a:xfrm xmlns:a="http://schemas.openxmlformats.org/drawingml/2006/main">
            <a:off x="619125" y="2543175"/>
            <a:ext cx="714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625" b="0">
                <a:solidFill>
                  <a:srgbClr val="64786A"/>
                </a:solidFill>
                <a:latin typeface="Arial"/>
                <a:ea typeface="Arial"/>
                <a:cs typeface="Arial"/>
              </a:defRPr>
            </a:defPPr>
            <a:lvl1pPr>
              <a:defRPr sz="2625" b="0">
                <a:solidFill>
                  <a:srgbClr val="64786A"/>
                </a:solidFill>
                <a:latin typeface="Arial"/>
                <a:ea typeface="Arial"/>
                <a:cs typeface="Arial"/>
              </a:defRPr>
            </a:lvl1pPr>
            <a:lvl2pPr>
              <a:defRPr sz="2625" b="0">
                <a:solidFill>
                  <a:srgbClr val="64786A"/>
                </a:solidFill>
                <a:latin typeface="Arial"/>
                <a:ea typeface="Arial"/>
                <a:cs typeface="Arial"/>
              </a:defRPr>
            </a:lvl2pPr>
            <a:lvl3pPr>
              <a:defRPr sz="2625" b="0">
                <a:solidFill>
                  <a:srgbClr val="64786A"/>
                </a:solidFill>
                <a:latin typeface="Arial"/>
                <a:ea typeface="Arial"/>
                <a:cs typeface="Arial"/>
              </a:defRPr>
            </a:lvl3pPr>
            <a:lvl4pPr>
              <a:defRPr sz="2625" b="0">
                <a:solidFill>
                  <a:srgbClr val="64786A"/>
                </a:solidFill>
                <a:latin typeface="Arial"/>
                <a:ea typeface="Arial"/>
                <a:cs typeface="Arial"/>
              </a:defRPr>
            </a:lvl4pPr>
            <a:lvl5pPr>
              <a:defRPr sz="2625" b="0">
                <a:solidFill>
                  <a:srgbClr val="64786A"/>
                </a:solidFill>
                <a:latin typeface="Arial"/>
                <a:ea typeface="Arial"/>
                <a:cs typeface="Arial"/>
              </a:defRPr>
            </a:lvl5pPr>
            <a:lvl6pPr>
              <a:defRPr sz="2625" b="0">
                <a:solidFill>
                  <a:srgbClr val="64786A"/>
                </a:solidFill>
                <a:latin typeface="Arial"/>
                <a:ea typeface="Arial"/>
                <a:cs typeface="Arial"/>
              </a:defRPr>
            </a:lvl6pPr>
            <a:lvl7pPr>
              <a:defRPr sz="2625" b="0">
                <a:solidFill>
                  <a:srgbClr val="64786A"/>
                </a:solidFill>
                <a:latin typeface="Arial"/>
                <a:ea typeface="Arial"/>
                <a:cs typeface="Arial"/>
              </a:defRPr>
            </a:lvl7pPr>
            <a:lvl8pPr>
              <a:defRPr sz="2625" b="0">
                <a:solidFill>
                  <a:srgbClr val="64786A"/>
                </a:solidFill>
                <a:latin typeface="Arial"/>
                <a:ea typeface="Arial"/>
                <a:cs typeface="Arial"/>
              </a:defRPr>
            </a:lvl8pPr>
            <a:lvl9pPr>
              <a:defRPr sz="2625" b="0">
                <a:solidFill>
                  <a:srgbClr val="64786A"/>
                </a:solidFill>
                <a:latin typeface="Arial"/>
                <a:ea typeface="Arial"/>
                <a:cs typeface="Arial"/>
              </a:defRPr>
            </a:lvl9pPr>
          </a:lstStyle>
          <a:p xmlns:a="http://schemas.openxmlformats.org/drawingml/2006/main">
            <a:pPr>
              <a:defRPr sz="2625" b="0">
                <a:solidFill>
                  <a:srgbClr val="64786A"/>
                </a:solidFill>
                <a:latin typeface="Arial"/>
                <a:ea typeface="Arial"/>
                <a:cs typeface="Arial"/>
              </a:defRPr>
            </a:pPr>
            <a:r>
              <a:rPr sz="2625" b="0">
                <a:solidFill>
                  <a:srgbClr val="64786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81C69770-B1CE-45CA-8BE2-4A87864B953A}"/>
              </a:ext>
            </a:extLst>
          </p:cNvPr>
          <p:cNvSpPr>
            <a:spLocks xmlns:a="http://schemas.openxmlformats.org/drawingml/2006/main" noGrp="1"/>
          </p:cNvSpPr>
          <p:nvPr/>
        </p:nvSpPr>
        <p:spPr>
          <a:xfrm xmlns:a="http://schemas.openxmlformats.org/drawingml/2006/main">
            <a:off x="1647825" y="2543175"/>
            <a:ext cx="2238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153A32"/>
                </a:solidFill>
                <a:latin typeface="Arial"/>
                <a:ea typeface="Arial"/>
                <a:cs typeface="Arial"/>
              </a:defRPr>
            </a:defPPr>
            <a:lvl1pPr>
              <a:defRPr sz="2325" b="1">
                <a:solidFill>
                  <a:srgbClr val="153A32"/>
                </a:solidFill>
                <a:latin typeface="Arial"/>
                <a:ea typeface="Arial"/>
                <a:cs typeface="Arial"/>
              </a:defRPr>
            </a:lvl1pPr>
            <a:lvl2pPr>
              <a:defRPr sz="2325" b="1">
                <a:solidFill>
                  <a:srgbClr val="153A32"/>
                </a:solidFill>
                <a:latin typeface="Arial"/>
                <a:ea typeface="Arial"/>
                <a:cs typeface="Arial"/>
              </a:defRPr>
            </a:lvl2pPr>
            <a:lvl3pPr>
              <a:defRPr sz="2325" b="1">
                <a:solidFill>
                  <a:srgbClr val="153A32"/>
                </a:solidFill>
                <a:latin typeface="Arial"/>
                <a:ea typeface="Arial"/>
                <a:cs typeface="Arial"/>
              </a:defRPr>
            </a:lvl3pPr>
            <a:lvl4pPr>
              <a:defRPr sz="2325" b="1">
                <a:solidFill>
                  <a:srgbClr val="153A32"/>
                </a:solidFill>
                <a:latin typeface="Arial"/>
                <a:ea typeface="Arial"/>
                <a:cs typeface="Arial"/>
              </a:defRPr>
            </a:lvl4pPr>
            <a:lvl5pPr>
              <a:defRPr sz="2325" b="1">
                <a:solidFill>
                  <a:srgbClr val="153A32"/>
                </a:solidFill>
                <a:latin typeface="Arial"/>
                <a:ea typeface="Arial"/>
                <a:cs typeface="Arial"/>
              </a:defRPr>
            </a:lvl5pPr>
            <a:lvl6pPr>
              <a:defRPr sz="2325" b="1">
                <a:solidFill>
                  <a:srgbClr val="153A32"/>
                </a:solidFill>
                <a:latin typeface="Arial"/>
                <a:ea typeface="Arial"/>
                <a:cs typeface="Arial"/>
              </a:defRPr>
            </a:lvl6pPr>
            <a:lvl7pPr>
              <a:defRPr sz="2325" b="1">
                <a:solidFill>
                  <a:srgbClr val="153A32"/>
                </a:solidFill>
                <a:latin typeface="Arial"/>
                <a:ea typeface="Arial"/>
                <a:cs typeface="Arial"/>
              </a:defRPr>
            </a:lvl7pPr>
            <a:lvl8pPr>
              <a:defRPr sz="2325" b="1">
                <a:solidFill>
                  <a:srgbClr val="153A32"/>
                </a:solidFill>
                <a:latin typeface="Arial"/>
                <a:ea typeface="Arial"/>
                <a:cs typeface="Arial"/>
              </a:defRPr>
            </a:lvl8pPr>
            <a:lvl9pPr>
              <a:defRPr sz="2325" b="1">
                <a:solidFill>
                  <a:srgbClr val="153A32"/>
                </a:solidFill>
                <a:latin typeface="Arial"/>
                <a:ea typeface="Arial"/>
                <a:cs typeface="Arial"/>
              </a:defRPr>
            </a:lvl9pPr>
          </a:lstStyle>
          <a:p xmlns:a="http://schemas.openxmlformats.org/drawingml/2006/main">
            <a:pPr>
              <a:defRPr sz="2325" b="1">
                <a:solidFill>
                  <a:srgbClr val="153A32"/>
                </a:solidFill>
                <a:latin typeface="Arial"/>
                <a:ea typeface="Arial"/>
                <a:cs typeface="Arial"/>
              </a:defRPr>
            </a:pPr>
            <a:r>
              <a:rPr sz="2325" b="1">
                <a:solidFill>
                  <a:srgbClr val="153A32"/>
                </a:solidFill>
                <a:latin typeface="Arial"/>
                <a:ea typeface="Arial"/>
                <a:cs typeface="Arial"/>
              </a:rPr>
              <a:t>Prepare</a:t>
            </a:r>
          </a:p>
        </p:txBody>
      </p:sp>
      <p:sp>
        <p:nvSpPr>
          <p:cNvPr id="10" name="">
            <a:extLst xmlns:a="http://schemas.openxmlformats.org/drawingml/2006/main">
              <a:ext uri="{FF2B5EF4-FFF2-40B4-BE49-F238E27FC236}">
                <a16:creationId xmlns:a16="http://schemas.microsoft.com/office/drawing/2014/main" id="{08FD8D17-29CE-40A0-9E51-9AF860E0C67F}"/>
              </a:ext>
            </a:extLst>
          </p:cNvPr>
          <p:cNvSpPr>
            <a:spLocks xmlns:a="http://schemas.openxmlformats.org/drawingml/2006/main" noGrp="1"/>
          </p:cNvSpPr>
          <p:nvPr/>
        </p:nvSpPr>
        <p:spPr>
          <a:xfrm xmlns:a="http://schemas.openxmlformats.org/drawingml/2006/main">
            <a:off x="4276725" y="25717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Normalize dates, skip duplicates and save records.</a:t>
            </a:r>
          </a:p>
        </p:txBody>
      </p:sp>
      <p:sp>
        <p:nvSpPr>
          <p:cNvPr id="11" name="">
            <a:extLst xmlns:a="http://schemas.openxmlformats.org/drawingml/2006/main">
              <a:ext uri="{FF2B5EF4-FFF2-40B4-BE49-F238E27FC236}">
                <a16:creationId xmlns:a16="http://schemas.microsoft.com/office/drawing/2014/main" id="{CCCC873B-FDDC-4CB9-819D-23A1F587D06F}"/>
              </a:ext>
            </a:extLst>
          </p:cNvPr>
          <p:cNvSpPr>
            <a:spLocks xmlns:a="http://schemas.openxmlformats.org/drawingml/2006/main" noGrp="1"/>
          </p:cNvSpPr>
          <p:nvPr/>
        </p:nvSpPr>
        <p:spPr>
          <a:xfrm xmlns:a="http://schemas.openxmlformats.org/drawingml/2006/main">
            <a:off x="619125" y="3390900"/>
            <a:ext cx="714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625" b="0">
                <a:solidFill>
                  <a:srgbClr val="64786A"/>
                </a:solidFill>
                <a:latin typeface="Arial"/>
                <a:ea typeface="Arial"/>
                <a:cs typeface="Arial"/>
              </a:defRPr>
            </a:defPPr>
            <a:lvl1pPr>
              <a:defRPr sz="2625" b="0">
                <a:solidFill>
                  <a:srgbClr val="64786A"/>
                </a:solidFill>
                <a:latin typeface="Arial"/>
                <a:ea typeface="Arial"/>
                <a:cs typeface="Arial"/>
              </a:defRPr>
            </a:lvl1pPr>
            <a:lvl2pPr>
              <a:defRPr sz="2625" b="0">
                <a:solidFill>
                  <a:srgbClr val="64786A"/>
                </a:solidFill>
                <a:latin typeface="Arial"/>
                <a:ea typeface="Arial"/>
                <a:cs typeface="Arial"/>
              </a:defRPr>
            </a:lvl2pPr>
            <a:lvl3pPr>
              <a:defRPr sz="2625" b="0">
                <a:solidFill>
                  <a:srgbClr val="64786A"/>
                </a:solidFill>
                <a:latin typeface="Arial"/>
                <a:ea typeface="Arial"/>
                <a:cs typeface="Arial"/>
              </a:defRPr>
            </a:lvl3pPr>
            <a:lvl4pPr>
              <a:defRPr sz="2625" b="0">
                <a:solidFill>
                  <a:srgbClr val="64786A"/>
                </a:solidFill>
                <a:latin typeface="Arial"/>
                <a:ea typeface="Arial"/>
                <a:cs typeface="Arial"/>
              </a:defRPr>
            </a:lvl4pPr>
            <a:lvl5pPr>
              <a:defRPr sz="2625" b="0">
                <a:solidFill>
                  <a:srgbClr val="64786A"/>
                </a:solidFill>
                <a:latin typeface="Arial"/>
                <a:ea typeface="Arial"/>
                <a:cs typeface="Arial"/>
              </a:defRPr>
            </a:lvl5pPr>
            <a:lvl6pPr>
              <a:defRPr sz="2625" b="0">
                <a:solidFill>
                  <a:srgbClr val="64786A"/>
                </a:solidFill>
                <a:latin typeface="Arial"/>
                <a:ea typeface="Arial"/>
                <a:cs typeface="Arial"/>
              </a:defRPr>
            </a:lvl6pPr>
            <a:lvl7pPr>
              <a:defRPr sz="2625" b="0">
                <a:solidFill>
                  <a:srgbClr val="64786A"/>
                </a:solidFill>
                <a:latin typeface="Arial"/>
                <a:ea typeface="Arial"/>
                <a:cs typeface="Arial"/>
              </a:defRPr>
            </a:lvl7pPr>
            <a:lvl8pPr>
              <a:defRPr sz="2625" b="0">
                <a:solidFill>
                  <a:srgbClr val="64786A"/>
                </a:solidFill>
                <a:latin typeface="Arial"/>
                <a:ea typeface="Arial"/>
                <a:cs typeface="Arial"/>
              </a:defRPr>
            </a:lvl8pPr>
            <a:lvl9pPr>
              <a:defRPr sz="2625" b="0">
                <a:solidFill>
                  <a:srgbClr val="64786A"/>
                </a:solidFill>
                <a:latin typeface="Arial"/>
                <a:ea typeface="Arial"/>
                <a:cs typeface="Arial"/>
              </a:defRPr>
            </a:lvl9pPr>
          </a:lstStyle>
          <a:p xmlns:a="http://schemas.openxmlformats.org/drawingml/2006/main">
            <a:pPr>
              <a:defRPr sz="2625" b="0">
                <a:solidFill>
                  <a:srgbClr val="64786A"/>
                </a:solidFill>
                <a:latin typeface="Arial"/>
                <a:ea typeface="Arial"/>
                <a:cs typeface="Arial"/>
              </a:defRPr>
            </a:pPr>
            <a:r>
              <a:rPr sz="2625" b="0">
                <a:solidFill>
                  <a:srgbClr val="64786A"/>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3BA650D6-D5DB-44B8-A677-038118AD4EDE}"/>
              </a:ext>
            </a:extLst>
          </p:cNvPr>
          <p:cNvSpPr>
            <a:spLocks xmlns:a="http://schemas.openxmlformats.org/drawingml/2006/main" noGrp="1"/>
          </p:cNvSpPr>
          <p:nvPr/>
        </p:nvSpPr>
        <p:spPr>
          <a:xfrm xmlns:a="http://schemas.openxmlformats.org/drawingml/2006/main">
            <a:off x="1647825" y="3390900"/>
            <a:ext cx="2238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153A32"/>
                </a:solidFill>
                <a:latin typeface="Arial"/>
                <a:ea typeface="Arial"/>
                <a:cs typeface="Arial"/>
              </a:defRPr>
            </a:defPPr>
            <a:lvl1pPr>
              <a:defRPr sz="2325" b="1">
                <a:solidFill>
                  <a:srgbClr val="153A32"/>
                </a:solidFill>
                <a:latin typeface="Arial"/>
                <a:ea typeface="Arial"/>
                <a:cs typeface="Arial"/>
              </a:defRPr>
            </a:lvl1pPr>
            <a:lvl2pPr>
              <a:defRPr sz="2325" b="1">
                <a:solidFill>
                  <a:srgbClr val="153A32"/>
                </a:solidFill>
                <a:latin typeface="Arial"/>
                <a:ea typeface="Arial"/>
                <a:cs typeface="Arial"/>
              </a:defRPr>
            </a:lvl2pPr>
            <a:lvl3pPr>
              <a:defRPr sz="2325" b="1">
                <a:solidFill>
                  <a:srgbClr val="153A32"/>
                </a:solidFill>
                <a:latin typeface="Arial"/>
                <a:ea typeface="Arial"/>
                <a:cs typeface="Arial"/>
              </a:defRPr>
            </a:lvl3pPr>
            <a:lvl4pPr>
              <a:defRPr sz="2325" b="1">
                <a:solidFill>
                  <a:srgbClr val="153A32"/>
                </a:solidFill>
                <a:latin typeface="Arial"/>
                <a:ea typeface="Arial"/>
                <a:cs typeface="Arial"/>
              </a:defRPr>
            </a:lvl4pPr>
            <a:lvl5pPr>
              <a:defRPr sz="2325" b="1">
                <a:solidFill>
                  <a:srgbClr val="153A32"/>
                </a:solidFill>
                <a:latin typeface="Arial"/>
                <a:ea typeface="Arial"/>
                <a:cs typeface="Arial"/>
              </a:defRPr>
            </a:lvl5pPr>
            <a:lvl6pPr>
              <a:defRPr sz="2325" b="1">
                <a:solidFill>
                  <a:srgbClr val="153A32"/>
                </a:solidFill>
                <a:latin typeface="Arial"/>
                <a:ea typeface="Arial"/>
                <a:cs typeface="Arial"/>
              </a:defRPr>
            </a:lvl6pPr>
            <a:lvl7pPr>
              <a:defRPr sz="2325" b="1">
                <a:solidFill>
                  <a:srgbClr val="153A32"/>
                </a:solidFill>
                <a:latin typeface="Arial"/>
                <a:ea typeface="Arial"/>
                <a:cs typeface="Arial"/>
              </a:defRPr>
            </a:lvl7pPr>
            <a:lvl8pPr>
              <a:defRPr sz="2325" b="1">
                <a:solidFill>
                  <a:srgbClr val="153A32"/>
                </a:solidFill>
                <a:latin typeface="Arial"/>
                <a:ea typeface="Arial"/>
                <a:cs typeface="Arial"/>
              </a:defRPr>
            </a:lvl8pPr>
            <a:lvl9pPr>
              <a:defRPr sz="2325" b="1">
                <a:solidFill>
                  <a:srgbClr val="153A32"/>
                </a:solidFill>
                <a:latin typeface="Arial"/>
                <a:ea typeface="Arial"/>
                <a:cs typeface="Arial"/>
              </a:defRPr>
            </a:lvl9pPr>
          </a:lstStyle>
          <a:p xmlns:a="http://schemas.openxmlformats.org/drawingml/2006/main">
            <a:pPr>
              <a:defRPr sz="2325" b="1">
                <a:solidFill>
                  <a:srgbClr val="153A32"/>
                </a:solidFill>
                <a:latin typeface="Arial"/>
                <a:ea typeface="Arial"/>
                <a:cs typeface="Arial"/>
              </a:defRPr>
            </a:pPr>
            <a:r>
              <a:rPr sz="2325" b="1">
                <a:solidFill>
                  <a:srgbClr val="153A32"/>
                </a:solidFill>
                <a:latin typeface="Arial"/>
                <a:ea typeface="Arial"/>
                <a:cs typeface="Arial"/>
              </a:rPr>
              <a:t>Analyze</a:t>
            </a:r>
          </a:p>
        </p:txBody>
      </p:sp>
      <p:sp>
        <p:nvSpPr>
          <p:cNvPr id="13" name="">
            <a:extLst xmlns:a="http://schemas.openxmlformats.org/drawingml/2006/main">
              <a:ext uri="{FF2B5EF4-FFF2-40B4-BE49-F238E27FC236}">
                <a16:creationId xmlns:a16="http://schemas.microsoft.com/office/drawing/2014/main" id="{737411B3-E3E5-4BF3-9612-76746536935D}"/>
              </a:ext>
            </a:extLst>
          </p:cNvPr>
          <p:cNvSpPr>
            <a:spLocks xmlns:a="http://schemas.openxmlformats.org/drawingml/2006/main" noGrp="1"/>
          </p:cNvSpPr>
          <p:nvPr/>
        </p:nvSpPr>
        <p:spPr>
          <a:xfrm xmlns:a="http://schemas.openxmlformats.org/drawingml/2006/main">
            <a:off x="4276725" y="341947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Estimate sentiment and discover topics locally.</a:t>
            </a:r>
          </a:p>
        </p:txBody>
      </p:sp>
      <p:sp>
        <p:nvSpPr>
          <p:cNvPr id="14" name="">
            <a:extLst xmlns:a="http://schemas.openxmlformats.org/drawingml/2006/main">
              <a:ext uri="{FF2B5EF4-FFF2-40B4-BE49-F238E27FC236}">
                <a16:creationId xmlns:a16="http://schemas.microsoft.com/office/drawing/2014/main" id="{6FDFA777-7BFC-43FC-A729-09F567302A15}"/>
              </a:ext>
            </a:extLst>
          </p:cNvPr>
          <p:cNvSpPr>
            <a:spLocks xmlns:a="http://schemas.openxmlformats.org/drawingml/2006/main" noGrp="1"/>
          </p:cNvSpPr>
          <p:nvPr/>
        </p:nvSpPr>
        <p:spPr>
          <a:xfrm xmlns:a="http://schemas.openxmlformats.org/drawingml/2006/main">
            <a:off x="619125" y="4238625"/>
            <a:ext cx="714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625" b="0">
                <a:solidFill>
                  <a:srgbClr val="64786A"/>
                </a:solidFill>
                <a:latin typeface="Arial"/>
                <a:ea typeface="Arial"/>
                <a:cs typeface="Arial"/>
              </a:defRPr>
            </a:defPPr>
            <a:lvl1pPr>
              <a:defRPr sz="2625" b="0">
                <a:solidFill>
                  <a:srgbClr val="64786A"/>
                </a:solidFill>
                <a:latin typeface="Arial"/>
                <a:ea typeface="Arial"/>
                <a:cs typeface="Arial"/>
              </a:defRPr>
            </a:lvl1pPr>
            <a:lvl2pPr>
              <a:defRPr sz="2625" b="0">
                <a:solidFill>
                  <a:srgbClr val="64786A"/>
                </a:solidFill>
                <a:latin typeface="Arial"/>
                <a:ea typeface="Arial"/>
                <a:cs typeface="Arial"/>
              </a:defRPr>
            </a:lvl2pPr>
            <a:lvl3pPr>
              <a:defRPr sz="2625" b="0">
                <a:solidFill>
                  <a:srgbClr val="64786A"/>
                </a:solidFill>
                <a:latin typeface="Arial"/>
                <a:ea typeface="Arial"/>
                <a:cs typeface="Arial"/>
              </a:defRPr>
            </a:lvl3pPr>
            <a:lvl4pPr>
              <a:defRPr sz="2625" b="0">
                <a:solidFill>
                  <a:srgbClr val="64786A"/>
                </a:solidFill>
                <a:latin typeface="Arial"/>
                <a:ea typeface="Arial"/>
                <a:cs typeface="Arial"/>
              </a:defRPr>
            </a:lvl4pPr>
            <a:lvl5pPr>
              <a:defRPr sz="2625" b="0">
                <a:solidFill>
                  <a:srgbClr val="64786A"/>
                </a:solidFill>
                <a:latin typeface="Arial"/>
                <a:ea typeface="Arial"/>
                <a:cs typeface="Arial"/>
              </a:defRPr>
            </a:lvl5pPr>
            <a:lvl6pPr>
              <a:defRPr sz="2625" b="0">
                <a:solidFill>
                  <a:srgbClr val="64786A"/>
                </a:solidFill>
                <a:latin typeface="Arial"/>
                <a:ea typeface="Arial"/>
                <a:cs typeface="Arial"/>
              </a:defRPr>
            </a:lvl6pPr>
            <a:lvl7pPr>
              <a:defRPr sz="2625" b="0">
                <a:solidFill>
                  <a:srgbClr val="64786A"/>
                </a:solidFill>
                <a:latin typeface="Arial"/>
                <a:ea typeface="Arial"/>
                <a:cs typeface="Arial"/>
              </a:defRPr>
            </a:lvl7pPr>
            <a:lvl8pPr>
              <a:defRPr sz="2625" b="0">
                <a:solidFill>
                  <a:srgbClr val="64786A"/>
                </a:solidFill>
                <a:latin typeface="Arial"/>
                <a:ea typeface="Arial"/>
                <a:cs typeface="Arial"/>
              </a:defRPr>
            </a:lvl8pPr>
            <a:lvl9pPr>
              <a:defRPr sz="2625" b="0">
                <a:solidFill>
                  <a:srgbClr val="64786A"/>
                </a:solidFill>
                <a:latin typeface="Arial"/>
                <a:ea typeface="Arial"/>
                <a:cs typeface="Arial"/>
              </a:defRPr>
            </a:lvl9pPr>
          </a:lstStyle>
          <a:p xmlns:a="http://schemas.openxmlformats.org/drawingml/2006/main">
            <a:pPr>
              <a:defRPr sz="2625" b="0">
                <a:solidFill>
                  <a:srgbClr val="64786A"/>
                </a:solidFill>
                <a:latin typeface="Arial"/>
                <a:ea typeface="Arial"/>
                <a:cs typeface="Arial"/>
              </a:defRPr>
            </a:pPr>
            <a:r>
              <a:rPr sz="2625" b="0">
                <a:solidFill>
                  <a:srgbClr val="64786A"/>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4488541F-611E-4636-BF18-955567D6EF14}"/>
              </a:ext>
            </a:extLst>
          </p:cNvPr>
          <p:cNvSpPr>
            <a:spLocks xmlns:a="http://schemas.openxmlformats.org/drawingml/2006/main" noGrp="1"/>
          </p:cNvSpPr>
          <p:nvPr/>
        </p:nvSpPr>
        <p:spPr>
          <a:xfrm xmlns:a="http://schemas.openxmlformats.org/drawingml/2006/main">
            <a:off x="1647825" y="4238625"/>
            <a:ext cx="2238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153A32"/>
                </a:solidFill>
                <a:latin typeface="Arial"/>
                <a:ea typeface="Arial"/>
                <a:cs typeface="Arial"/>
              </a:defRPr>
            </a:defPPr>
            <a:lvl1pPr>
              <a:defRPr sz="2325" b="1">
                <a:solidFill>
                  <a:srgbClr val="153A32"/>
                </a:solidFill>
                <a:latin typeface="Arial"/>
                <a:ea typeface="Arial"/>
                <a:cs typeface="Arial"/>
              </a:defRPr>
            </a:lvl1pPr>
            <a:lvl2pPr>
              <a:defRPr sz="2325" b="1">
                <a:solidFill>
                  <a:srgbClr val="153A32"/>
                </a:solidFill>
                <a:latin typeface="Arial"/>
                <a:ea typeface="Arial"/>
                <a:cs typeface="Arial"/>
              </a:defRPr>
            </a:lvl2pPr>
            <a:lvl3pPr>
              <a:defRPr sz="2325" b="1">
                <a:solidFill>
                  <a:srgbClr val="153A32"/>
                </a:solidFill>
                <a:latin typeface="Arial"/>
                <a:ea typeface="Arial"/>
                <a:cs typeface="Arial"/>
              </a:defRPr>
            </a:lvl3pPr>
            <a:lvl4pPr>
              <a:defRPr sz="2325" b="1">
                <a:solidFill>
                  <a:srgbClr val="153A32"/>
                </a:solidFill>
                <a:latin typeface="Arial"/>
                <a:ea typeface="Arial"/>
                <a:cs typeface="Arial"/>
              </a:defRPr>
            </a:lvl4pPr>
            <a:lvl5pPr>
              <a:defRPr sz="2325" b="1">
                <a:solidFill>
                  <a:srgbClr val="153A32"/>
                </a:solidFill>
                <a:latin typeface="Arial"/>
                <a:ea typeface="Arial"/>
                <a:cs typeface="Arial"/>
              </a:defRPr>
            </a:lvl5pPr>
            <a:lvl6pPr>
              <a:defRPr sz="2325" b="1">
                <a:solidFill>
                  <a:srgbClr val="153A32"/>
                </a:solidFill>
                <a:latin typeface="Arial"/>
                <a:ea typeface="Arial"/>
                <a:cs typeface="Arial"/>
              </a:defRPr>
            </a:lvl6pPr>
            <a:lvl7pPr>
              <a:defRPr sz="2325" b="1">
                <a:solidFill>
                  <a:srgbClr val="153A32"/>
                </a:solidFill>
                <a:latin typeface="Arial"/>
                <a:ea typeface="Arial"/>
                <a:cs typeface="Arial"/>
              </a:defRPr>
            </a:lvl7pPr>
            <a:lvl8pPr>
              <a:defRPr sz="2325" b="1">
                <a:solidFill>
                  <a:srgbClr val="153A32"/>
                </a:solidFill>
                <a:latin typeface="Arial"/>
                <a:ea typeface="Arial"/>
                <a:cs typeface="Arial"/>
              </a:defRPr>
            </a:lvl8pPr>
            <a:lvl9pPr>
              <a:defRPr sz="2325" b="1">
                <a:solidFill>
                  <a:srgbClr val="153A32"/>
                </a:solidFill>
                <a:latin typeface="Arial"/>
                <a:ea typeface="Arial"/>
                <a:cs typeface="Arial"/>
              </a:defRPr>
            </a:lvl9pPr>
          </a:lstStyle>
          <a:p xmlns:a="http://schemas.openxmlformats.org/drawingml/2006/main">
            <a:pPr>
              <a:defRPr sz="2325" b="1">
                <a:solidFill>
                  <a:srgbClr val="153A32"/>
                </a:solidFill>
                <a:latin typeface="Arial"/>
                <a:ea typeface="Arial"/>
                <a:cs typeface="Arial"/>
              </a:defRPr>
            </a:pPr>
            <a:r>
              <a:rPr sz="2325" b="1">
                <a:solidFill>
                  <a:srgbClr val="153A32"/>
                </a:solidFill>
                <a:latin typeface="Arial"/>
                <a:ea typeface="Arial"/>
                <a:cs typeface="Arial"/>
              </a:rPr>
              <a:t>Explore</a:t>
            </a:r>
          </a:p>
        </p:txBody>
      </p:sp>
      <p:sp>
        <p:nvSpPr>
          <p:cNvPr id="16" name="">
            <a:extLst xmlns:a="http://schemas.openxmlformats.org/drawingml/2006/main">
              <a:ext uri="{FF2B5EF4-FFF2-40B4-BE49-F238E27FC236}">
                <a16:creationId xmlns:a16="http://schemas.microsoft.com/office/drawing/2014/main" id="{32FD66BE-5D6B-4D92-94B6-94045D854B07}"/>
              </a:ext>
            </a:extLst>
          </p:cNvPr>
          <p:cNvSpPr>
            <a:spLocks xmlns:a="http://schemas.openxmlformats.org/drawingml/2006/main" noGrp="1"/>
          </p:cNvSpPr>
          <p:nvPr/>
        </p:nvSpPr>
        <p:spPr>
          <a:xfrm xmlns:a="http://schemas.openxmlformats.org/drawingml/2006/main">
            <a:off x="4276725" y="42672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Filter conversations and retrieve supporting evidence.</a:t>
            </a:r>
          </a:p>
        </p:txBody>
      </p:sp>
      <p:sp>
        <p:nvSpPr>
          <p:cNvPr id="17" name="">
            <a:extLst xmlns:a="http://schemas.openxmlformats.org/drawingml/2006/main">
              <a:ext uri="{FF2B5EF4-FFF2-40B4-BE49-F238E27FC236}">
                <a16:creationId xmlns:a16="http://schemas.microsoft.com/office/drawing/2014/main" id="{678E5A60-BD1E-4EFD-91BE-CC6A513DB359}"/>
              </a:ext>
            </a:extLst>
          </p:cNvPr>
          <p:cNvSpPr>
            <a:spLocks xmlns:a="http://schemas.openxmlformats.org/drawingml/2006/main" noGrp="1"/>
          </p:cNvSpPr>
          <p:nvPr/>
        </p:nvSpPr>
        <p:spPr>
          <a:xfrm xmlns:a="http://schemas.openxmlformats.org/drawingml/2006/main">
            <a:off x="619125" y="5086350"/>
            <a:ext cx="714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625" b="0">
                <a:solidFill>
                  <a:srgbClr val="64786A"/>
                </a:solidFill>
                <a:latin typeface="Arial"/>
                <a:ea typeface="Arial"/>
                <a:cs typeface="Arial"/>
              </a:defRPr>
            </a:defPPr>
            <a:lvl1pPr>
              <a:defRPr sz="2625" b="0">
                <a:solidFill>
                  <a:srgbClr val="64786A"/>
                </a:solidFill>
                <a:latin typeface="Arial"/>
                <a:ea typeface="Arial"/>
                <a:cs typeface="Arial"/>
              </a:defRPr>
            </a:lvl1pPr>
            <a:lvl2pPr>
              <a:defRPr sz="2625" b="0">
                <a:solidFill>
                  <a:srgbClr val="64786A"/>
                </a:solidFill>
                <a:latin typeface="Arial"/>
                <a:ea typeface="Arial"/>
                <a:cs typeface="Arial"/>
              </a:defRPr>
            </a:lvl2pPr>
            <a:lvl3pPr>
              <a:defRPr sz="2625" b="0">
                <a:solidFill>
                  <a:srgbClr val="64786A"/>
                </a:solidFill>
                <a:latin typeface="Arial"/>
                <a:ea typeface="Arial"/>
                <a:cs typeface="Arial"/>
              </a:defRPr>
            </a:lvl3pPr>
            <a:lvl4pPr>
              <a:defRPr sz="2625" b="0">
                <a:solidFill>
                  <a:srgbClr val="64786A"/>
                </a:solidFill>
                <a:latin typeface="Arial"/>
                <a:ea typeface="Arial"/>
                <a:cs typeface="Arial"/>
              </a:defRPr>
            </a:lvl4pPr>
            <a:lvl5pPr>
              <a:defRPr sz="2625" b="0">
                <a:solidFill>
                  <a:srgbClr val="64786A"/>
                </a:solidFill>
                <a:latin typeface="Arial"/>
                <a:ea typeface="Arial"/>
                <a:cs typeface="Arial"/>
              </a:defRPr>
            </a:lvl5pPr>
            <a:lvl6pPr>
              <a:defRPr sz="2625" b="0">
                <a:solidFill>
                  <a:srgbClr val="64786A"/>
                </a:solidFill>
                <a:latin typeface="Arial"/>
                <a:ea typeface="Arial"/>
                <a:cs typeface="Arial"/>
              </a:defRPr>
            </a:lvl6pPr>
            <a:lvl7pPr>
              <a:defRPr sz="2625" b="0">
                <a:solidFill>
                  <a:srgbClr val="64786A"/>
                </a:solidFill>
                <a:latin typeface="Arial"/>
                <a:ea typeface="Arial"/>
                <a:cs typeface="Arial"/>
              </a:defRPr>
            </a:lvl7pPr>
            <a:lvl8pPr>
              <a:defRPr sz="2625" b="0">
                <a:solidFill>
                  <a:srgbClr val="64786A"/>
                </a:solidFill>
                <a:latin typeface="Arial"/>
                <a:ea typeface="Arial"/>
                <a:cs typeface="Arial"/>
              </a:defRPr>
            </a:lvl8pPr>
            <a:lvl9pPr>
              <a:defRPr sz="2625" b="0">
                <a:solidFill>
                  <a:srgbClr val="64786A"/>
                </a:solidFill>
                <a:latin typeface="Arial"/>
                <a:ea typeface="Arial"/>
                <a:cs typeface="Arial"/>
              </a:defRPr>
            </a:lvl9pPr>
          </a:lstStyle>
          <a:p xmlns:a="http://schemas.openxmlformats.org/drawingml/2006/main">
            <a:pPr>
              <a:defRPr sz="2625" b="0">
                <a:solidFill>
                  <a:srgbClr val="64786A"/>
                </a:solidFill>
                <a:latin typeface="Arial"/>
                <a:ea typeface="Arial"/>
                <a:cs typeface="Arial"/>
              </a:defRPr>
            </a:pPr>
            <a:r>
              <a:rPr sz="2625" b="0">
                <a:solidFill>
                  <a:srgbClr val="64786A"/>
                </a:solidFill>
                <a:latin typeface="Arial"/>
                <a:ea typeface="Arial"/>
                <a:cs typeface="Arial"/>
              </a:rPr>
              <a:t>05</a:t>
            </a:r>
          </a:p>
        </p:txBody>
      </p:sp>
      <p:sp>
        <p:nvSpPr>
          <p:cNvPr id="18" name="">
            <a:extLst xmlns:a="http://schemas.openxmlformats.org/drawingml/2006/main">
              <a:ext uri="{FF2B5EF4-FFF2-40B4-BE49-F238E27FC236}">
                <a16:creationId xmlns:a16="http://schemas.microsoft.com/office/drawing/2014/main" id="{4C4C7567-CC1D-4468-8452-8FC296C88AF5}"/>
              </a:ext>
            </a:extLst>
          </p:cNvPr>
          <p:cNvSpPr>
            <a:spLocks xmlns:a="http://schemas.openxmlformats.org/drawingml/2006/main" noGrp="1"/>
          </p:cNvSpPr>
          <p:nvPr/>
        </p:nvSpPr>
        <p:spPr>
          <a:xfrm xmlns:a="http://schemas.openxmlformats.org/drawingml/2006/main">
            <a:off x="1647825" y="5086350"/>
            <a:ext cx="2238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153A32"/>
                </a:solidFill>
                <a:latin typeface="Arial"/>
                <a:ea typeface="Arial"/>
                <a:cs typeface="Arial"/>
              </a:defRPr>
            </a:defPPr>
            <a:lvl1pPr>
              <a:defRPr sz="2325" b="1">
                <a:solidFill>
                  <a:srgbClr val="153A32"/>
                </a:solidFill>
                <a:latin typeface="Arial"/>
                <a:ea typeface="Arial"/>
                <a:cs typeface="Arial"/>
              </a:defRPr>
            </a:lvl1pPr>
            <a:lvl2pPr>
              <a:defRPr sz="2325" b="1">
                <a:solidFill>
                  <a:srgbClr val="153A32"/>
                </a:solidFill>
                <a:latin typeface="Arial"/>
                <a:ea typeface="Arial"/>
                <a:cs typeface="Arial"/>
              </a:defRPr>
            </a:lvl2pPr>
            <a:lvl3pPr>
              <a:defRPr sz="2325" b="1">
                <a:solidFill>
                  <a:srgbClr val="153A32"/>
                </a:solidFill>
                <a:latin typeface="Arial"/>
                <a:ea typeface="Arial"/>
                <a:cs typeface="Arial"/>
              </a:defRPr>
            </a:lvl3pPr>
            <a:lvl4pPr>
              <a:defRPr sz="2325" b="1">
                <a:solidFill>
                  <a:srgbClr val="153A32"/>
                </a:solidFill>
                <a:latin typeface="Arial"/>
                <a:ea typeface="Arial"/>
                <a:cs typeface="Arial"/>
              </a:defRPr>
            </a:lvl4pPr>
            <a:lvl5pPr>
              <a:defRPr sz="2325" b="1">
                <a:solidFill>
                  <a:srgbClr val="153A32"/>
                </a:solidFill>
                <a:latin typeface="Arial"/>
                <a:ea typeface="Arial"/>
                <a:cs typeface="Arial"/>
              </a:defRPr>
            </a:lvl5pPr>
            <a:lvl6pPr>
              <a:defRPr sz="2325" b="1">
                <a:solidFill>
                  <a:srgbClr val="153A32"/>
                </a:solidFill>
                <a:latin typeface="Arial"/>
                <a:ea typeface="Arial"/>
                <a:cs typeface="Arial"/>
              </a:defRPr>
            </a:lvl6pPr>
            <a:lvl7pPr>
              <a:defRPr sz="2325" b="1">
                <a:solidFill>
                  <a:srgbClr val="153A32"/>
                </a:solidFill>
                <a:latin typeface="Arial"/>
                <a:ea typeface="Arial"/>
                <a:cs typeface="Arial"/>
              </a:defRPr>
            </a:lvl7pPr>
            <a:lvl8pPr>
              <a:defRPr sz="2325" b="1">
                <a:solidFill>
                  <a:srgbClr val="153A32"/>
                </a:solidFill>
                <a:latin typeface="Arial"/>
                <a:ea typeface="Arial"/>
                <a:cs typeface="Arial"/>
              </a:defRPr>
            </a:lvl8pPr>
            <a:lvl9pPr>
              <a:defRPr sz="2325" b="1">
                <a:solidFill>
                  <a:srgbClr val="153A32"/>
                </a:solidFill>
                <a:latin typeface="Arial"/>
                <a:ea typeface="Arial"/>
                <a:cs typeface="Arial"/>
              </a:defRPr>
            </a:lvl9pPr>
          </a:lstStyle>
          <a:p xmlns:a="http://schemas.openxmlformats.org/drawingml/2006/main">
            <a:pPr>
              <a:defRPr sz="2325" b="1">
                <a:solidFill>
                  <a:srgbClr val="153A32"/>
                </a:solidFill>
                <a:latin typeface="Arial"/>
                <a:ea typeface="Arial"/>
                <a:cs typeface="Arial"/>
              </a:defRPr>
            </a:pPr>
            <a:r>
              <a:rPr sz="2325" b="1">
                <a:solidFill>
                  <a:srgbClr val="153A32"/>
                </a:solidFill>
                <a:latin typeface="Arial"/>
                <a:ea typeface="Arial"/>
                <a:cs typeface="Arial"/>
              </a:rPr>
              <a:t>Act</a:t>
            </a:r>
          </a:p>
        </p:txBody>
      </p:sp>
      <p:sp>
        <p:nvSpPr>
          <p:cNvPr id="19" name="">
            <a:extLst xmlns:a="http://schemas.openxmlformats.org/drawingml/2006/main">
              <a:ext uri="{FF2B5EF4-FFF2-40B4-BE49-F238E27FC236}">
                <a16:creationId xmlns:a16="http://schemas.microsoft.com/office/drawing/2014/main" id="{3F1A59B9-E48C-43E4-B35C-FA34B9BC5370}"/>
              </a:ext>
            </a:extLst>
          </p:cNvPr>
          <p:cNvSpPr>
            <a:spLocks xmlns:a="http://schemas.openxmlformats.org/drawingml/2006/main" noGrp="1"/>
          </p:cNvSpPr>
          <p:nvPr/>
        </p:nvSpPr>
        <p:spPr>
          <a:xfrm xmlns:a="http://schemas.openxmlformats.org/drawingml/2006/main">
            <a:off x="4276725" y="51149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Review labels, assign issues and save reports.</a:t>
            </a:r>
          </a:p>
        </p:txBody>
      </p:sp>
    </p:spTree>
    <p:extLst>
      <p:ext uri="{BB962C8B-B14F-4D97-AF65-F5344CB8AC3E}">
        <p14:creationId xmlns:p14="http://schemas.microsoft.com/office/powerpoint/2010/main" val="1898816580"/>
      </p:ext>
    </p:extLst>
  </p:cSld>
</p:sld>
</file>

<file path=ppt/slides/slide5.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B764CB7-050B-4876-A822-6F2CEE9A69FE}"/>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PLATFORM WALKTHROUGH</a:t>
            </a:r>
          </a:p>
        </p:txBody>
      </p:sp>
      <p:sp>
        <p:nvSpPr>
          <p:cNvPr id="3" name="">
            <a:extLst xmlns:a="http://schemas.openxmlformats.org/drawingml/2006/main">
              <a:ext uri="{FF2B5EF4-FFF2-40B4-BE49-F238E27FC236}">
                <a16:creationId xmlns:a16="http://schemas.microsoft.com/office/drawing/2014/main" id="{1BAF6F90-7599-4541-AC47-56FB2C9015DA}"/>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The platform dashboard</a:t>
            </a:r>
          </a:p>
        </p:txBody>
      </p:sp>
      <p:sp>
        <p:nvSpPr>
          <p:cNvPr id="4" name="">
            <a:extLst xmlns:a="http://schemas.openxmlformats.org/drawingml/2006/main">
              <a:ext uri="{FF2B5EF4-FFF2-40B4-BE49-F238E27FC236}">
                <a16:creationId xmlns:a16="http://schemas.microsoft.com/office/drawing/2014/main" id="{3F161B07-5E95-42D6-ACFB-70E87D7FE562}"/>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05</a:t>
            </a:r>
          </a:p>
        </p:txBody>
      </p:sp>
      <p:pic>
        <p:nvPicPr>
          <p:cNvPr id="5" name="">
            <a:extLst xmlns:a="http://schemas.openxmlformats.org/drawingml/2006/main">
              <a:ext uri="{FF2B5EF4-FFF2-40B4-BE49-F238E27FC236}">
                <a16:creationId xmlns:a16="http://schemas.microsoft.com/office/drawing/2014/main" id="{0752412E-16AF-4C4C-A519-27BE055304AF}"/>
              </a:ext>
            </a:extLst>
          </p:cNvPr>
          <p:cNvPicPr>
            <a:picLocks xmlns:a="http://schemas.openxmlformats.org/drawingml/2006/main" noChangeAspect="1"/>
          </p:cNvPicPr>
          <p:nvPr/>
        </p:nvPicPr>
        <p:blipFill>
          <a:blip xmlns:r="http://schemas.openxmlformats.org/officeDocument/2006/relationships" xmlns:a="http://schemas.openxmlformats.org/drawingml/2006/main" r:embed="Rcac18c66f55349a0"/>
          <a:stretch xmlns:a="http://schemas.openxmlformats.org/drawingml/2006/main"/>
        </p:blipFill>
        <p:spPr>
          <a:xfrm xmlns:a="http://schemas.openxmlformats.org/drawingml/2006/main">
            <a:off x="1038422" y="1495425"/>
            <a:ext cx="4876407" cy="45624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BA2AAA2-BA8A-4533-A9EF-BBFC1D577018}"/>
              </a:ext>
            </a:extLst>
          </p:cNvPr>
          <p:cNvSpPr>
            <a:spLocks xmlns:a="http://schemas.openxmlformats.org/drawingml/2006/main" noGrp="1"/>
          </p:cNvSpPr>
          <p:nvPr/>
        </p:nvSpPr>
        <p:spPr>
          <a:xfrm xmlns:a="http://schemas.openxmlformats.org/drawingml/2006/main">
            <a:off x="609600" y="61436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Actual platform screenshot. Synthetic demo data.</a:t>
            </a:r>
          </a:p>
        </p:txBody>
      </p:sp>
      <p:sp>
        <p:nvSpPr>
          <p:cNvPr id="7" name="">
            <a:extLst xmlns:a="http://schemas.openxmlformats.org/drawingml/2006/main">
              <a:ext uri="{FF2B5EF4-FFF2-40B4-BE49-F238E27FC236}">
                <a16:creationId xmlns:a16="http://schemas.microsoft.com/office/drawing/2014/main" id="{1988F615-4E49-4DF4-9750-451DD29D6416}"/>
              </a:ext>
            </a:extLst>
          </p:cNvPr>
          <p:cNvSpPr>
            <a:spLocks xmlns:a="http://schemas.openxmlformats.org/drawingml/2006/main" noGrp="1"/>
          </p:cNvSpPr>
          <p:nvPr/>
        </p:nvSpPr>
        <p:spPr>
          <a:xfrm xmlns:a="http://schemas.openxmlformats.org/drawingml/2006/main">
            <a:off x="6896100" y="164782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Conversation overview</a:t>
            </a:r>
          </a:p>
        </p:txBody>
      </p:sp>
      <p:sp>
        <p:nvSpPr>
          <p:cNvPr id="8" name="">
            <a:extLst xmlns:a="http://schemas.openxmlformats.org/drawingml/2006/main">
              <a:ext uri="{FF2B5EF4-FFF2-40B4-BE49-F238E27FC236}">
                <a16:creationId xmlns:a16="http://schemas.microsoft.com/office/drawing/2014/main" id="{E3D363AB-A3D2-4B74-B3A2-8CF657C7CA03}"/>
              </a:ext>
            </a:extLst>
          </p:cNvPr>
          <p:cNvSpPr>
            <a:spLocks xmlns:a="http://schemas.openxmlformats.org/drawingml/2006/main" noGrp="1"/>
          </p:cNvSpPr>
          <p:nvPr/>
        </p:nvSpPr>
        <p:spPr>
          <a:xfrm xmlns:a="http://schemas.openxmlformats.org/drawingml/2006/main">
            <a:off x="6896100" y="21050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View totals and the estimated sentiment mix for the current filters.</a:t>
            </a:r>
          </a:p>
        </p:txBody>
      </p:sp>
      <p:sp>
        <p:nvSpPr>
          <p:cNvPr id="9" name="">
            <a:extLst xmlns:a="http://schemas.openxmlformats.org/drawingml/2006/main">
              <a:ext uri="{FF2B5EF4-FFF2-40B4-BE49-F238E27FC236}">
                <a16:creationId xmlns:a16="http://schemas.microsoft.com/office/drawing/2014/main" id="{9B51B6D6-E67A-473C-9B1D-4FC11C31A1D6}"/>
              </a:ext>
            </a:extLst>
          </p:cNvPr>
          <p:cNvSpPr>
            <a:spLocks xmlns:a="http://schemas.openxmlformats.org/drawingml/2006/main" noGrp="1"/>
          </p:cNvSpPr>
          <p:nvPr/>
        </p:nvSpPr>
        <p:spPr>
          <a:xfrm xmlns:a="http://schemas.openxmlformats.org/drawingml/2006/main">
            <a:off x="6896100" y="31051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Topics and trends</a:t>
            </a:r>
          </a:p>
        </p:txBody>
      </p:sp>
      <p:sp>
        <p:nvSpPr>
          <p:cNvPr id="10" name="">
            <a:extLst xmlns:a="http://schemas.openxmlformats.org/drawingml/2006/main">
              <a:ext uri="{FF2B5EF4-FFF2-40B4-BE49-F238E27FC236}">
                <a16:creationId xmlns:a16="http://schemas.microsoft.com/office/drawing/2014/main" id="{9DA22EA2-FE2E-46FB-98CC-A7AA5CD3B364}"/>
              </a:ext>
            </a:extLst>
          </p:cNvPr>
          <p:cNvSpPr>
            <a:spLocks xmlns:a="http://schemas.openxmlformats.org/drawingml/2006/main" noGrp="1"/>
          </p:cNvSpPr>
          <p:nvPr/>
        </p:nvSpPr>
        <p:spPr>
          <a:xfrm xmlns:a="http://schemas.openxmlformats.org/drawingml/2006/main">
            <a:off x="6896100" y="3562350"/>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Explore statistical topic clusters, dated volumes and source comparisons.</a:t>
            </a:r>
          </a:p>
        </p:txBody>
      </p:sp>
      <p:sp>
        <p:nvSpPr>
          <p:cNvPr id="11" name="">
            <a:extLst xmlns:a="http://schemas.openxmlformats.org/drawingml/2006/main">
              <a:ext uri="{FF2B5EF4-FFF2-40B4-BE49-F238E27FC236}">
                <a16:creationId xmlns:a16="http://schemas.microsoft.com/office/drawing/2014/main" id="{1B605FA3-8CDA-430A-A361-DBC16E599C66}"/>
              </a:ext>
            </a:extLst>
          </p:cNvPr>
          <p:cNvSpPr>
            <a:spLocks xmlns:a="http://schemas.openxmlformats.org/drawingml/2006/main" noGrp="1"/>
          </p:cNvSpPr>
          <p:nvPr/>
        </p:nvSpPr>
        <p:spPr>
          <a:xfrm xmlns:a="http://schemas.openxmlformats.org/drawingml/2006/main">
            <a:off x="6896100" y="456247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Demo snapshot</a:t>
            </a:r>
          </a:p>
        </p:txBody>
      </p:sp>
      <p:sp>
        <p:nvSpPr>
          <p:cNvPr id="12" name="">
            <a:extLst xmlns:a="http://schemas.openxmlformats.org/drawingml/2006/main">
              <a:ext uri="{FF2B5EF4-FFF2-40B4-BE49-F238E27FC236}">
                <a16:creationId xmlns:a16="http://schemas.microsoft.com/office/drawing/2014/main" id="{115A7392-6047-462D-908C-E9393C9D169B}"/>
              </a:ext>
            </a:extLst>
          </p:cNvPr>
          <p:cNvSpPr>
            <a:spLocks xmlns:a="http://schemas.openxmlformats.org/drawingml/2006/main" noGrp="1"/>
          </p:cNvSpPr>
          <p:nvPr/>
        </p:nvSpPr>
        <p:spPr>
          <a:xfrm xmlns:a="http://schemas.openxmlformats.org/drawingml/2006/main">
            <a:off x="6896100" y="501967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The sample workspace contains 12 synthetic conversations. These are not business results.</a:t>
            </a:r>
          </a:p>
        </p:txBody>
      </p:sp>
    </p:spTree>
    <p:extLst>
      <p:ext uri="{BB962C8B-B14F-4D97-AF65-F5344CB8AC3E}">
        <p14:creationId xmlns:p14="http://schemas.microsoft.com/office/powerpoint/2010/main" val="1132218656"/>
      </p:ext>
    </p:extLst>
  </p:cSld>
</p:sld>
</file>

<file path=ppt/slides/slide6.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0D00FF0-C3FE-4630-BE7C-3A694726E708}"/>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PLATFORM WALKTHROUGH</a:t>
            </a:r>
          </a:p>
        </p:txBody>
      </p:sp>
      <p:sp>
        <p:nvSpPr>
          <p:cNvPr id="3" name="">
            <a:extLst xmlns:a="http://schemas.openxmlformats.org/drawingml/2006/main">
              <a:ext uri="{FF2B5EF4-FFF2-40B4-BE49-F238E27FC236}">
                <a16:creationId xmlns:a16="http://schemas.microsoft.com/office/drawing/2014/main" id="{9E56C2D9-57AD-4A79-99DD-4190B3DB121E}"/>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Conversation exploration</a:t>
            </a:r>
          </a:p>
        </p:txBody>
      </p:sp>
      <p:sp>
        <p:nvSpPr>
          <p:cNvPr id="4" name="">
            <a:extLst xmlns:a="http://schemas.openxmlformats.org/drawingml/2006/main">
              <a:ext uri="{FF2B5EF4-FFF2-40B4-BE49-F238E27FC236}">
                <a16:creationId xmlns:a16="http://schemas.microsoft.com/office/drawing/2014/main" id="{A496755C-410A-4E53-92ED-6C57DFD00B4D}"/>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06</a:t>
            </a:r>
          </a:p>
        </p:txBody>
      </p:sp>
      <p:pic>
        <p:nvPicPr>
          <p:cNvPr id="5" name="">
            <a:extLst xmlns:a="http://schemas.openxmlformats.org/drawingml/2006/main">
              <a:ext uri="{FF2B5EF4-FFF2-40B4-BE49-F238E27FC236}">
                <a16:creationId xmlns:a16="http://schemas.microsoft.com/office/drawing/2014/main" id="{160DFCBF-012E-49AE-B93E-E49A488C0B10}"/>
              </a:ext>
            </a:extLst>
          </p:cNvPr>
          <p:cNvPicPr>
            <a:picLocks xmlns:a="http://schemas.openxmlformats.org/drawingml/2006/main" noChangeAspect="1"/>
          </p:cNvPicPr>
          <p:nvPr/>
        </p:nvPicPr>
        <p:blipFill>
          <a:blip xmlns:r="http://schemas.openxmlformats.org/officeDocument/2006/relationships" xmlns:a="http://schemas.openxmlformats.org/drawingml/2006/main" r:embed="Rcc7a77380b65421d"/>
          <a:stretch xmlns:a="http://schemas.openxmlformats.org/drawingml/2006/main"/>
        </p:blipFill>
        <p:spPr>
          <a:xfrm xmlns:a="http://schemas.openxmlformats.org/drawingml/2006/main">
            <a:off x="1038422" y="1495425"/>
            <a:ext cx="4876407" cy="45624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F7AFFE2-064B-4740-83EE-E62BA7C4DD52}"/>
              </a:ext>
            </a:extLst>
          </p:cNvPr>
          <p:cNvSpPr>
            <a:spLocks xmlns:a="http://schemas.openxmlformats.org/drawingml/2006/main" noGrp="1"/>
          </p:cNvSpPr>
          <p:nvPr/>
        </p:nvSpPr>
        <p:spPr>
          <a:xfrm xmlns:a="http://schemas.openxmlformats.org/drawingml/2006/main">
            <a:off x="609600" y="61436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Actual platform screenshot. Synthetic demo data.</a:t>
            </a:r>
          </a:p>
        </p:txBody>
      </p:sp>
      <p:sp>
        <p:nvSpPr>
          <p:cNvPr id="7" name="">
            <a:extLst xmlns:a="http://schemas.openxmlformats.org/drawingml/2006/main">
              <a:ext uri="{FF2B5EF4-FFF2-40B4-BE49-F238E27FC236}">
                <a16:creationId xmlns:a16="http://schemas.microsoft.com/office/drawing/2014/main" id="{436C7D56-1CDC-4CB0-A824-7379CC1ACE96}"/>
              </a:ext>
            </a:extLst>
          </p:cNvPr>
          <p:cNvSpPr>
            <a:spLocks xmlns:a="http://schemas.openxmlformats.org/drawingml/2006/main" noGrp="1"/>
          </p:cNvSpPr>
          <p:nvPr/>
        </p:nvSpPr>
        <p:spPr>
          <a:xfrm xmlns:a="http://schemas.openxmlformats.org/drawingml/2006/main">
            <a:off x="6896100" y="164782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Search and filter</a:t>
            </a:r>
          </a:p>
        </p:txBody>
      </p:sp>
      <p:sp>
        <p:nvSpPr>
          <p:cNvPr id="8" name="">
            <a:extLst xmlns:a="http://schemas.openxmlformats.org/drawingml/2006/main">
              <a:ext uri="{FF2B5EF4-FFF2-40B4-BE49-F238E27FC236}">
                <a16:creationId xmlns:a16="http://schemas.microsoft.com/office/drawing/2014/main" id="{2EB08CB8-3A06-418F-B399-C05B5ADB1BD4}"/>
              </a:ext>
            </a:extLst>
          </p:cNvPr>
          <p:cNvSpPr>
            <a:spLocks xmlns:a="http://schemas.openxmlformats.org/drawingml/2006/main" noGrp="1"/>
          </p:cNvSpPr>
          <p:nvPr/>
        </p:nvSpPr>
        <p:spPr>
          <a:xfrm xmlns:a="http://schemas.openxmlformats.org/drawingml/2006/main">
            <a:off x="6896100" y="21050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Filter by text, source, sentiment and date range.</a:t>
            </a:r>
          </a:p>
        </p:txBody>
      </p:sp>
      <p:sp>
        <p:nvSpPr>
          <p:cNvPr id="9" name="">
            <a:extLst xmlns:a="http://schemas.openxmlformats.org/drawingml/2006/main">
              <a:ext uri="{FF2B5EF4-FFF2-40B4-BE49-F238E27FC236}">
                <a16:creationId xmlns:a16="http://schemas.microsoft.com/office/drawing/2014/main" id="{88F073ED-E9FD-49DD-99EC-65888C5A3BF4}"/>
              </a:ext>
            </a:extLst>
          </p:cNvPr>
          <p:cNvSpPr>
            <a:spLocks xmlns:a="http://schemas.openxmlformats.org/drawingml/2006/main" noGrp="1"/>
          </p:cNvSpPr>
          <p:nvPr/>
        </p:nvSpPr>
        <p:spPr>
          <a:xfrm xmlns:a="http://schemas.openxmlformats.org/drawingml/2006/main">
            <a:off x="6896100" y="31051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Inspect the record</a:t>
            </a:r>
          </a:p>
        </p:txBody>
      </p:sp>
      <p:sp>
        <p:nvSpPr>
          <p:cNvPr id="10" name="">
            <a:extLst xmlns:a="http://schemas.openxmlformats.org/drawingml/2006/main">
              <a:ext uri="{FF2B5EF4-FFF2-40B4-BE49-F238E27FC236}">
                <a16:creationId xmlns:a16="http://schemas.microsoft.com/office/drawing/2014/main" id="{84103862-FE03-47AB-8B37-D2006F018C9E}"/>
              </a:ext>
            </a:extLst>
          </p:cNvPr>
          <p:cNvSpPr>
            <a:spLocks xmlns:a="http://schemas.openxmlformats.org/drawingml/2006/main" noGrp="1"/>
          </p:cNvSpPr>
          <p:nvPr/>
        </p:nvSpPr>
        <p:spPr>
          <a:xfrm xmlns:a="http://schemas.openxmlformats.org/drawingml/2006/main">
            <a:off x="6896100" y="3562350"/>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Read the post, language, sentiment and investigation status.</a:t>
            </a:r>
          </a:p>
        </p:txBody>
      </p:sp>
      <p:sp>
        <p:nvSpPr>
          <p:cNvPr id="11" name="">
            <a:extLst xmlns:a="http://schemas.openxmlformats.org/drawingml/2006/main">
              <a:ext uri="{FF2B5EF4-FFF2-40B4-BE49-F238E27FC236}">
                <a16:creationId xmlns:a16="http://schemas.microsoft.com/office/drawing/2014/main" id="{C1D9F1F4-07A0-4724-9810-370D3395A707}"/>
              </a:ext>
            </a:extLst>
          </p:cNvPr>
          <p:cNvSpPr>
            <a:spLocks xmlns:a="http://schemas.openxmlformats.org/drawingml/2006/main" noGrp="1"/>
          </p:cNvSpPr>
          <p:nvPr/>
        </p:nvSpPr>
        <p:spPr>
          <a:xfrm xmlns:a="http://schemas.openxmlformats.org/drawingml/2006/main">
            <a:off x="6896100" y="456247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Export evidence</a:t>
            </a:r>
          </a:p>
        </p:txBody>
      </p:sp>
      <p:sp>
        <p:nvSpPr>
          <p:cNvPr id="12" name="">
            <a:extLst xmlns:a="http://schemas.openxmlformats.org/drawingml/2006/main">
              <a:ext uri="{FF2B5EF4-FFF2-40B4-BE49-F238E27FC236}">
                <a16:creationId xmlns:a16="http://schemas.microsoft.com/office/drawing/2014/main" id="{3F8213D0-AD1A-490B-87C8-2DE362720503}"/>
              </a:ext>
            </a:extLst>
          </p:cNvPr>
          <p:cNvSpPr>
            <a:spLocks xmlns:a="http://schemas.openxmlformats.org/drawingml/2006/main" noGrp="1"/>
          </p:cNvSpPr>
          <p:nvPr/>
        </p:nvSpPr>
        <p:spPr>
          <a:xfrm xmlns:a="http://schemas.openxmlformats.org/drawingml/2006/main">
            <a:off x="6896100" y="501967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Download the filtered dataset as CSV for further review.</a:t>
            </a:r>
          </a:p>
        </p:txBody>
      </p:sp>
    </p:spTree>
    <p:extLst>
      <p:ext uri="{BB962C8B-B14F-4D97-AF65-F5344CB8AC3E}">
        <p14:creationId xmlns:p14="http://schemas.microsoft.com/office/powerpoint/2010/main" val="503532376"/>
      </p:ext>
    </p:extLst>
  </p:cSld>
</p:sld>
</file>

<file path=ppt/slides/slide7.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11541CF-1205-4615-AEE1-723DD5E34490}"/>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ANALYSIS METHODS</a:t>
            </a:r>
          </a:p>
        </p:txBody>
      </p:sp>
      <p:sp>
        <p:nvSpPr>
          <p:cNvPr id="3" name="">
            <a:extLst xmlns:a="http://schemas.openxmlformats.org/drawingml/2006/main">
              <a:ext uri="{FF2B5EF4-FFF2-40B4-BE49-F238E27FC236}">
                <a16:creationId xmlns:a16="http://schemas.microsoft.com/office/drawing/2014/main" id="{DDFA7135-8104-43A4-960E-8C0D1BE40229}"/>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Local AI analysis</a:t>
            </a:r>
          </a:p>
        </p:txBody>
      </p:sp>
      <p:sp>
        <p:nvSpPr>
          <p:cNvPr id="4" name="">
            <a:extLst xmlns:a="http://schemas.openxmlformats.org/drawingml/2006/main">
              <a:ext uri="{FF2B5EF4-FFF2-40B4-BE49-F238E27FC236}">
                <a16:creationId xmlns:a16="http://schemas.microsoft.com/office/drawing/2014/main" id="{4A87E6E1-5BE9-4B7F-9BAA-37A65E003FBD}"/>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F0C19F22-1E00-4A84-B539-23DB54F08E4C}"/>
              </a:ext>
            </a:extLst>
          </p:cNvPr>
          <p:cNvSpPr>
            <a:spLocks xmlns:a="http://schemas.openxmlformats.org/drawingml/2006/main" noGrp="1"/>
          </p:cNvSpPr>
          <p:nvPr/>
        </p:nvSpPr>
        <p:spPr>
          <a:xfrm xmlns:a="http://schemas.openxmlformats.org/drawingml/2006/main">
            <a:off x="609600" y="18002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275" b="1">
                <a:solidFill>
                  <a:srgbClr val="153A32"/>
                </a:solidFill>
                <a:latin typeface="Arial"/>
                <a:ea typeface="Arial"/>
                <a:cs typeface="Arial"/>
              </a:defRPr>
            </a:defPPr>
            <a:lvl1pPr>
              <a:defRPr sz="4275" b="1">
                <a:solidFill>
                  <a:srgbClr val="153A32"/>
                </a:solidFill>
                <a:latin typeface="Arial"/>
                <a:ea typeface="Arial"/>
                <a:cs typeface="Arial"/>
              </a:defRPr>
            </a:lvl1pPr>
            <a:lvl2pPr>
              <a:defRPr sz="4275" b="1">
                <a:solidFill>
                  <a:srgbClr val="153A32"/>
                </a:solidFill>
                <a:latin typeface="Arial"/>
                <a:ea typeface="Arial"/>
                <a:cs typeface="Arial"/>
              </a:defRPr>
            </a:lvl2pPr>
            <a:lvl3pPr>
              <a:defRPr sz="4275" b="1">
                <a:solidFill>
                  <a:srgbClr val="153A32"/>
                </a:solidFill>
                <a:latin typeface="Arial"/>
                <a:ea typeface="Arial"/>
                <a:cs typeface="Arial"/>
              </a:defRPr>
            </a:lvl3pPr>
            <a:lvl4pPr>
              <a:defRPr sz="4275" b="1">
                <a:solidFill>
                  <a:srgbClr val="153A32"/>
                </a:solidFill>
                <a:latin typeface="Arial"/>
                <a:ea typeface="Arial"/>
                <a:cs typeface="Arial"/>
              </a:defRPr>
            </a:lvl4pPr>
            <a:lvl5pPr>
              <a:defRPr sz="4275" b="1">
                <a:solidFill>
                  <a:srgbClr val="153A32"/>
                </a:solidFill>
                <a:latin typeface="Arial"/>
                <a:ea typeface="Arial"/>
                <a:cs typeface="Arial"/>
              </a:defRPr>
            </a:lvl5pPr>
            <a:lvl6pPr>
              <a:defRPr sz="4275" b="1">
                <a:solidFill>
                  <a:srgbClr val="153A32"/>
                </a:solidFill>
                <a:latin typeface="Arial"/>
                <a:ea typeface="Arial"/>
                <a:cs typeface="Arial"/>
              </a:defRPr>
            </a:lvl6pPr>
            <a:lvl7pPr>
              <a:defRPr sz="4275" b="1">
                <a:solidFill>
                  <a:srgbClr val="153A32"/>
                </a:solidFill>
                <a:latin typeface="Arial"/>
                <a:ea typeface="Arial"/>
                <a:cs typeface="Arial"/>
              </a:defRPr>
            </a:lvl7pPr>
            <a:lvl8pPr>
              <a:defRPr sz="4275" b="1">
                <a:solidFill>
                  <a:srgbClr val="153A32"/>
                </a:solidFill>
                <a:latin typeface="Arial"/>
                <a:ea typeface="Arial"/>
                <a:cs typeface="Arial"/>
              </a:defRPr>
            </a:lvl8pPr>
            <a:lvl9pPr>
              <a:defRPr sz="4275" b="1">
                <a:solidFill>
                  <a:srgbClr val="153A32"/>
                </a:solidFill>
                <a:latin typeface="Arial"/>
                <a:ea typeface="Arial"/>
                <a:cs typeface="Arial"/>
              </a:defRPr>
            </a:lvl9pPr>
          </a:lstStyle>
          <a:p xmlns:a="http://schemas.openxmlformats.org/drawingml/2006/main">
            <a:pPr>
              <a:defRPr sz="4275" b="1">
                <a:solidFill>
                  <a:srgbClr val="153A32"/>
                </a:solidFill>
                <a:latin typeface="Arial"/>
                <a:ea typeface="Arial"/>
                <a:cs typeface="Arial"/>
              </a:defRPr>
            </a:pPr>
            <a:r>
              <a:rPr sz="4275" b="1">
                <a:solidFill>
                  <a:srgbClr val="153A32"/>
                </a:solidFill>
                <a:latin typeface="Arial"/>
                <a:ea typeface="Arial"/>
                <a:cs typeface="Arial"/>
              </a:rPr>
              <a:t>8 supported languages</a:t>
            </a:r>
          </a:p>
        </p:txBody>
      </p:sp>
      <p:sp>
        <p:nvSpPr>
          <p:cNvPr id="6" name="">
            <a:extLst xmlns:a="http://schemas.openxmlformats.org/drawingml/2006/main">
              <a:ext uri="{FF2B5EF4-FFF2-40B4-BE49-F238E27FC236}">
                <a16:creationId xmlns:a16="http://schemas.microsoft.com/office/drawing/2014/main" id="{8532C116-A9B0-4220-BAF5-2BF07CEE42F3}"/>
              </a:ext>
            </a:extLst>
          </p:cNvPr>
          <p:cNvSpPr>
            <a:spLocks xmlns:a="http://schemas.openxmlformats.org/drawingml/2006/main" noGrp="1"/>
          </p:cNvSpPr>
          <p:nvPr/>
        </p:nvSpPr>
        <p:spPr>
          <a:xfrm xmlns:a="http://schemas.openxmlformats.org/drawingml/2006/main">
            <a:off x="638175" y="28479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75" b="0">
                <a:solidFill>
                  <a:srgbClr val="64786A"/>
                </a:solidFill>
                <a:latin typeface="Arial"/>
                <a:ea typeface="Arial"/>
                <a:cs typeface="Arial"/>
              </a:defRPr>
            </a:defPPr>
            <a:lvl1pPr>
              <a:defRPr sz="2475" b="0">
                <a:solidFill>
                  <a:srgbClr val="64786A"/>
                </a:solidFill>
                <a:latin typeface="Arial"/>
                <a:ea typeface="Arial"/>
                <a:cs typeface="Arial"/>
              </a:defRPr>
            </a:lvl1pPr>
            <a:lvl2pPr>
              <a:defRPr sz="2475" b="0">
                <a:solidFill>
                  <a:srgbClr val="64786A"/>
                </a:solidFill>
                <a:latin typeface="Arial"/>
                <a:ea typeface="Arial"/>
                <a:cs typeface="Arial"/>
              </a:defRPr>
            </a:lvl2pPr>
            <a:lvl3pPr>
              <a:defRPr sz="2475" b="0">
                <a:solidFill>
                  <a:srgbClr val="64786A"/>
                </a:solidFill>
                <a:latin typeface="Arial"/>
                <a:ea typeface="Arial"/>
                <a:cs typeface="Arial"/>
              </a:defRPr>
            </a:lvl3pPr>
            <a:lvl4pPr>
              <a:defRPr sz="2475" b="0">
                <a:solidFill>
                  <a:srgbClr val="64786A"/>
                </a:solidFill>
                <a:latin typeface="Arial"/>
                <a:ea typeface="Arial"/>
                <a:cs typeface="Arial"/>
              </a:defRPr>
            </a:lvl4pPr>
            <a:lvl5pPr>
              <a:defRPr sz="2475" b="0">
                <a:solidFill>
                  <a:srgbClr val="64786A"/>
                </a:solidFill>
                <a:latin typeface="Arial"/>
                <a:ea typeface="Arial"/>
                <a:cs typeface="Arial"/>
              </a:defRPr>
            </a:lvl5pPr>
            <a:lvl6pPr>
              <a:defRPr sz="2475" b="0">
                <a:solidFill>
                  <a:srgbClr val="64786A"/>
                </a:solidFill>
                <a:latin typeface="Arial"/>
                <a:ea typeface="Arial"/>
                <a:cs typeface="Arial"/>
              </a:defRPr>
            </a:lvl6pPr>
            <a:lvl7pPr>
              <a:defRPr sz="2475" b="0">
                <a:solidFill>
                  <a:srgbClr val="64786A"/>
                </a:solidFill>
                <a:latin typeface="Arial"/>
                <a:ea typeface="Arial"/>
                <a:cs typeface="Arial"/>
              </a:defRPr>
            </a:lvl7pPr>
            <a:lvl8pPr>
              <a:defRPr sz="2475" b="0">
                <a:solidFill>
                  <a:srgbClr val="64786A"/>
                </a:solidFill>
                <a:latin typeface="Arial"/>
                <a:ea typeface="Arial"/>
                <a:cs typeface="Arial"/>
              </a:defRPr>
            </a:lvl8pPr>
            <a:lvl9pPr>
              <a:defRPr sz="2475" b="0">
                <a:solidFill>
                  <a:srgbClr val="64786A"/>
                </a:solidFill>
                <a:latin typeface="Arial"/>
                <a:ea typeface="Arial"/>
                <a:cs typeface="Arial"/>
              </a:defRPr>
            </a:lvl9pPr>
          </a:lstStyle>
          <a:p xmlns:a="http://schemas.openxmlformats.org/drawingml/2006/main">
            <a:pPr>
              <a:defRPr sz="2475" b="0">
                <a:solidFill>
                  <a:srgbClr val="64786A"/>
                </a:solidFill>
                <a:latin typeface="Arial"/>
                <a:ea typeface="Arial"/>
                <a:cs typeface="Arial"/>
              </a:defRPr>
            </a:pPr>
            <a:r>
              <a:rPr sz="2475" b="0">
                <a:solidFill>
                  <a:srgbClr val="64786A"/>
                </a:solidFill>
                <a:latin typeface="Arial"/>
                <a:ea typeface="Arial"/>
                <a:cs typeface="Arial"/>
              </a:rPr>
              <a:t>Arabic, English, French, German, Hindi,</a:t>
            </a:r>
          </a:p>
          <a:p xmlns:a="http://schemas.openxmlformats.org/drawingml/2006/main">
            <a:pPr>
              <a:defRPr sz="2475" b="0">
                <a:solidFill>
                  <a:srgbClr val="64786A"/>
                </a:solidFill>
                <a:latin typeface="Arial"/>
                <a:ea typeface="Arial"/>
                <a:cs typeface="Arial"/>
              </a:defRPr>
            </a:pPr>
            <a:r>
              <a:rPr sz="2475" b="0">
                <a:solidFill>
                  <a:srgbClr val="64786A"/>
                </a:solidFill>
                <a:latin typeface="Arial"/>
                <a:ea typeface="Arial"/>
                <a:cs typeface="Arial"/>
              </a:rPr>
              <a:t>Italian, Spanish and Portuguese</a:t>
            </a:r>
          </a:p>
        </p:txBody>
      </p:sp>
      <p:sp>
        <p:nvSpPr>
          <p:cNvPr id="7" name="">
            <a:extLst xmlns:a="http://schemas.openxmlformats.org/drawingml/2006/main">
              <a:ext uri="{FF2B5EF4-FFF2-40B4-BE49-F238E27FC236}">
                <a16:creationId xmlns:a16="http://schemas.microsoft.com/office/drawing/2014/main" id="{95127F9E-0504-4714-AC11-7F4D1F11FBFF}"/>
              </a:ext>
            </a:extLst>
          </p:cNvPr>
          <p:cNvSpPr>
            <a:spLocks xmlns:a="http://schemas.openxmlformats.org/drawingml/2006/main" noGrp="1"/>
          </p:cNvSpPr>
          <p:nvPr/>
        </p:nvSpPr>
        <p:spPr>
          <a:xfrm xmlns:a="http://schemas.openxmlformats.org/drawingml/2006/main">
            <a:off x="609600" y="42576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Sentiment</a:t>
            </a:r>
          </a:p>
        </p:txBody>
      </p:sp>
      <p:sp>
        <p:nvSpPr>
          <p:cNvPr id="8" name="">
            <a:extLst xmlns:a="http://schemas.openxmlformats.org/drawingml/2006/main">
              <a:ext uri="{FF2B5EF4-FFF2-40B4-BE49-F238E27FC236}">
                <a16:creationId xmlns:a16="http://schemas.microsoft.com/office/drawing/2014/main" id="{5B2CA079-6BB3-49B8-B7F7-A1C4E694B2B1}"/>
              </a:ext>
            </a:extLst>
          </p:cNvPr>
          <p:cNvSpPr>
            <a:spLocks xmlns:a="http://schemas.openxmlformats.org/drawingml/2006/main" noGrp="1"/>
          </p:cNvSpPr>
          <p:nvPr/>
        </p:nvSpPr>
        <p:spPr>
          <a:xfrm xmlns:a="http://schemas.openxmlformats.org/drawingml/2006/main">
            <a:off x="609600" y="471487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A local CPU transformer predicts positive, neutral or negative labels. Unsupported languages remain unclassified.</a:t>
            </a:r>
          </a:p>
        </p:txBody>
      </p:sp>
      <p:sp>
        <p:nvSpPr>
          <p:cNvPr id="9" name="">
            <a:extLst xmlns:a="http://schemas.openxmlformats.org/drawingml/2006/main">
              <a:ext uri="{FF2B5EF4-FFF2-40B4-BE49-F238E27FC236}">
                <a16:creationId xmlns:a16="http://schemas.microsoft.com/office/drawing/2014/main" id="{26A3D014-82BC-40B1-9E77-D8EEB1D79383}"/>
              </a:ext>
            </a:extLst>
          </p:cNvPr>
          <p:cNvSpPr>
            <a:spLocks xmlns:a="http://schemas.openxmlformats.org/drawingml/2006/main" noGrp="1"/>
          </p:cNvSpPr>
          <p:nvPr/>
        </p:nvSpPr>
        <p:spPr>
          <a:xfrm xmlns:a="http://schemas.openxmlformats.org/drawingml/2006/main">
            <a:off x="6705600" y="42576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Topics and review</a:t>
            </a:r>
          </a:p>
        </p:txBody>
      </p:sp>
      <p:sp>
        <p:nvSpPr>
          <p:cNvPr id="10" name="">
            <a:extLst xmlns:a="http://schemas.openxmlformats.org/drawingml/2006/main">
              <a:ext uri="{FF2B5EF4-FFF2-40B4-BE49-F238E27FC236}">
                <a16:creationId xmlns:a16="http://schemas.microsoft.com/office/drawing/2014/main" id="{39EED6A8-57A7-4E87-BF6D-DB62F5CF4EEC}"/>
              </a:ext>
            </a:extLst>
          </p:cNvPr>
          <p:cNvSpPr>
            <a:spLocks xmlns:a="http://schemas.openxmlformats.org/drawingml/2006/main" noGrp="1"/>
          </p:cNvSpPr>
          <p:nvPr/>
        </p:nvSpPr>
        <p:spPr>
          <a:xfrm xmlns:a="http://schemas.openxmlformats.org/drawingml/2006/main">
            <a:off x="6705600" y="47148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TF-IDF and K-means group related vocabulary. Human reviewers can correct sentiment labels.</a:t>
            </a:r>
          </a:p>
        </p:txBody>
      </p:sp>
      <p:sp>
        <p:nvSpPr>
          <p:cNvPr id="11" name="">
            <a:extLst xmlns:a="http://schemas.openxmlformats.org/drawingml/2006/main">
              <a:ext uri="{FF2B5EF4-FFF2-40B4-BE49-F238E27FC236}">
                <a16:creationId xmlns:a16="http://schemas.microsoft.com/office/drawing/2014/main" id="{6B629EB7-D8C9-4CDE-AC2B-0ABB24D701ED}"/>
              </a:ext>
            </a:extLst>
          </p:cNvPr>
          <p:cNvSpPr>
            <a:spLocks xmlns:a="http://schemas.openxmlformats.org/drawingml/2006/main" noGrp="1"/>
          </p:cNvSpPr>
          <p:nvPr/>
        </p:nvSpPr>
        <p:spPr>
          <a:xfrm xmlns:a="http://schemas.openxmlformats.org/drawingml/2006/main">
            <a:off x="609600" y="60293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64786A"/>
                </a:solidFill>
                <a:latin typeface="Arial"/>
                <a:ea typeface="Arial"/>
                <a:cs typeface="Arial"/>
              </a:defRPr>
            </a:defPPr>
            <a:lvl1pPr>
              <a:defRPr sz="1425" b="0">
                <a:solidFill>
                  <a:srgbClr val="64786A"/>
                </a:solidFill>
                <a:latin typeface="Arial"/>
                <a:ea typeface="Arial"/>
                <a:cs typeface="Arial"/>
              </a:defRPr>
            </a:lvl1pPr>
            <a:lvl2pPr>
              <a:defRPr sz="1425" b="0">
                <a:solidFill>
                  <a:srgbClr val="64786A"/>
                </a:solidFill>
                <a:latin typeface="Arial"/>
                <a:ea typeface="Arial"/>
                <a:cs typeface="Arial"/>
              </a:defRPr>
            </a:lvl2pPr>
            <a:lvl3pPr>
              <a:defRPr sz="1425" b="0">
                <a:solidFill>
                  <a:srgbClr val="64786A"/>
                </a:solidFill>
                <a:latin typeface="Arial"/>
                <a:ea typeface="Arial"/>
                <a:cs typeface="Arial"/>
              </a:defRPr>
            </a:lvl3pPr>
            <a:lvl4pPr>
              <a:defRPr sz="1425" b="0">
                <a:solidFill>
                  <a:srgbClr val="64786A"/>
                </a:solidFill>
                <a:latin typeface="Arial"/>
                <a:ea typeface="Arial"/>
                <a:cs typeface="Arial"/>
              </a:defRPr>
            </a:lvl4pPr>
            <a:lvl5pPr>
              <a:defRPr sz="1425" b="0">
                <a:solidFill>
                  <a:srgbClr val="64786A"/>
                </a:solidFill>
                <a:latin typeface="Arial"/>
                <a:ea typeface="Arial"/>
                <a:cs typeface="Arial"/>
              </a:defRPr>
            </a:lvl5pPr>
            <a:lvl6pPr>
              <a:defRPr sz="1425" b="0">
                <a:solidFill>
                  <a:srgbClr val="64786A"/>
                </a:solidFill>
                <a:latin typeface="Arial"/>
                <a:ea typeface="Arial"/>
                <a:cs typeface="Arial"/>
              </a:defRPr>
            </a:lvl6pPr>
            <a:lvl7pPr>
              <a:defRPr sz="1425" b="0">
                <a:solidFill>
                  <a:srgbClr val="64786A"/>
                </a:solidFill>
                <a:latin typeface="Arial"/>
                <a:ea typeface="Arial"/>
                <a:cs typeface="Arial"/>
              </a:defRPr>
            </a:lvl7pPr>
            <a:lvl8pPr>
              <a:defRPr sz="1425" b="0">
                <a:solidFill>
                  <a:srgbClr val="64786A"/>
                </a:solidFill>
                <a:latin typeface="Arial"/>
                <a:ea typeface="Arial"/>
                <a:cs typeface="Arial"/>
              </a:defRPr>
            </a:lvl8pPr>
            <a:lvl9pPr>
              <a:defRPr sz="1425" b="0">
                <a:solidFill>
                  <a:srgbClr val="64786A"/>
                </a:solidFill>
                <a:latin typeface="Arial"/>
                <a:ea typeface="Arial"/>
                <a:cs typeface="Arial"/>
              </a:defRPr>
            </a:lvl9pPr>
          </a:lstStyle>
          <a:p xmlns:a="http://schemas.openxmlformats.org/drawingml/2006/main">
            <a:pPr>
              <a:defRPr sz="1425" b="0">
                <a:solidFill>
                  <a:srgbClr val="64786A"/>
                </a:solidFill>
                <a:latin typeface="Arial"/>
                <a:ea typeface="Arial"/>
                <a:cs typeface="Arial"/>
              </a:defRPr>
            </a:pPr>
            <a:r>
              <a:rPr sz="1425" b="0">
                <a:solidFill>
                  <a:srgbClr val="64786A"/>
                </a:solidFill>
                <a:latin typeface="Arial"/>
                <a:ea typeface="Arial"/>
                <a:cs typeface="Arial"/>
              </a:rPr>
              <a:t>Predictions are estimates. Short text, truncation and domain differences can affect results.</a:t>
            </a:r>
          </a:p>
        </p:txBody>
      </p:sp>
    </p:spTree>
    <p:extLst>
      <p:ext uri="{BB962C8B-B14F-4D97-AF65-F5344CB8AC3E}">
        <p14:creationId xmlns:p14="http://schemas.microsoft.com/office/powerpoint/2010/main" val="638910198"/>
      </p:ext>
    </p:extLst>
  </p:cSld>
</p:sld>
</file>

<file path=ppt/slides/slide8.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67F6AE1-ABDC-4D4F-8AB2-31C6576806D6}"/>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PLATFORM WALKTHROUGH</a:t>
            </a:r>
          </a:p>
        </p:txBody>
      </p:sp>
      <p:sp>
        <p:nvSpPr>
          <p:cNvPr id="3" name="">
            <a:extLst xmlns:a="http://schemas.openxmlformats.org/drawingml/2006/main">
              <a:ext uri="{FF2B5EF4-FFF2-40B4-BE49-F238E27FC236}">
                <a16:creationId xmlns:a16="http://schemas.microsoft.com/office/drawing/2014/main" id="{48097FF8-C654-4410-97D7-56F48C406FDE}"/>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Research answers with source citations</a:t>
            </a:r>
          </a:p>
        </p:txBody>
      </p:sp>
      <p:sp>
        <p:nvSpPr>
          <p:cNvPr id="4" name="">
            <a:extLst xmlns:a="http://schemas.openxmlformats.org/drawingml/2006/main">
              <a:ext uri="{FF2B5EF4-FFF2-40B4-BE49-F238E27FC236}">
                <a16:creationId xmlns:a16="http://schemas.microsoft.com/office/drawing/2014/main" id="{B32F8A70-2366-42A3-8D7C-3759D0CBEA81}"/>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08</a:t>
            </a:r>
          </a:p>
        </p:txBody>
      </p:sp>
      <p:pic>
        <p:nvPicPr>
          <p:cNvPr id="5" name="">
            <a:extLst xmlns:a="http://schemas.openxmlformats.org/drawingml/2006/main">
              <a:ext uri="{FF2B5EF4-FFF2-40B4-BE49-F238E27FC236}">
                <a16:creationId xmlns:a16="http://schemas.microsoft.com/office/drawing/2014/main" id="{9B2E56E0-4C23-452F-976C-B8C6CD493485}"/>
              </a:ext>
            </a:extLst>
          </p:cNvPr>
          <p:cNvPicPr>
            <a:picLocks xmlns:a="http://schemas.openxmlformats.org/drawingml/2006/main" noChangeAspect="1"/>
          </p:cNvPicPr>
          <p:nvPr/>
        </p:nvPicPr>
        <p:blipFill>
          <a:blip xmlns:r="http://schemas.openxmlformats.org/officeDocument/2006/relationships" xmlns:a="http://schemas.openxmlformats.org/drawingml/2006/main" r:embed="R9e3999e468394be1"/>
          <a:stretch xmlns:a="http://schemas.openxmlformats.org/drawingml/2006/main"/>
        </p:blipFill>
        <p:spPr>
          <a:xfrm xmlns:a="http://schemas.openxmlformats.org/drawingml/2006/main">
            <a:off x="1038422" y="1495425"/>
            <a:ext cx="4876407" cy="45624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EA52AA0-F383-41FC-A04B-1892292AA247}"/>
              </a:ext>
            </a:extLst>
          </p:cNvPr>
          <p:cNvSpPr>
            <a:spLocks xmlns:a="http://schemas.openxmlformats.org/drawingml/2006/main" noGrp="1"/>
          </p:cNvSpPr>
          <p:nvPr/>
        </p:nvSpPr>
        <p:spPr>
          <a:xfrm xmlns:a="http://schemas.openxmlformats.org/drawingml/2006/main">
            <a:off x="609600" y="61436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Actual platform screenshot. Synthetic demo data.</a:t>
            </a:r>
          </a:p>
        </p:txBody>
      </p:sp>
      <p:sp>
        <p:nvSpPr>
          <p:cNvPr id="7" name="">
            <a:extLst xmlns:a="http://schemas.openxmlformats.org/drawingml/2006/main">
              <a:ext uri="{FF2B5EF4-FFF2-40B4-BE49-F238E27FC236}">
                <a16:creationId xmlns:a16="http://schemas.microsoft.com/office/drawing/2014/main" id="{5CDC20DF-B713-48D1-B5DD-260A7A688959}"/>
              </a:ext>
            </a:extLst>
          </p:cNvPr>
          <p:cNvSpPr>
            <a:spLocks xmlns:a="http://schemas.openxmlformats.org/drawingml/2006/main" noGrp="1"/>
          </p:cNvSpPr>
          <p:nvPr/>
        </p:nvSpPr>
        <p:spPr>
          <a:xfrm xmlns:a="http://schemas.openxmlformats.org/drawingml/2006/main">
            <a:off x="6896100" y="164782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Ask about an issue</a:t>
            </a:r>
          </a:p>
        </p:txBody>
      </p:sp>
      <p:sp>
        <p:nvSpPr>
          <p:cNvPr id="8" name="">
            <a:extLst xmlns:a="http://schemas.openxmlformats.org/drawingml/2006/main">
              <a:ext uri="{FF2B5EF4-FFF2-40B4-BE49-F238E27FC236}">
                <a16:creationId xmlns:a16="http://schemas.microsoft.com/office/drawing/2014/main" id="{6FB5EA2A-B3BA-41A9-A39B-D6E0791C99D9}"/>
              </a:ext>
            </a:extLst>
          </p:cNvPr>
          <p:cNvSpPr>
            <a:spLocks xmlns:a="http://schemas.openxmlformats.org/drawingml/2006/main" noGrp="1"/>
          </p:cNvSpPr>
          <p:nvPr/>
        </p:nvSpPr>
        <p:spPr>
          <a:xfrm xmlns:a="http://schemas.openxmlformats.org/drawingml/2006/main">
            <a:off x="6896100" y="21050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The assistant retrieves up to five relevant workspace excerpts.</a:t>
            </a:r>
          </a:p>
        </p:txBody>
      </p:sp>
      <p:sp>
        <p:nvSpPr>
          <p:cNvPr id="9" name="">
            <a:extLst xmlns:a="http://schemas.openxmlformats.org/drawingml/2006/main">
              <a:ext uri="{FF2B5EF4-FFF2-40B4-BE49-F238E27FC236}">
                <a16:creationId xmlns:a16="http://schemas.microsoft.com/office/drawing/2014/main" id="{213139D4-9648-4D80-8E27-496B14B8A3E8}"/>
              </a:ext>
            </a:extLst>
          </p:cNvPr>
          <p:cNvSpPr>
            <a:spLocks xmlns:a="http://schemas.openxmlformats.org/drawingml/2006/main" noGrp="1"/>
          </p:cNvSpPr>
          <p:nvPr/>
        </p:nvSpPr>
        <p:spPr>
          <a:xfrm xmlns:a="http://schemas.openxmlformats.org/drawingml/2006/main">
            <a:off x="6896100" y="31051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Hosted generation</a:t>
            </a:r>
          </a:p>
        </p:txBody>
      </p:sp>
      <p:sp>
        <p:nvSpPr>
          <p:cNvPr id="10" name="">
            <a:extLst xmlns:a="http://schemas.openxmlformats.org/drawingml/2006/main">
              <a:ext uri="{FF2B5EF4-FFF2-40B4-BE49-F238E27FC236}">
                <a16:creationId xmlns:a16="http://schemas.microsoft.com/office/drawing/2014/main" id="{E2A0D9DF-43A6-4DEA-93C5-AE5904E7EC91}"/>
              </a:ext>
            </a:extLst>
          </p:cNvPr>
          <p:cNvSpPr>
            <a:spLocks xmlns:a="http://schemas.openxmlformats.org/drawingml/2006/main" noGrp="1"/>
          </p:cNvSpPr>
          <p:nvPr/>
        </p:nvSpPr>
        <p:spPr>
          <a:xfrm xmlns:a="http://schemas.openxmlformats.org/drawingml/2006/main">
            <a:off x="6896100" y="3562350"/>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Configured Groq generates structured claims from those excerpts.</a:t>
            </a:r>
          </a:p>
        </p:txBody>
      </p:sp>
      <p:sp>
        <p:nvSpPr>
          <p:cNvPr id="11" name="">
            <a:extLst xmlns:a="http://schemas.openxmlformats.org/drawingml/2006/main">
              <a:ext uri="{FF2B5EF4-FFF2-40B4-BE49-F238E27FC236}">
                <a16:creationId xmlns:a16="http://schemas.microsoft.com/office/drawing/2014/main" id="{4A130AF0-A617-404F-A894-802171E125E0}"/>
              </a:ext>
            </a:extLst>
          </p:cNvPr>
          <p:cNvSpPr>
            <a:spLocks xmlns:a="http://schemas.openxmlformats.org/drawingml/2006/main" noGrp="1"/>
          </p:cNvSpPr>
          <p:nvPr/>
        </p:nvSpPr>
        <p:spPr>
          <a:xfrm xmlns:a="http://schemas.openxmlformats.org/drawingml/2006/main">
            <a:off x="6896100" y="456247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Review the evidence</a:t>
            </a:r>
          </a:p>
        </p:txBody>
      </p:sp>
      <p:sp>
        <p:nvSpPr>
          <p:cNvPr id="12" name="">
            <a:extLst xmlns:a="http://schemas.openxmlformats.org/drawingml/2006/main">
              <a:ext uri="{FF2B5EF4-FFF2-40B4-BE49-F238E27FC236}">
                <a16:creationId xmlns:a16="http://schemas.microsoft.com/office/drawing/2014/main" id="{4C8F87B7-BF3C-493D-ABDD-4DDF3C066EE1}"/>
              </a:ext>
            </a:extLst>
          </p:cNvPr>
          <p:cNvSpPr>
            <a:spLocks xmlns:a="http://schemas.openxmlformats.org/drawingml/2006/main" noGrp="1"/>
          </p:cNvSpPr>
          <p:nvPr/>
        </p:nvSpPr>
        <p:spPr>
          <a:xfrm xmlns:a="http://schemas.openxmlformats.org/drawingml/2006/main">
            <a:off x="6896100" y="501967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The server checks citation IDs. Users still need to verify the claims.</a:t>
            </a:r>
          </a:p>
        </p:txBody>
      </p:sp>
    </p:spTree>
    <p:extLst>
      <p:ext uri="{BB962C8B-B14F-4D97-AF65-F5344CB8AC3E}">
        <p14:creationId xmlns:p14="http://schemas.microsoft.com/office/powerpoint/2010/main" val="469790791"/>
      </p:ext>
    </p:extLst>
  </p:cSld>
</p:sld>
</file>

<file path=ppt/slides/slide9.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B72C68-D3D6-463A-B9BD-11CC4C167028}"/>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PLATFORM WALKTHROUGH</a:t>
            </a:r>
          </a:p>
        </p:txBody>
      </p:sp>
      <p:sp>
        <p:nvSpPr>
          <p:cNvPr id="3" name="">
            <a:extLst xmlns:a="http://schemas.openxmlformats.org/drawingml/2006/main">
              <a:ext uri="{FF2B5EF4-FFF2-40B4-BE49-F238E27FC236}">
                <a16:creationId xmlns:a16="http://schemas.microsoft.com/office/drawing/2014/main" id="{5F230E73-CBFB-41C0-B936-BC62FA87D8FA}"/>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Human review and issue ownership</a:t>
            </a:r>
          </a:p>
        </p:txBody>
      </p:sp>
      <p:sp>
        <p:nvSpPr>
          <p:cNvPr id="4" name="">
            <a:extLst xmlns:a="http://schemas.openxmlformats.org/drawingml/2006/main">
              <a:ext uri="{FF2B5EF4-FFF2-40B4-BE49-F238E27FC236}">
                <a16:creationId xmlns:a16="http://schemas.microsoft.com/office/drawing/2014/main" id="{5FD54A57-5D84-48B8-8FA7-9651012C9133}"/>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09</a:t>
            </a:r>
          </a:p>
        </p:txBody>
      </p:sp>
      <p:pic>
        <p:nvPicPr>
          <p:cNvPr id="5" name="">
            <a:extLst xmlns:a="http://schemas.openxmlformats.org/drawingml/2006/main">
              <a:ext uri="{FF2B5EF4-FFF2-40B4-BE49-F238E27FC236}">
                <a16:creationId xmlns:a16="http://schemas.microsoft.com/office/drawing/2014/main" id="{CCE0445D-D50B-49F5-9FFE-9FBA833DD838}"/>
              </a:ext>
            </a:extLst>
          </p:cNvPr>
          <p:cNvPicPr>
            <a:picLocks xmlns:a="http://schemas.openxmlformats.org/drawingml/2006/main" noChangeAspect="1"/>
          </p:cNvPicPr>
          <p:nvPr/>
        </p:nvPicPr>
        <p:blipFill>
          <a:blip xmlns:r="http://schemas.openxmlformats.org/officeDocument/2006/relationships" xmlns:a="http://schemas.openxmlformats.org/drawingml/2006/main" r:embed="Rb9f131226d0a46e0"/>
          <a:stretch xmlns:a="http://schemas.openxmlformats.org/drawingml/2006/main"/>
        </p:blipFill>
        <p:spPr>
          <a:xfrm xmlns:a="http://schemas.openxmlformats.org/drawingml/2006/main">
            <a:off x="1038422" y="1495425"/>
            <a:ext cx="4876407" cy="45624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7BC94DB-9586-4DE4-A14E-A81FEAFC28E0}"/>
              </a:ext>
            </a:extLst>
          </p:cNvPr>
          <p:cNvSpPr>
            <a:spLocks xmlns:a="http://schemas.openxmlformats.org/drawingml/2006/main" noGrp="1"/>
          </p:cNvSpPr>
          <p:nvPr/>
        </p:nvSpPr>
        <p:spPr>
          <a:xfrm xmlns:a="http://schemas.openxmlformats.org/drawingml/2006/main">
            <a:off x="609600" y="61436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Actual platform screenshot. Synthetic demo data.</a:t>
            </a:r>
          </a:p>
        </p:txBody>
      </p:sp>
      <p:sp>
        <p:nvSpPr>
          <p:cNvPr id="7" name="">
            <a:extLst xmlns:a="http://schemas.openxmlformats.org/drawingml/2006/main">
              <a:ext uri="{FF2B5EF4-FFF2-40B4-BE49-F238E27FC236}">
                <a16:creationId xmlns:a16="http://schemas.microsoft.com/office/drawing/2014/main" id="{76CB0D8E-A031-4E93-B9CF-B681D77B47FB}"/>
              </a:ext>
            </a:extLst>
          </p:cNvPr>
          <p:cNvSpPr>
            <a:spLocks xmlns:a="http://schemas.openxmlformats.org/drawingml/2006/main" noGrp="1"/>
          </p:cNvSpPr>
          <p:nvPr/>
        </p:nvSpPr>
        <p:spPr>
          <a:xfrm xmlns:a="http://schemas.openxmlformats.org/drawingml/2006/main">
            <a:off x="6896100" y="164782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Correct a label</a:t>
            </a:r>
          </a:p>
        </p:txBody>
      </p:sp>
      <p:sp>
        <p:nvSpPr>
          <p:cNvPr id="8" name="">
            <a:extLst xmlns:a="http://schemas.openxmlformats.org/drawingml/2006/main">
              <a:ext uri="{FF2B5EF4-FFF2-40B4-BE49-F238E27FC236}">
                <a16:creationId xmlns:a16="http://schemas.microsoft.com/office/drawing/2014/main" id="{7365E718-B690-4548-911B-505D9C43937E}"/>
              </a:ext>
            </a:extLst>
          </p:cNvPr>
          <p:cNvSpPr>
            <a:spLocks xmlns:a="http://schemas.openxmlformats.org/drawingml/2006/main" noGrp="1"/>
          </p:cNvSpPr>
          <p:nvPr/>
        </p:nvSpPr>
        <p:spPr>
          <a:xfrm xmlns:a="http://schemas.openxmlformats.org/drawingml/2006/main">
            <a:off x="6896100" y="21050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A reviewer can replace the estimated sentiment.</a:t>
            </a:r>
          </a:p>
        </p:txBody>
      </p:sp>
      <p:sp>
        <p:nvSpPr>
          <p:cNvPr id="9" name="">
            <a:extLst xmlns:a="http://schemas.openxmlformats.org/drawingml/2006/main">
              <a:ext uri="{FF2B5EF4-FFF2-40B4-BE49-F238E27FC236}">
                <a16:creationId xmlns:a16="http://schemas.microsoft.com/office/drawing/2014/main" id="{B877EA85-3811-4295-952C-7F37B472DEF7}"/>
              </a:ext>
            </a:extLst>
          </p:cNvPr>
          <p:cNvSpPr>
            <a:spLocks xmlns:a="http://schemas.openxmlformats.org/drawingml/2006/main" noGrp="1"/>
          </p:cNvSpPr>
          <p:nvPr/>
        </p:nvSpPr>
        <p:spPr>
          <a:xfrm xmlns:a="http://schemas.openxmlformats.org/drawingml/2006/main">
            <a:off x="6896100" y="31051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Assign responsibility</a:t>
            </a:r>
          </a:p>
        </p:txBody>
      </p:sp>
      <p:sp>
        <p:nvSpPr>
          <p:cNvPr id="10" name="">
            <a:extLst xmlns:a="http://schemas.openxmlformats.org/drawingml/2006/main">
              <a:ext uri="{FF2B5EF4-FFF2-40B4-BE49-F238E27FC236}">
                <a16:creationId xmlns:a16="http://schemas.microsoft.com/office/drawing/2014/main" id="{B6A4DCF8-9F17-4A5B-889A-E20773764F2A}"/>
              </a:ext>
            </a:extLst>
          </p:cNvPr>
          <p:cNvSpPr>
            <a:spLocks xmlns:a="http://schemas.openxmlformats.org/drawingml/2006/main" noGrp="1"/>
          </p:cNvSpPr>
          <p:nvPr/>
        </p:nvSpPr>
        <p:spPr>
          <a:xfrm xmlns:a="http://schemas.openxmlformats.org/drawingml/2006/main">
            <a:off x="6896100" y="3562350"/>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Select a workspace member and set the investigation status.</a:t>
            </a:r>
          </a:p>
        </p:txBody>
      </p:sp>
      <p:sp>
        <p:nvSpPr>
          <p:cNvPr id="11" name="">
            <a:extLst xmlns:a="http://schemas.openxmlformats.org/drawingml/2006/main">
              <a:ext uri="{FF2B5EF4-FFF2-40B4-BE49-F238E27FC236}">
                <a16:creationId xmlns:a16="http://schemas.microsoft.com/office/drawing/2014/main" id="{1F67305F-5FFB-40A6-8586-1D2149EF33C5}"/>
              </a:ext>
            </a:extLst>
          </p:cNvPr>
          <p:cNvSpPr>
            <a:spLocks xmlns:a="http://schemas.openxmlformats.org/drawingml/2006/main" noGrp="1"/>
          </p:cNvSpPr>
          <p:nvPr/>
        </p:nvSpPr>
        <p:spPr>
          <a:xfrm xmlns:a="http://schemas.openxmlformats.org/drawingml/2006/main">
            <a:off x="6896100" y="456247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Keep the context</a:t>
            </a:r>
          </a:p>
        </p:txBody>
      </p:sp>
      <p:sp>
        <p:nvSpPr>
          <p:cNvPr id="12" name="">
            <a:extLst xmlns:a="http://schemas.openxmlformats.org/drawingml/2006/main">
              <a:ext uri="{FF2B5EF4-FFF2-40B4-BE49-F238E27FC236}">
                <a16:creationId xmlns:a16="http://schemas.microsoft.com/office/drawing/2014/main" id="{8DAEB16D-3E75-4D8D-A0F9-7C251155A81A}"/>
              </a:ext>
            </a:extLst>
          </p:cNvPr>
          <p:cNvSpPr>
            <a:spLocks xmlns:a="http://schemas.openxmlformats.org/drawingml/2006/main" noGrp="1"/>
          </p:cNvSpPr>
          <p:nvPr/>
        </p:nvSpPr>
        <p:spPr>
          <a:xfrm xmlns:a="http://schemas.openxmlformats.org/drawingml/2006/main">
            <a:off x="6896100" y="501967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Add notes. Reanalysis preserves human-reviewed sentiment.</a:t>
            </a:r>
          </a:p>
        </p:txBody>
      </p:sp>
    </p:spTree>
    <p:extLst>
      <p:ext uri="{BB962C8B-B14F-4D97-AF65-F5344CB8AC3E}">
        <p14:creationId xmlns:p14="http://schemas.microsoft.com/office/powerpoint/2010/main" val="2029509252"/>
      </p:ext>
    </p:extLst>
  </p:cSld>
</p:sld>
</file>

<file path=ppt/slides/slide10.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D8B29AD-20E0-4C18-BB98-4A84D7C33903}"/>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PLATFORM WALKTHROUGH</a:t>
            </a:r>
          </a:p>
        </p:txBody>
      </p:sp>
      <p:sp>
        <p:nvSpPr>
          <p:cNvPr id="3" name="">
            <a:extLst xmlns:a="http://schemas.openxmlformats.org/drawingml/2006/main">
              <a:ext uri="{FF2B5EF4-FFF2-40B4-BE49-F238E27FC236}">
                <a16:creationId xmlns:a16="http://schemas.microsoft.com/office/drawing/2014/main" id="{364F7D7C-5F5B-410B-A056-DCEDAB5B2595}"/>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Keyword monitors and alerts</a:t>
            </a:r>
          </a:p>
        </p:txBody>
      </p:sp>
      <p:sp>
        <p:nvSpPr>
          <p:cNvPr id="4" name="">
            <a:extLst xmlns:a="http://schemas.openxmlformats.org/drawingml/2006/main">
              <a:ext uri="{FF2B5EF4-FFF2-40B4-BE49-F238E27FC236}">
                <a16:creationId xmlns:a16="http://schemas.microsoft.com/office/drawing/2014/main" id="{15AA688E-AC11-4409-BFD0-90084F8EB9BB}"/>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10</a:t>
            </a:r>
          </a:p>
        </p:txBody>
      </p:sp>
      <p:pic>
        <p:nvPicPr>
          <p:cNvPr id="5" name="">
            <a:extLst xmlns:a="http://schemas.openxmlformats.org/drawingml/2006/main">
              <a:ext uri="{FF2B5EF4-FFF2-40B4-BE49-F238E27FC236}">
                <a16:creationId xmlns:a16="http://schemas.microsoft.com/office/drawing/2014/main" id="{84B780DB-A232-4293-9E66-AE632FACB043}"/>
              </a:ext>
            </a:extLst>
          </p:cNvPr>
          <p:cNvPicPr>
            <a:picLocks xmlns:a="http://schemas.openxmlformats.org/drawingml/2006/main" noChangeAspect="1"/>
          </p:cNvPicPr>
          <p:nvPr/>
        </p:nvPicPr>
        <p:blipFill>
          <a:blip xmlns:r="http://schemas.openxmlformats.org/officeDocument/2006/relationships" xmlns:a="http://schemas.openxmlformats.org/drawingml/2006/main" r:embed="R5558b0b9aa0b4ceb"/>
          <a:stretch xmlns:a="http://schemas.openxmlformats.org/drawingml/2006/main"/>
        </p:blipFill>
        <p:spPr>
          <a:xfrm xmlns:a="http://schemas.openxmlformats.org/drawingml/2006/main">
            <a:off x="1038422" y="1495425"/>
            <a:ext cx="4876407" cy="45624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D11DE0C-E9D7-4292-848E-381973685777}"/>
              </a:ext>
            </a:extLst>
          </p:cNvPr>
          <p:cNvSpPr>
            <a:spLocks xmlns:a="http://schemas.openxmlformats.org/drawingml/2006/main" noGrp="1"/>
          </p:cNvSpPr>
          <p:nvPr/>
        </p:nvSpPr>
        <p:spPr>
          <a:xfrm xmlns:a="http://schemas.openxmlformats.org/drawingml/2006/main">
            <a:off x="609600" y="61436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Actual platform screenshot. Synthetic demo data.</a:t>
            </a:r>
          </a:p>
        </p:txBody>
      </p:sp>
      <p:sp>
        <p:nvSpPr>
          <p:cNvPr id="7" name="">
            <a:extLst xmlns:a="http://schemas.openxmlformats.org/drawingml/2006/main">
              <a:ext uri="{FF2B5EF4-FFF2-40B4-BE49-F238E27FC236}">
                <a16:creationId xmlns:a16="http://schemas.microsoft.com/office/drawing/2014/main" id="{D94FFADF-364D-4FCF-81B6-E752EE8D31CD}"/>
              </a:ext>
            </a:extLst>
          </p:cNvPr>
          <p:cNvSpPr>
            <a:spLocks xmlns:a="http://schemas.openxmlformats.org/drawingml/2006/main" noGrp="1"/>
          </p:cNvSpPr>
          <p:nvPr/>
        </p:nvSpPr>
        <p:spPr>
          <a:xfrm xmlns:a="http://schemas.openxmlformats.org/drawingml/2006/main">
            <a:off x="6896100" y="164782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Define a signal</a:t>
            </a:r>
          </a:p>
        </p:txBody>
      </p:sp>
      <p:sp>
        <p:nvSpPr>
          <p:cNvPr id="8" name="">
            <a:extLst xmlns:a="http://schemas.openxmlformats.org/drawingml/2006/main">
              <a:ext uri="{FF2B5EF4-FFF2-40B4-BE49-F238E27FC236}">
                <a16:creationId xmlns:a16="http://schemas.microsoft.com/office/drawing/2014/main" id="{4CAB7E46-08C3-45A8-A054-21AF66F4AFCF}"/>
              </a:ext>
            </a:extLst>
          </p:cNvPr>
          <p:cNvSpPr>
            <a:spLocks xmlns:a="http://schemas.openxmlformats.org/drawingml/2006/main" noGrp="1"/>
          </p:cNvSpPr>
          <p:nvPr/>
        </p:nvSpPr>
        <p:spPr>
          <a:xfrm xmlns:a="http://schemas.openxmlformats.org/drawingml/2006/main">
            <a:off x="6896100" y="21050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Choose a keyword, an optional sentiment and a minimum post count.</a:t>
            </a:r>
          </a:p>
        </p:txBody>
      </p:sp>
      <p:sp>
        <p:nvSpPr>
          <p:cNvPr id="9" name="">
            <a:extLst xmlns:a="http://schemas.openxmlformats.org/drawingml/2006/main">
              <a:ext uri="{FF2B5EF4-FFF2-40B4-BE49-F238E27FC236}">
                <a16:creationId xmlns:a16="http://schemas.microsoft.com/office/drawing/2014/main" id="{B09ECFEF-F77C-4C18-B61D-00F41F4E916D}"/>
              </a:ext>
            </a:extLst>
          </p:cNvPr>
          <p:cNvSpPr>
            <a:spLocks xmlns:a="http://schemas.openxmlformats.org/drawingml/2006/main" noGrp="1"/>
          </p:cNvSpPr>
          <p:nvPr/>
        </p:nvSpPr>
        <p:spPr>
          <a:xfrm xmlns:a="http://schemas.openxmlformats.org/drawingml/2006/main">
            <a:off x="6896100" y="31051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Rolling 24 hours</a:t>
            </a:r>
          </a:p>
        </p:txBody>
      </p:sp>
      <p:sp>
        <p:nvSpPr>
          <p:cNvPr id="10" name="">
            <a:extLst xmlns:a="http://schemas.openxmlformats.org/drawingml/2006/main">
              <a:ext uri="{FF2B5EF4-FFF2-40B4-BE49-F238E27FC236}">
                <a16:creationId xmlns:a16="http://schemas.microsoft.com/office/drawing/2014/main" id="{03C24693-86E4-468F-ADD6-EE21292B9AA6}"/>
              </a:ext>
            </a:extLst>
          </p:cNvPr>
          <p:cNvSpPr>
            <a:spLocks xmlns:a="http://schemas.openxmlformats.org/drawingml/2006/main" noGrp="1"/>
          </p:cNvSpPr>
          <p:nvPr/>
        </p:nvSpPr>
        <p:spPr>
          <a:xfrm xmlns:a="http://schemas.openxmlformats.org/drawingml/2006/main">
            <a:off x="6896100" y="3562350"/>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Imports trigger evaluation of recent matching conversations.</a:t>
            </a:r>
          </a:p>
        </p:txBody>
      </p:sp>
      <p:sp>
        <p:nvSpPr>
          <p:cNvPr id="11" name="">
            <a:extLst xmlns:a="http://schemas.openxmlformats.org/drawingml/2006/main">
              <a:ext uri="{FF2B5EF4-FFF2-40B4-BE49-F238E27FC236}">
                <a16:creationId xmlns:a16="http://schemas.microsoft.com/office/drawing/2014/main" id="{E134FB78-C326-447B-A59A-D0B27557C9C0}"/>
              </a:ext>
            </a:extLst>
          </p:cNvPr>
          <p:cNvSpPr>
            <a:spLocks xmlns:a="http://schemas.openxmlformats.org/drawingml/2006/main" noGrp="1"/>
          </p:cNvSpPr>
          <p:nvPr/>
        </p:nvSpPr>
        <p:spPr>
          <a:xfrm xmlns:a="http://schemas.openxmlformats.org/drawingml/2006/main">
            <a:off x="6896100" y="456247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Acknowledge alerts</a:t>
            </a:r>
          </a:p>
        </p:txBody>
      </p:sp>
      <p:sp>
        <p:nvSpPr>
          <p:cNvPr id="12" name="">
            <a:extLst xmlns:a="http://schemas.openxmlformats.org/drawingml/2006/main">
              <a:ext uri="{FF2B5EF4-FFF2-40B4-BE49-F238E27FC236}">
                <a16:creationId xmlns:a16="http://schemas.microsoft.com/office/drawing/2014/main" id="{C2E615B2-C8FA-41FE-AFE7-A28AD140CEA9}"/>
              </a:ext>
            </a:extLst>
          </p:cNvPr>
          <p:cNvSpPr>
            <a:spLocks xmlns:a="http://schemas.openxmlformats.org/drawingml/2006/main" noGrp="1"/>
          </p:cNvSpPr>
          <p:nvPr/>
        </p:nvSpPr>
        <p:spPr>
          <a:xfrm xmlns:a="http://schemas.openxmlformats.org/drawingml/2006/main">
            <a:off x="6896100" y="501967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Identical evidence sets do not create duplicate alerts.</a:t>
            </a:r>
          </a:p>
        </p:txBody>
      </p:sp>
    </p:spTree>
    <p:extLst>
      <p:ext uri="{BB962C8B-B14F-4D97-AF65-F5344CB8AC3E}">
        <p14:creationId xmlns:p14="http://schemas.microsoft.com/office/powerpoint/2010/main" val="1921661228"/>
      </p:ext>
    </p:extLst>
  </p:cSld>
</p:sld>
</file>

<file path=ppt/slides/slide11.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C57CD16-2C34-4595-B477-3D07B196917F}"/>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PLATFORM WALKTHROUGH</a:t>
            </a:r>
          </a:p>
        </p:txBody>
      </p:sp>
      <p:sp>
        <p:nvSpPr>
          <p:cNvPr id="3" name="">
            <a:extLst xmlns:a="http://schemas.openxmlformats.org/drawingml/2006/main">
              <a:ext uri="{FF2B5EF4-FFF2-40B4-BE49-F238E27FC236}">
                <a16:creationId xmlns:a16="http://schemas.microsoft.com/office/drawing/2014/main" id="{845FF0DD-6897-4280-A610-E976739DD7D6}"/>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Saved reports and recurring schedules</a:t>
            </a:r>
          </a:p>
        </p:txBody>
      </p:sp>
      <p:sp>
        <p:nvSpPr>
          <p:cNvPr id="4" name="">
            <a:extLst xmlns:a="http://schemas.openxmlformats.org/drawingml/2006/main">
              <a:ext uri="{FF2B5EF4-FFF2-40B4-BE49-F238E27FC236}">
                <a16:creationId xmlns:a16="http://schemas.microsoft.com/office/drawing/2014/main" id="{435272CC-E9F9-40AF-BED2-74BD7EE02633}"/>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11</a:t>
            </a:r>
          </a:p>
        </p:txBody>
      </p:sp>
      <p:pic>
        <p:nvPicPr>
          <p:cNvPr id="5" name="">
            <a:extLst xmlns:a="http://schemas.openxmlformats.org/drawingml/2006/main">
              <a:ext uri="{FF2B5EF4-FFF2-40B4-BE49-F238E27FC236}">
                <a16:creationId xmlns:a16="http://schemas.microsoft.com/office/drawing/2014/main" id="{26B2737A-5965-4410-A594-901DFB25C5E7}"/>
              </a:ext>
            </a:extLst>
          </p:cNvPr>
          <p:cNvPicPr>
            <a:picLocks xmlns:a="http://schemas.openxmlformats.org/drawingml/2006/main" noChangeAspect="1"/>
          </p:cNvPicPr>
          <p:nvPr/>
        </p:nvPicPr>
        <p:blipFill>
          <a:blip xmlns:r="http://schemas.openxmlformats.org/officeDocument/2006/relationships" xmlns:a="http://schemas.openxmlformats.org/drawingml/2006/main" r:embed="Rd90f6e7398a045b6"/>
          <a:stretch xmlns:a="http://schemas.openxmlformats.org/drawingml/2006/main"/>
        </p:blipFill>
        <p:spPr>
          <a:xfrm xmlns:a="http://schemas.openxmlformats.org/drawingml/2006/main">
            <a:off x="1038422" y="1495425"/>
            <a:ext cx="4876407" cy="45624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55023E6-8CD0-4197-AADE-B6E57A3B735A}"/>
              </a:ext>
            </a:extLst>
          </p:cNvPr>
          <p:cNvSpPr>
            <a:spLocks xmlns:a="http://schemas.openxmlformats.org/drawingml/2006/main" noGrp="1"/>
          </p:cNvSpPr>
          <p:nvPr/>
        </p:nvSpPr>
        <p:spPr>
          <a:xfrm xmlns:a="http://schemas.openxmlformats.org/drawingml/2006/main">
            <a:off x="609600" y="61436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Actual platform screenshot. Synthetic demo data.</a:t>
            </a:r>
          </a:p>
        </p:txBody>
      </p:sp>
      <p:sp>
        <p:nvSpPr>
          <p:cNvPr id="7" name="">
            <a:extLst xmlns:a="http://schemas.openxmlformats.org/drawingml/2006/main">
              <a:ext uri="{FF2B5EF4-FFF2-40B4-BE49-F238E27FC236}">
                <a16:creationId xmlns:a16="http://schemas.microsoft.com/office/drawing/2014/main" id="{52B0BA8A-5CBC-4F4E-B5DD-E55AD7BF8681}"/>
              </a:ext>
            </a:extLst>
          </p:cNvPr>
          <p:cNvSpPr>
            <a:spLocks xmlns:a="http://schemas.openxmlformats.org/drawingml/2006/main" noGrp="1"/>
          </p:cNvSpPr>
          <p:nvPr/>
        </p:nvSpPr>
        <p:spPr>
          <a:xfrm xmlns:a="http://schemas.openxmlformats.org/drawingml/2006/main">
            <a:off x="6896100" y="164782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Capture a snapshot</a:t>
            </a:r>
          </a:p>
        </p:txBody>
      </p:sp>
      <p:sp>
        <p:nvSpPr>
          <p:cNvPr id="8" name="">
            <a:extLst xmlns:a="http://schemas.openxmlformats.org/drawingml/2006/main">
              <a:ext uri="{FF2B5EF4-FFF2-40B4-BE49-F238E27FC236}">
                <a16:creationId xmlns:a16="http://schemas.microsoft.com/office/drawing/2014/main" id="{C36554C4-A418-4817-9390-993A453A56DA}"/>
              </a:ext>
            </a:extLst>
          </p:cNvPr>
          <p:cNvSpPr>
            <a:spLocks xmlns:a="http://schemas.openxmlformats.org/drawingml/2006/main" noGrp="1"/>
          </p:cNvSpPr>
          <p:nvPr/>
        </p:nvSpPr>
        <p:spPr>
          <a:xfrm xmlns:a="http://schemas.openxmlformats.org/drawingml/2006/main">
            <a:off x="6896100" y="21050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Generate a workspace report with summary statistics and evidence.</a:t>
            </a:r>
          </a:p>
        </p:txBody>
      </p:sp>
      <p:sp>
        <p:nvSpPr>
          <p:cNvPr id="9" name="">
            <a:extLst xmlns:a="http://schemas.openxmlformats.org/drawingml/2006/main">
              <a:ext uri="{FF2B5EF4-FFF2-40B4-BE49-F238E27FC236}">
                <a16:creationId xmlns:a16="http://schemas.microsoft.com/office/drawing/2014/main" id="{F8715B38-A847-4CEA-8DE2-A28AB1EECBDC}"/>
              </a:ext>
            </a:extLst>
          </p:cNvPr>
          <p:cNvSpPr>
            <a:spLocks xmlns:a="http://schemas.openxmlformats.org/drawingml/2006/main" noGrp="1"/>
          </p:cNvSpPr>
          <p:nvPr/>
        </p:nvSpPr>
        <p:spPr>
          <a:xfrm xmlns:a="http://schemas.openxmlformats.org/drawingml/2006/main">
            <a:off x="6896100" y="31051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Schedule updates</a:t>
            </a:r>
          </a:p>
        </p:txBody>
      </p:sp>
      <p:sp>
        <p:nvSpPr>
          <p:cNvPr id="10" name="">
            <a:extLst xmlns:a="http://schemas.openxmlformats.org/drawingml/2006/main">
              <a:ext uri="{FF2B5EF4-FFF2-40B4-BE49-F238E27FC236}">
                <a16:creationId xmlns:a16="http://schemas.microsoft.com/office/drawing/2014/main" id="{E888405A-1243-46C5-9FE9-E83EC3FDB030}"/>
              </a:ext>
            </a:extLst>
          </p:cNvPr>
          <p:cNvSpPr>
            <a:spLocks xmlns:a="http://schemas.openxmlformats.org/drawingml/2006/main" noGrp="1"/>
          </p:cNvSpPr>
          <p:nvPr/>
        </p:nvSpPr>
        <p:spPr>
          <a:xfrm xmlns:a="http://schemas.openxmlformats.org/drawingml/2006/main">
            <a:off x="6896100" y="3562350"/>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Choose an interval from 1 to 168 hours.</a:t>
            </a:r>
          </a:p>
        </p:txBody>
      </p:sp>
      <p:sp>
        <p:nvSpPr>
          <p:cNvPr id="11" name="">
            <a:extLst xmlns:a="http://schemas.openxmlformats.org/drawingml/2006/main">
              <a:ext uri="{FF2B5EF4-FFF2-40B4-BE49-F238E27FC236}">
                <a16:creationId xmlns:a16="http://schemas.microsoft.com/office/drawing/2014/main" id="{811CC54A-4B60-4608-8983-C48D45037E2E}"/>
              </a:ext>
            </a:extLst>
          </p:cNvPr>
          <p:cNvSpPr>
            <a:spLocks xmlns:a="http://schemas.openxmlformats.org/drawingml/2006/main" noGrp="1"/>
          </p:cNvSpPr>
          <p:nvPr/>
        </p:nvSpPr>
        <p:spPr>
          <a:xfrm xmlns:a="http://schemas.openxmlformats.org/drawingml/2006/main">
            <a:off x="6896100" y="456247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Share a report</a:t>
            </a:r>
          </a:p>
        </p:txBody>
      </p:sp>
      <p:sp>
        <p:nvSpPr>
          <p:cNvPr id="12" name="">
            <a:extLst xmlns:a="http://schemas.openxmlformats.org/drawingml/2006/main">
              <a:ext uri="{FF2B5EF4-FFF2-40B4-BE49-F238E27FC236}">
                <a16:creationId xmlns:a16="http://schemas.microsoft.com/office/drawing/2014/main" id="{9FC6F17B-4E94-4D94-A772-2D8A2958ECB3}"/>
              </a:ext>
            </a:extLst>
          </p:cNvPr>
          <p:cNvSpPr>
            <a:spLocks xmlns:a="http://schemas.openxmlformats.org/drawingml/2006/main" noGrp="1"/>
          </p:cNvSpPr>
          <p:nvPr/>
        </p:nvSpPr>
        <p:spPr>
          <a:xfrm xmlns:a="http://schemas.openxmlformats.org/drawingml/2006/main">
            <a:off x="6896100" y="501967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Download a saved JSON report. The server must remain running for schedules.</a:t>
            </a:r>
          </a:p>
        </p:txBody>
      </p:sp>
    </p:spTree>
    <p:extLst>
      <p:ext uri="{BB962C8B-B14F-4D97-AF65-F5344CB8AC3E}">
        <p14:creationId xmlns:p14="http://schemas.microsoft.com/office/powerpoint/2010/main" val="1775061958"/>
      </p:ext>
    </p:extLst>
  </p:cSld>
</p:sld>
</file>

<file path=ppt/slides/slide12.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0E92D8F-91AC-4CBB-B9E9-3DDE2F0E5903}"/>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PLATFORM WALKTHROUGH</a:t>
            </a:r>
          </a:p>
        </p:txBody>
      </p:sp>
      <p:sp>
        <p:nvSpPr>
          <p:cNvPr id="3" name="">
            <a:extLst xmlns:a="http://schemas.openxmlformats.org/drawingml/2006/main">
              <a:ext uri="{FF2B5EF4-FFF2-40B4-BE49-F238E27FC236}">
                <a16:creationId xmlns:a16="http://schemas.microsoft.com/office/drawing/2014/main" id="{BAC36269-AB5B-4498-8EE5-C83E263CB008}"/>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Data import and processing history</a:t>
            </a:r>
          </a:p>
        </p:txBody>
      </p:sp>
      <p:sp>
        <p:nvSpPr>
          <p:cNvPr id="4" name="">
            <a:extLst xmlns:a="http://schemas.openxmlformats.org/drawingml/2006/main">
              <a:ext uri="{FF2B5EF4-FFF2-40B4-BE49-F238E27FC236}">
                <a16:creationId xmlns:a16="http://schemas.microsoft.com/office/drawing/2014/main" id="{ACA15BF0-69C2-4946-9AB4-5A2F10E60F9C}"/>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12</a:t>
            </a:r>
          </a:p>
        </p:txBody>
      </p:sp>
      <p:pic>
        <p:nvPicPr>
          <p:cNvPr id="5" name="">
            <a:extLst xmlns:a="http://schemas.openxmlformats.org/drawingml/2006/main">
              <a:ext uri="{FF2B5EF4-FFF2-40B4-BE49-F238E27FC236}">
                <a16:creationId xmlns:a16="http://schemas.microsoft.com/office/drawing/2014/main" id="{F03D60C9-DB79-4708-B800-E9FA0AC22F85}"/>
              </a:ext>
            </a:extLst>
          </p:cNvPr>
          <p:cNvPicPr>
            <a:picLocks xmlns:a="http://schemas.openxmlformats.org/drawingml/2006/main" noChangeAspect="1"/>
          </p:cNvPicPr>
          <p:nvPr/>
        </p:nvPicPr>
        <p:blipFill>
          <a:blip xmlns:r="http://schemas.openxmlformats.org/officeDocument/2006/relationships" xmlns:a="http://schemas.openxmlformats.org/drawingml/2006/main" r:embed="R7ccc906981e848ec"/>
          <a:stretch xmlns:a="http://schemas.openxmlformats.org/drawingml/2006/main"/>
        </p:blipFill>
        <p:spPr>
          <a:xfrm xmlns:a="http://schemas.openxmlformats.org/drawingml/2006/main">
            <a:off x="1038422" y="1495425"/>
            <a:ext cx="4876407" cy="45624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1C6F2BE-BF06-4A00-AD13-E5C61B0D3F46}"/>
              </a:ext>
            </a:extLst>
          </p:cNvPr>
          <p:cNvSpPr>
            <a:spLocks xmlns:a="http://schemas.openxmlformats.org/drawingml/2006/main" noGrp="1"/>
          </p:cNvSpPr>
          <p:nvPr/>
        </p:nvSpPr>
        <p:spPr>
          <a:xfrm xmlns:a="http://schemas.openxmlformats.org/drawingml/2006/main">
            <a:off x="609600" y="61436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Actual platform screenshot. Synthetic demo data.</a:t>
            </a:r>
          </a:p>
        </p:txBody>
      </p:sp>
      <p:sp>
        <p:nvSpPr>
          <p:cNvPr id="7" name="">
            <a:extLst xmlns:a="http://schemas.openxmlformats.org/drawingml/2006/main">
              <a:ext uri="{FF2B5EF4-FFF2-40B4-BE49-F238E27FC236}">
                <a16:creationId xmlns:a16="http://schemas.microsoft.com/office/drawing/2014/main" id="{7C022185-5DAD-425F-BFDB-03A1B2D7358E}"/>
              </a:ext>
            </a:extLst>
          </p:cNvPr>
          <p:cNvSpPr>
            <a:spLocks xmlns:a="http://schemas.openxmlformats.org/drawingml/2006/main" noGrp="1"/>
          </p:cNvSpPr>
          <p:nvPr/>
        </p:nvSpPr>
        <p:spPr>
          <a:xfrm xmlns:a="http://schemas.openxmlformats.org/drawingml/2006/main">
            <a:off x="6896100" y="164782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CSV ingestion</a:t>
            </a:r>
          </a:p>
        </p:txBody>
      </p:sp>
      <p:sp>
        <p:nvSpPr>
          <p:cNvPr id="8" name="">
            <a:extLst xmlns:a="http://schemas.openxmlformats.org/drawingml/2006/main">
              <a:ext uri="{FF2B5EF4-FFF2-40B4-BE49-F238E27FC236}">
                <a16:creationId xmlns:a16="http://schemas.microsoft.com/office/drawing/2014/main" id="{BD344BDC-BAE3-4A9A-9072-3DBE8BBEDADF}"/>
              </a:ext>
            </a:extLst>
          </p:cNvPr>
          <p:cNvSpPr>
            <a:spLocks xmlns:a="http://schemas.openxmlformats.org/drawingml/2006/main" noGrp="1"/>
          </p:cNvSpPr>
          <p:nvPr/>
        </p:nvSpPr>
        <p:spPr>
          <a:xfrm xmlns:a="http://schemas.openxmlformats.org/drawingml/2006/main">
            <a:off x="6896100" y="21050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Required column: text. Optional source and published_at columns.</a:t>
            </a:r>
          </a:p>
        </p:txBody>
      </p:sp>
      <p:sp>
        <p:nvSpPr>
          <p:cNvPr id="9" name="">
            <a:extLst xmlns:a="http://schemas.openxmlformats.org/drawingml/2006/main">
              <a:ext uri="{FF2B5EF4-FFF2-40B4-BE49-F238E27FC236}">
                <a16:creationId xmlns:a16="http://schemas.microsoft.com/office/drawing/2014/main" id="{FB33C5AA-B9A0-4B70-AC6C-A1E801300C06}"/>
              </a:ext>
            </a:extLst>
          </p:cNvPr>
          <p:cNvSpPr>
            <a:spLocks xmlns:a="http://schemas.openxmlformats.org/drawingml/2006/main" noGrp="1"/>
          </p:cNvSpPr>
          <p:nvPr/>
        </p:nvSpPr>
        <p:spPr>
          <a:xfrm xmlns:a="http://schemas.openxmlformats.org/drawingml/2006/main">
            <a:off x="6896100" y="31051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Reliable processing</a:t>
            </a:r>
          </a:p>
        </p:txBody>
      </p:sp>
      <p:sp>
        <p:nvSpPr>
          <p:cNvPr id="10" name="">
            <a:extLst xmlns:a="http://schemas.openxmlformats.org/drawingml/2006/main">
              <a:ext uri="{FF2B5EF4-FFF2-40B4-BE49-F238E27FC236}">
                <a16:creationId xmlns:a16="http://schemas.microsoft.com/office/drawing/2014/main" id="{FFF5FDA8-39BC-44D7-B37D-FD90C52C5437}"/>
              </a:ext>
            </a:extLst>
          </p:cNvPr>
          <p:cNvSpPr>
            <a:spLocks xmlns:a="http://schemas.openxmlformats.org/drawingml/2006/main" noGrp="1"/>
          </p:cNvSpPr>
          <p:nvPr/>
        </p:nvSpPr>
        <p:spPr>
          <a:xfrm xmlns:a="http://schemas.openxmlformats.org/drawingml/2006/main">
            <a:off x="6896100" y="3562350"/>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Atomic batches, duplicate detection and persisted job status.</a:t>
            </a:r>
          </a:p>
        </p:txBody>
      </p:sp>
      <p:sp>
        <p:nvSpPr>
          <p:cNvPr id="11" name="">
            <a:extLst xmlns:a="http://schemas.openxmlformats.org/drawingml/2006/main">
              <a:ext uri="{FF2B5EF4-FFF2-40B4-BE49-F238E27FC236}">
                <a16:creationId xmlns:a16="http://schemas.microsoft.com/office/drawing/2014/main" id="{835C7D01-DE1C-4E41-A216-30630E47BFF7}"/>
              </a:ext>
            </a:extLst>
          </p:cNvPr>
          <p:cNvSpPr>
            <a:spLocks xmlns:a="http://schemas.openxmlformats.org/drawingml/2006/main" noGrp="1"/>
          </p:cNvSpPr>
          <p:nvPr/>
        </p:nvSpPr>
        <p:spPr>
          <a:xfrm xmlns:a="http://schemas.openxmlformats.org/drawingml/2006/main">
            <a:off x="6896100" y="456247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Local capacity</a:t>
            </a:r>
          </a:p>
        </p:txBody>
      </p:sp>
      <p:sp>
        <p:nvSpPr>
          <p:cNvPr id="12" name="">
            <a:extLst xmlns:a="http://schemas.openxmlformats.org/drawingml/2006/main">
              <a:ext uri="{FF2B5EF4-FFF2-40B4-BE49-F238E27FC236}">
                <a16:creationId xmlns:a16="http://schemas.microsoft.com/office/drawing/2014/main" id="{BCCCB5CD-73D8-4258-8207-3AEB8E89C916}"/>
              </a:ext>
            </a:extLst>
          </p:cNvPr>
          <p:cNvSpPr>
            <a:spLocks xmlns:a="http://schemas.openxmlformats.org/drawingml/2006/main" noGrp="1"/>
          </p:cNvSpPr>
          <p:nvPr/>
        </p:nvSpPr>
        <p:spPr>
          <a:xfrm xmlns:a="http://schemas.openxmlformats.org/drawingml/2006/main">
            <a:off x="6896100" y="501967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Uploads are limited to 2 MB and workspaces to 5,000 posts.</a:t>
            </a:r>
          </a:p>
        </p:txBody>
      </p:sp>
    </p:spTree>
    <p:extLst>
      <p:ext uri="{BB962C8B-B14F-4D97-AF65-F5344CB8AC3E}">
        <p14:creationId xmlns:p14="http://schemas.microsoft.com/office/powerpoint/2010/main" val="548474487"/>
      </p:ext>
    </p:extLst>
  </p:cSld>
</p:sld>
</file>

<file path=ppt/slides/slide13.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BC03912-FE76-473C-8509-28EA5F2E48B0}"/>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INTEGRATIONS</a:t>
            </a:r>
          </a:p>
        </p:txBody>
      </p:sp>
      <p:sp>
        <p:nvSpPr>
          <p:cNvPr id="3" name="">
            <a:extLst xmlns:a="http://schemas.openxmlformats.org/drawingml/2006/main">
              <a:ext uri="{FF2B5EF4-FFF2-40B4-BE49-F238E27FC236}">
                <a16:creationId xmlns:a16="http://schemas.microsoft.com/office/drawing/2014/main" id="{0A72B927-CCDC-49B9-9C26-5994B2FE26F6}"/>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Available data sources</a:t>
            </a:r>
          </a:p>
        </p:txBody>
      </p:sp>
      <p:sp>
        <p:nvSpPr>
          <p:cNvPr id="4" name="">
            <a:extLst xmlns:a="http://schemas.openxmlformats.org/drawingml/2006/main">
              <a:ext uri="{FF2B5EF4-FFF2-40B4-BE49-F238E27FC236}">
                <a16:creationId xmlns:a16="http://schemas.microsoft.com/office/drawing/2014/main" id="{64F20C1E-F7AC-444F-941A-D9B89BC2817F}"/>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13</a:t>
            </a:r>
          </a:p>
        </p:txBody>
      </p:sp>
      <p:graphicFrame>
        <p:nvGraphicFramePr>
          <p:cNvPr id="5" name="">
            <a:extLst xmlns:a="http://schemas.openxmlformats.org/drawingml/2006/main">
              <a:ext uri="{FF2B5EF4-FFF2-40B4-BE49-F238E27FC236}">
                <a16:creationId xmlns:a16="http://schemas.microsoft.com/office/drawing/2014/main" id="{875063FD-BDA8-4B40-9AC5-EAD14E3628DA}"/>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1952625"/>
                <a:gridCol w="4572000"/>
                <a:gridCol w="4448175"/>
              </a:tblGrid>
              <a:tr h="800100">
                <a:tc>
                  <a:txBody>
                    <a:bodyPr/>
                    <a:lstStyle/>
                    <a:p>
                      <a:r>
                        <a:rPr sz="1800" b="1">
                          <a:solidFill>
                            <a:srgbClr val="FFFFFF"/>
                          </a:solidFill>
                          <a:latin typeface="Arial"/>
                          <a:ea typeface="Arial"/>
                          <a:cs typeface="Arial"/>
                        </a:rPr>
                        <a:t>Source</a:t>
                      </a:r>
                    </a:p>
                  </a:txBody>
                  <a:tcPr marL="91440" marR="91440" marT="45720" marB="45720" anchor="ctr">
                    <a:solidFill>
                      <a:srgbClr val="153A32"/>
                    </a:solidFill>
                  </a:tcPr>
                </a:tc>
                <a:tc>
                  <a:txBody>
                    <a:bodyPr/>
                    <a:lstStyle/>
                    <a:p>
                      <a:r>
                        <a:rPr sz="1800" b="1">
                          <a:solidFill>
                            <a:srgbClr val="FFFFFF"/>
                          </a:solidFill>
                          <a:latin typeface="Arial"/>
                          <a:ea typeface="Arial"/>
                          <a:cs typeface="Arial"/>
                        </a:rPr>
                        <a:t>Collection scope</a:t>
                      </a:r>
                    </a:p>
                  </a:txBody>
                  <a:tcPr marL="91440" marR="91440" marT="45720" marB="45720" anchor="ctr">
                    <a:solidFill>
                      <a:srgbClr val="153A32"/>
                    </a:solidFill>
                  </a:tcPr>
                </a:tc>
                <a:tc>
                  <a:txBody>
                    <a:bodyPr/>
                    <a:lstStyle/>
                    <a:p>
                      <a:r>
                        <a:rPr sz="1800" b="1">
                          <a:solidFill>
                            <a:srgbClr val="FFFFFF"/>
                          </a:solidFill>
                          <a:latin typeface="Arial"/>
                          <a:ea typeface="Arial"/>
                          <a:cs typeface="Arial"/>
                        </a:rPr>
                        <a:t>Access requirement</a:t>
                      </a:r>
                    </a:p>
                  </a:txBody>
                  <a:tcPr marL="91440" marR="91440" marT="45720" marB="45720" anchor="ctr">
                    <a:solidFill>
                      <a:srgbClr val="153A32"/>
                    </a:solidFill>
                  </a:tcPr>
                </a:tc>
              </a:tr>
              <a:tr h="800100">
                <a:tc>
                  <a:txBody>
                    <a:bodyPr/>
                    <a:lstStyle/>
                    <a:p>
                      <a:r>
                        <a:rPr sz="1725" b="0">
                          <a:solidFill>
                            <a:srgbClr val="213B33"/>
                          </a:solidFill>
                          <a:latin typeface="Arial"/>
                          <a:ea typeface="Arial"/>
                          <a:cs typeface="Arial"/>
                        </a:rPr>
                        <a:t>CSV</a:t>
                      </a:r>
                    </a:p>
                  </a:txBody>
                  <a:tcPr marL="91440" marR="91440" marT="45720" marB="45720" anchor="ctr">
                    <a:solidFill>
                      <a:srgbClr val="FFFFFF"/>
                    </a:solidFill>
                  </a:tcPr>
                </a:tc>
                <a:tc>
                  <a:txBody>
                    <a:bodyPr/>
                    <a:lstStyle/>
                    <a:p>
                      <a:r>
                        <a:rPr sz="1725" b="0">
                          <a:solidFill>
                            <a:srgbClr val="213B33"/>
                          </a:solidFill>
                          <a:latin typeface="Arial"/>
                          <a:ea typeface="Arial"/>
                          <a:cs typeface="Arial"/>
                        </a:rPr>
                        <a:t>Uploaded conversation records</a:t>
                      </a:r>
                    </a:p>
                  </a:txBody>
                  <a:tcPr marL="91440" marR="91440" marT="45720" marB="45720" anchor="ctr">
                    <a:solidFill>
                      <a:srgbClr val="FFFFFF"/>
                    </a:solidFill>
                  </a:tcPr>
                </a:tc>
                <a:tc>
                  <a:txBody>
                    <a:bodyPr/>
                    <a:lstStyle/>
                    <a:p>
                      <a:r>
                        <a:rPr sz="1725" b="0">
                          <a:solidFill>
                            <a:srgbClr val="213B33"/>
                          </a:solidFill>
                          <a:latin typeface="Arial"/>
                          <a:ea typeface="Arial"/>
                          <a:cs typeface="Arial"/>
                        </a:rPr>
                        <a:t>No external credentials</a:t>
                      </a:r>
                    </a:p>
                  </a:txBody>
                  <a:tcPr marL="91440" marR="91440" marT="45720" marB="45720" anchor="ctr">
                    <a:solidFill>
                      <a:srgbClr val="FFFFFF"/>
                    </a:solidFill>
                  </a:tcPr>
                </a:tc>
              </a:tr>
              <a:tr h="800100">
                <a:tc>
                  <a:txBody>
                    <a:bodyPr/>
                    <a:lstStyle/>
                    <a:p>
                      <a:r>
                        <a:rPr sz="1725" b="0">
                          <a:solidFill>
                            <a:srgbClr val="213B33"/>
                          </a:solidFill>
                          <a:latin typeface="Arial"/>
                          <a:ea typeface="Arial"/>
                          <a:cs typeface="Arial"/>
                        </a:rPr>
                        <a:t>Bluesky</a:t>
                      </a:r>
                    </a:p>
                  </a:txBody>
                  <a:tcPr marL="91440" marR="91440" marT="45720" marB="45720" anchor="ctr">
                    <a:solidFill>
                      <a:srgbClr val="EBF0E4"/>
                    </a:solidFill>
                  </a:tcPr>
                </a:tc>
                <a:tc>
                  <a:txBody>
                    <a:bodyPr/>
                    <a:lstStyle/>
                    <a:p>
                      <a:r>
                        <a:rPr sz="1725" b="0">
                          <a:solidFill>
                            <a:srgbClr val="213B33"/>
                          </a:solidFill>
                          <a:latin typeface="Arial"/>
                          <a:ea typeface="Arial"/>
                          <a:cs typeface="Arial"/>
                        </a:rPr>
                        <a:t>Up to 100 search results</a:t>
                      </a:r>
                    </a:p>
                  </a:txBody>
                  <a:tcPr marL="91440" marR="91440" marT="45720" marB="45720" anchor="ctr">
                    <a:solidFill>
                      <a:srgbClr val="EBF0E4"/>
                    </a:solidFill>
                  </a:tcPr>
                </a:tc>
                <a:tc>
                  <a:txBody>
                    <a:bodyPr/>
                    <a:lstStyle/>
                    <a:p>
                      <a:r>
                        <a:rPr sz="1725" b="0">
                          <a:solidFill>
                            <a:srgbClr val="213B33"/>
                          </a:solidFill>
                          <a:latin typeface="Arial"/>
                          <a:ea typeface="Arial"/>
                          <a:cs typeface="Arial"/>
                        </a:rPr>
                        <a:t>Enable public API collection</a:t>
                      </a:r>
                    </a:p>
                  </a:txBody>
                  <a:tcPr marL="91440" marR="91440" marT="45720" marB="45720" anchor="ctr">
                    <a:solidFill>
                      <a:srgbClr val="EBF0E4"/>
                    </a:solidFill>
                  </a:tcPr>
                </a:tc>
              </a:tr>
              <a:tr h="800100">
                <a:tc>
                  <a:txBody>
                    <a:bodyPr/>
                    <a:lstStyle/>
                    <a:p>
                      <a:r>
                        <a:rPr sz="1725" b="0">
                          <a:solidFill>
                            <a:srgbClr val="213B33"/>
                          </a:solidFill>
                          <a:latin typeface="Arial"/>
                          <a:ea typeface="Arial"/>
                          <a:cs typeface="Arial"/>
                        </a:rPr>
                        <a:t>Mastodon</a:t>
                      </a:r>
                    </a:p>
                  </a:txBody>
                  <a:tcPr marL="91440" marR="91440" marT="45720" marB="45720" anchor="ctr">
                    <a:solidFill>
                      <a:srgbClr val="FFFFFF"/>
                    </a:solidFill>
                  </a:tcPr>
                </a:tc>
                <a:tc>
                  <a:txBody>
                    <a:bodyPr/>
                    <a:lstStyle/>
                    <a:p>
                      <a:r>
                        <a:rPr sz="1725" b="0">
                          <a:solidFill>
                            <a:srgbClr val="213B33"/>
                          </a:solidFill>
                          <a:latin typeface="Arial"/>
                          <a:ea typeface="Arial"/>
                          <a:cs typeface="Arial"/>
                        </a:rPr>
                        <a:t>Up to 40 public hashtag posts</a:t>
                      </a:r>
                    </a:p>
                  </a:txBody>
                  <a:tcPr marL="91440" marR="91440" marT="45720" marB="45720" anchor="ctr">
                    <a:solidFill>
                      <a:srgbClr val="FFFFFF"/>
                    </a:solidFill>
                  </a:tcPr>
                </a:tc>
                <a:tc>
                  <a:txBody>
                    <a:bodyPr/>
                    <a:lstStyle/>
                    <a:p>
                      <a:r>
                        <a:rPr sz="1725" b="0">
                          <a:solidFill>
                            <a:srgbClr val="213B33"/>
                          </a:solidFill>
                          <a:latin typeface="Arial"/>
                          <a:ea typeface="Arial"/>
                          <a:cs typeface="Arial"/>
                        </a:rPr>
                        <a:t>Enable collection, token if required</a:t>
                      </a:r>
                    </a:p>
                  </a:txBody>
                  <a:tcPr marL="91440" marR="91440" marT="45720" marB="45720" anchor="ctr">
                    <a:solidFill>
                      <a:srgbClr val="FFFFFF"/>
                    </a:solidFill>
                  </a:tcPr>
                </a:tc>
              </a:tr>
              <a:tr h="800100">
                <a:tc>
                  <a:txBody>
                    <a:bodyPr/>
                    <a:lstStyle/>
                    <a:p>
                      <a:r>
                        <a:rPr sz="1725" b="0">
                          <a:solidFill>
                            <a:srgbClr val="213B33"/>
                          </a:solidFill>
                          <a:latin typeface="Arial"/>
                          <a:ea typeface="Arial"/>
                          <a:cs typeface="Arial"/>
                        </a:rPr>
                        <a:t>YouTube</a:t>
                      </a:r>
                    </a:p>
                  </a:txBody>
                  <a:tcPr marL="91440" marR="91440" marT="45720" marB="45720" anchor="ctr">
                    <a:solidFill>
                      <a:srgbClr val="EBF0E4"/>
                    </a:solidFill>
                  </a:tcPr>
                </a:tc>
                <a:tc>
                  <a:txBody>
                    <a:bodyPr/>
                    <a:lstStyle/>
                    <a:p>
                      <a:r>
                        <a:rPr sz="1725" b="0">
                          <a:solidFill>
                            <a:srgbClr val="213B33"/>
                          </a:solidFill>
                          <a:latin typeface="Arial"/>
                          <a:ea typeface="Arial"/>
                          <a:cs typeface="Arial"/>
                        </a:rPr>
                        <a:t>Up to 100 top-level video comments</a:t>
                      </a:r>
                    </a:p>
                  </a:txBody>
                  <a:tcPr marL="91440" marR="91440" marT="45720" marB="45720" anchor="ctr">
                    <a:solidFill>
                      <a:srgbClr val="EBF0E4"/>
                    </a:solidFill>
                  </a:tcPr>
                </a:tc>
                <a:tc>
                  <a:txBody>
                    <a:bodyPr/>
                    <a:lstStyle/>
                    <a:p>
                      <a:r>
                        <a:rPr sz="1725" b="0">
                          <a:solidFill>
                            <a:srgbClr val="213B33"/>
                          </a:solidFill>
                          <a:latin typeface="Arial"/>
                          <a:ea typeface="Arial"/>
                          <a:cs typeface="Arial"/>
                        </a:rPr>
                        <a:t>Enable collection and configure an API key</a:t>
                      </a:r>
                    </a:p>
                  </a:txBody>
                  <a:tcPr marL="91440" marR="91440" marT="45720" marB="45720" anchor="ctr">
                    <a:solidFill>
                      <a:srgbClr val="EBF0E4"/>
                    </a:solidFill>
                  </a:tcPr>
                </a:tc>
              </a:tr>
            </a:tbl>
          </a:graphicData>
        </a:graphic>
      </p:graphicFrame>
      <p:sp>
        <p:nvSpPr>
          <p:cNvPr id="6" name="">
            <a:extLst xmlns:a="http://schemas.openxmlformats.org/drawingml/2006/main">
              <a:ext uri="{FF2B5EF4-FFF2-40B4-BE49-F238E27FC236}">
                <a16:creationId xmlns:a16="http://schemas.microsoft.com/office/drawing/2014/main" id="{6DCD54EE-FC61-4175-A888-103011302406}"/>
              </a:ext>
            </a:extLst>
          </p:cNvPr>
          <p:cNvSpPr>
            <a:spLocks xmlns:a="http://schemas.openxmlformats.org/drawingml/2006/main" noGrp="1"/>
          </p:cNvSpPr>
          <p:nvPr/>
        </p:nvSpPr>
        <p:spPr>
          <a:xfrm xmlns:a="http://schemas.openxmlformats.org/drawingml/2006/main">
            <a:off x="609600" y="60198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64786A"/>
                </a:solidFill>
                <a:latin typeface="Arial"/>
                <a:ea typeface="Arial"/>
                <a:cs typeface="Arial"/>
              </a:defRPr>
            </a:defPPr>
            <a:lvl1pPr>
              <a:defRPr sz="1725" b="0">
                <a:solidFill>
                  <a:srgbClr val="64786A"/>
                </a:solidFill>
                <a:latin typeface="Arial"/>
                <a:ea typeface="Arial"/>
                <a:cs typeface="Arial"/>
              </a:defRPr>
            </a:lvl1pPr>
            <a:lvl2pPr>
              <a:defRPr sz="1725" b="0">
                <a:solidFill>
                  <a:srgbClr val="64786A"/>
                </a:solidFill>
                <a:latin typeface="Arial"/>
                <a:ea typeface="Arial"/>
                <a:cs typeface="Arial"/>
              </a:defRPr>
            </a:lvl2pPr>
            <a:lvl3pPr>
              <a:defRPr sz="1725" b="0">
                <a:solidFill>
                  <a:srgbClr val="64786A"/>
                </a:solidFill>
                <a:latin typeface="Arial"/>
                <a:ea typeface="Arial"/>
                <a:cs typeface="Arial"/>
              </a:defRPr>
            </a:lvl3pPr>
            <a:lvl4pPr>
              <a:defRPr sz="1725" b="0">
                <a:solidFill>
                  <a:srgbClr val="64786A"/>
                </a:solidFill>
                <a:latin typeface="Arial"/>
                <a:ea typeface="Arial"/>
                <a:cs typeface="Arial"/>
              </a:defRPr>
            </a:lvl4pPr>
            <a:lvl5pPr>
              <a:defRPr sz="1725" b="0">
                <a:solidFill>
                  <a:srgbClr val="64786A"/>
                </a:solidFill>
                <a:latin typeface="Arial"/>
                <a:ea typeface="Arial"/>
                <a:cs typeface="Arial"/>
              </a:defRPr>
            </a:lvl5pPr>
            <a:lvl6pPr>
              <a:defRPr sz="1725" b="0">
                <a:solidFill>
                  <a:srgbClr val="64786A"/>
                </a:solidFill>
                <a:latin typeface="Arial"/>
                <a:ea typeface="Arial"/>
                <a:cs typeface="Arial"/>
              </a:defRPr>
            </a:lvl6pPr>
            <a:lvl7pPr>
              <a:defRPr sz="1725" b="0">
                <a:solidFill>
                  <a:srgbClr val="64786A"/>
                </a:solidFill>
                <a:latin typeface="Arial"/>
                <a:ea typeface="Arial"/>
                <a:cs typeface="Arial"/>
              </a:defRPr>
            </a:lvl7pPr>
            <a:lvl8pPr>
              <a:defRPr sz="1725" b="0">
                <a:solidFill>
                  <a:srgbClr val="64786A"/>
                </a:solidFill>
                <a:latin typeface="Arial"/>
                <a:ea typeface="Arial"/>
                <a:cs typeface="Arial"/>
              </a:defRPr>
            </a:lvl8pPr>
            <a:lvl9pPr>
              <a:defRPr sz="1725" b="0">
                <a:solidFill>
                  <a:srgbClr val="64786A"/>
                </a:solidFill>
                <a:latin typeface="Arial"/>
                <a:ea typeface="Arial"/>
                <a:cs typeface="Arial"/>
              </a:defRPr>
            </a:lvl9pPr>
          </a:lstStyle>
          <a:p xmlns:a="http://schemas.openxmlformats.org/drawingml/2006/main">
            <a:pPr>
              <a:defRPr sz="1725" b="0">
                <a:solidFill>
                  <a:srgbClr val="64786A"/>
                </a:solidFill>
                <a:latin typeface="Arial"/>
                <a:ea typeface="Arial"/>
                <a:cs typeface="Arial"/>
              </a:defRPr>
            </a:pPr>
            <a:r>
              <a:rPr sz="1725" b="0">
                <a:solidFill>
                  <a:srgbClr val="64786A"/>
                </a:solidFill>
                <a:latin typeface="Arial"/>
                <a:ea typeface="Arial"/>
                <a:cs typeface="Arial"/>
              </a:rPr>
              <a:t>Connectors run manually and depend on provider permissions, quota and availability.</a:t>
            </a:r>
          </a:p>
        </p:txBody>
      </p:sp>
    </p:spTree>
    <p:extLst>
      <p:ext uri="{BB962C8B-B14F-4D97-AF65-F5344CB8AC3E}">
        <p14:creationId xmlns:p14="http://schemas.microsoft.com/office/powerpoint/2010/main" val="1270791428"/>
      </p:ext>
    </p:extLst>
  </p:cSld>
</p:sld>
</file>

<file path=ppt/slides/slide14.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BF3B6CC-E562-45CC-90FB-CED80BA64012}"/>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TECHNICAL DESIGN</a:t>
            </a:r>
          </a:p>
        </p:txBody>
      </p:sp>
      <p:sp>
        <p:nvSpPr>
          <p:cNvPr id="3" name="">
            <a:extLst xmlns:a="http://schemas.openxmlformats.org/drawingml/2006/main">
              <a:ext uri="{FF2B5EF4-FFF2-40B4-BE49-F238E27FC236}">
                <a16:creationId xmlns:a16="http://schemas.microsoft.com/office/drawing/2014/main" id="{8DDF089D-7AE1-48E0-ACCD-3D9512538962}"/>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Application architecture</a:t>
            </a:r>
          </a:p>
        </p:txBody>
      </p:sp>
      <p:sp>
        <p:nvSpPr>
          <p:cNvPr id="4" name="">
            <a:extLst xmlns:a="http://schemas.openxmlformats.org/drawingml/2006/main">
              <a:ext uri="{FF2B5EF4-FFF2-40B4-BE49-F238E27FC236}">
                <a16:creationId xmlns:a16="http://schemas.microsoft.com/office/drawing/2014/main" id="{841A7BD8-3CCE-49BA-B206-BA7FF0F6C3A8}"/>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2150F471-6483-4D8F-8444-5B0B06FDD63F}"/>
              </a:ext>
            </a:extLst>
          </p:cNvPr>
          <p:cNvGraphicFramePr/>
          <p:nvPr/>
        </p:nvGraphicFramePr>
        <p:xfrm>
          <a:off xmlns:a="http://schemas.openxmlformats.org/drawingml/2006/main" x="609600" y="1695450"/>
          <a:ext xmlns:a="http://schemas.openxmlformats.org/drawingml/2006/main" cx="10972800" cy="4057650"/>
        </p:xfrm>
        <a:graphic xmlns:a="http://schemas.openxmlformats.org/drawingml/2006/main">
          <a:graphicData uri="http://schemas.openxmlformats.org/drawingml/2006/table">
            <a:tbl>
              <a:tblPr/>
              <a:tblGrid>
                <a:gridCol w="2095500"/>
                <a:gridCol w="3048000"/>
                <a:gridCol w="5829300"/>
              </a:tblGrid>
              <a:tr h="676275">
                <a:tc>
                  <a:txBody>
                    <a:bodyPr/>
                    <a:lstStyle/>
                    <a:p>
                      <a:r>
                        <a:rPr sz="1800" b="1">
                          <a:solidFill>
                            <a:srgbClr val="FFFFFF"/>
                          </a:solidFill>
                          <a:latin typeface="Arial"/>
                          <a:ea typeface="Arial"/>
                          <a:cs typeface="Arial"/>
                        </a:rPr>
                        <a:t>Layer</a:t>
                      </a:r>
                    </a:p>
                  </a:txBody>
                  <a:tcPr marL="91440" marR="91440" marT="45720" marB="45720" anchor="ctr">
                    <a:solidFill>
                      <a:srgbClr val="153A32"/>
                    </a:solidFill>
                  </a:tcPr>
                </a:tc>
                <a:tc>
                  <a:txBody>
                    <a:bodyPr/>
                    <a:lstStyle/>
                    <a:p>
                      <a:r>
                        <a:rPr sz="1800" b="1">
                          <a:solidFill>
                            <a:srgbClr val="FFFFFF"/>
                          </a:solidFill>
                          <a:latin typeface="Arial"/>
                          <a:ea typeface="Arial"/>
                          <a:cs typeface="Arial"/>
                        </a:rPr>
                        <a:t>Technology</a:t>
                      </a:r>
                    </a:p>
                  </a:txBody>
                  <a:tcPr marL="91440" marR="91440" marT="45720" marB="45720" anchor="ctr">
                    <a:solidFill>
                      <a:srgbClr val="153A32"/>
                    </a:solidFill>
                  </a:tcPr>
                </a:tc>
                <a:tc>
                  <a:txBody>
                    <a:bodyPr/>
                    <a:lstStyle/>
                    <a:p>
                      <a:r>
                        <a:rPr sz="1800" b="1">
                          <a:solidFill>
                            <a:srgbClr val="FFFFFF"/>
                          </a:solidFill>
                          <a:latin typeface="Arial"/>
                          <a:ea typeface="Arial"/>
                          <a:cs typeface="Arial"/>
                        </a:rPr>
                        <a:t>Responsibility</a:t>
                      </a:r>
                    </a:p>
                  </a:txBody>
                  <a:tcPr marL="91440" marR="91440" marT="45720" marB="45720" anchor="ctr">
                    <a:solidFill>
                      <a:srgbClr val="153A32"/>
                    </a:solidFill>
                  </a:tcPr>
                </a:tc>
              </a:tr>
              <a:tr h="676275">
                <a:tc>
                  <a:txBody>
                    <a:bodyPr/>
                    <a:lstStyle/>
                    <a:p>
                      <a:r>
                        <a:rPr sz="1725" b="0">
                          <a:solidFill>
                            <a:srgbClr val="213B33"/>
                          </a:solidFill>
                          <a:latin typeface="Arial"/>
                          <a:ea typeface="Arial"/>
                          <a:cs typeface="Arial"/>
                        </a:rPr>
                        <a:t>Browser interface</a:t>
                      </a:r>
                    </a:p>
                  </a:txBody>
                  <a:tcPr marL="91440" marR="91440" marT="45720" marB="45720" anchor="ctr">
                    <a:solidFill>
                      <a:srgbClr val="FFFFFF"/>
                    </a:solidFill>
                  </a:tcPr>
                </a:tc>
                <a:tc>
                  <a:txBody>
                    <a:bodyPr/>
                    <a:lstStyle/>
                    <a:p>
                      <a:r>
                        <a:rPr sz="1725" b="0">
                          <a:solidFill>
                            <a:srgbClr val="213B33"/>
                          </a:solidFill>
                          <a:latin typeface="Arial"/>
                          <a:ea typeface="Arial"/>
                          <a:cs typeface="Arial"/>
                        </a:rPr>
                        <a:t>HTML, CSS, JavaScript</a:t>
                      </a:r>
                    </a:p>
                  </a:txBody>
                  <a:tcPr marL="91440" marR="91440" marT="45720" marB="45720" anchor="ctr">
                    <a:solidFill>
                      <a:srgbClr val="FFFFFF"/>
                    </a:solidFill>
                  </a:tcPr>
                </a:tc>
                <a:tc>
                  <a:txBody>
                    <a:bodyPr/>
                    <a:lstStyle/>
                    <a:p>
                      <a:r>
                        <a:rPr sz="1725" b="0">
                          <a:solidFill>
                            <a:srgbClr val="213B33"/>
                          </a:solidFill>
                          <a:latin typeface="Arial"/>
                          <a:ea typeface="Arial"/>
                          <a:cs typeface="Arial"/>
                        </a:rPr>
                        <a:t>Dashboard, evidence search and team workflows</a:t>
                      </a:r>
                    </a:p>
                  </a:txBody>
                  <a:tcPr marL="91440" marR="91440" marT="45720" marB="45720" anchor="ctr">
                    <a:solidFill>
                      <a:srgbClr val="FFFFFF"/>
                    </a:solidFill>
                  </a:tcPr>
                </a:tc>
              </a:tr>
              <a:tr h="676275">
                <a:tc>
                  <a:txBody>
                    <a:bodyPr/>
                    <a:lstStyle/>
                    <a:p>
                      <a:r>
                        <a:rPr sz="1725" b="0">
                          <a:solidFill>
                            <a:srgbClr val="213B33"/>
                          </a:solidFill>
                          <a:latin typeface="Arial"/>
                          <a:ea typeface="Arial"/>
                          <a:cs typeface="Arial"/>
                        </a:rPr>
                        <a:t>Application API</a:t>
                      </a:r>
                    </a:p>
                  </a:txBody>
                  <a:tcPr marL="91440" marR="91440" marT="45720" marB="45720" anchor="ctr">
                    <a:solidFill>
                      <a:srgbClr val="EBF0E4"/>
                    </a:solidFill>
                  </a:tcPr>
                </a:tc>
                <a:tc>
                  <a:txBody>
                    <a:bodyPr/>
                    <a:lstStyle/>
                    <a:p>
                      <a:r>
                        <a:rPr sz="1725" b="0">
                          <a:solidFill>
                            <a:srgbClr val="213B33"/>
                          </a:solidFill>
                          <a:latin typeface="Arial"/>
                          <a:ea typeface="Arial"/>
                          <a:cs typeface="Arial"/>
                        </a:rPr>
                        <a:t>Python / FastAPI</a:t>
                      </a:r>
                    </a:p>
                  </a:txBody>
                  <a:tcPr marL="91440" marR="91440" marT="45720" marB="45720" anchor="ctr">
                    <a:solidFill>
                      <a:srgbClr val="EBF0E4"/>
                    </a:solidFill>
                  </a:tcPr>
                </a:tc>
                <a:tc>
                  <a:txBody>
                    <a:bodyPr/>
                    <a:lstStyle/>
                    <a:p>
                      <a:r>
                        <a:rPr sz="1725" b="0">
                          <a:solidFill>
                            <a:srgbClr val="213B33"/>
                          </a:solidFill>
                          <a:latin typeface="Arial"/>
                          <a:ea typeface="Arial"/>
                          <a:cs typeface="Arial"/>
                        </a:rPr>
                        <a:t>Authentication, roles and validated endpoints</a:t>
                      </a:r>
                    </a:p>
                  </a:txBody>
                  <a:tcPr marL="91440" marR="91440" marT="45720" marB="45720" anchor="ctr">
                    <a:solidFill>
                      <a:srgbClr val="EBF0E4"/>
                    </a:solidFill>
                  </a:tcPr>
                </a:tc>
              </a:tr>
              <a:tr h="676275">
                <a:tc>
                  <a:txBody>
                    <a:bodyPr/>
                    <a:lstStyle/>
                    <a:p>
                      <a:r>
                        <a:rPr sz="1725" b="0">
                          <a:solidFill>
                            <a:srgbClr val="213B33"/>
                          </a:solidFill>
                          <a:latin typeface="Arial"/>
                          <a:ea typeface="Arial"/>
                          <a:cs typeface="Arial"/>
                        </a:rPr>
                        <a:t>Service worker</a:t>
                      </a:r>
                    </a:p>
                  </a:txBody>
                  <a:tcPr marL="91440" marR="91440" marT="45720" marB="45720" anchor="ctr">
                    <a:solidFill>
                      <a:srgbClr val="FFFFFF"/>
                    </a:solidFill>
                  </a:tcPr>
                </a:tc>
                <a:tc>
                  <a:txBody>
                    <a:bodyPr/>
                    <a:lstStyle/>
                    <a:p>
                      <a:r>
                        <a:rPr sz="1725" b="0">
                          <a:solidFill>
                            <a:srgbClr val="213B33"/>
                          </a:solidFill>
                          <a:latin typeface="Arial"/>
                          <a:ea typeface="Arial"/>
                          <a:cs typeface="Arial"/>
                        </a:rPr>
                        <a:t>Database-backed jobs</a:t>
                      </a:r>
                    </a:p>
                  </a:txBody>
                  <a:tcPr marL="91440" marR="91440" marT="45720" marB="45720" anchor="ctr">
                    <a:solidFill>
                      <a:srgbClr val="FFFFFF"/>
                    </a:solidFill>
                  </a:tcPr>
                </a:tc>
                <a:tc>
                  <a:txBody>
                    <a:bodyPr/>
                    <a:lstStyle/>
                    <a:p>
                      <a:r>
                        <a:rPr sz="1725" b="0">
                          <a:solidFill>
                            <a:srgbClr val="213B33"/>
                          </a:solidFill>
                          <a:latin typeface="Arial"/>
                          <a:ea typeface="Arial"/>
                          <a:cs typeface="Arial"/>
                        </a:rPr>
                        <a:t>Imports, analysis, monitors and scheduled reports</a:t>
                      </a:r>
                    </a:p>
                  </a:txBody>
                  <a:tcPr marL="91440" marR="91440" marT="45720" marB="45720" anchor="ctr">
                    <a:solidFill>
                      <a:srgbClr val="FFFFFF"/>
                    </a:solidFill>
                  </a:tcPr>
                </a:tc>
              </a:tr>
              <a:tr h="676275">
                <a:tc>
                  <a:txBody>
                    <a:bodyPr/>
                    <a:lstStyle/>
                    <a:p>
                      <a:r>
                        <a:rPr sz="1725" b="0">
                          <a:solidFill>
                            <a:srgbClr val="213B33"/>
                          </a:solidFill>
                          <a:latin typeface="Arial"/>
                          <a:ea typeface="Arial"/>
                          <a:cs typeface="Arial"/>
                        </a:rPr>
                        <a:t>Data storage</a:t>
                      </a:r>
                    </a:p>
                  </a:txBody>
                  <a:tcPr marL="91440" marR="91440" marT="45720" marB="45720" anchor="ctr">
                    <a:solidFill>
                      <a:srgbClr val="EBF0E4"/>
                    </a:solidFill>
                  </a:tcPr>
                </a:tc>
                <a:tc>
                  <a:txBody>
                    <a:bodyPr/>
                    <a:lstStyle/>
                    <a:p>
                      <a:r>
                        <a:rPr sz="1725" b="0">
                          <a:solidFill>
                            <a:srgbClr val="213B33"/>
                          </a:solidFill>
                          <a:latin typeface="Arial"/>
                          <a:ea typeface="Arial"/>
                          <a:cs typeface="Arial"/>
                        </a:rPr>
                        <a:t>SQLAlchemy</a:t>
                      </a:r>
                    </a:p>
                  </a:txBody>
                  <a:tcPr marL="91440" marR="91440" marT="45720" marB="45720" anchor="ctr">
                    <a:solidFill>
                      <a:srgbClr val="EBF0E4"/>
                    </a:solidFill>
                  </a:tcPr>
                </a:tc>
                <a:tc>
                  <a:txBody>
                    <a:bodyPr/>
                    <a:lstStyle/>
                    <a:p>
                      <a:r>
                        <a:rPr sz="1725" b="0">
                          <a:solidFill>
                            <a:srgbClr val="213B33"/>
                          </a:solidFill>
                          <a:latin typeface="Arial"/>
                          <a:ea typeface="Arial"/>
                          <a:cs typeface="Arial"/>
                        </a:rPr>
                        <a:t>SQLite locally or PostgreSQL in Docker</a:t>
                      </a:r>
                    </a:p>
                  </a:txBody>
                  <a:tcPr marL="91440" marR="91440" marT="45720" marB="45720" anchor="ctr">
                    <a:solidFill>
                      <a:srgbClr val="EBF0E4"/>
                    </a:solidFill>
                  </a:tcPr>
                </a:tc>
              </a:tr>
              <a:tr h="676275">
                <a:tc>
                  <a:txBody>
                    <a:bodyPr/>
                    <a:lstStyle/>
                    <a:p>
                      <a:r>
                        <a:rPr sz="1725" b="0">
                          <a:solidFill>
                            <a:srgbClr val="213B33"/>
                          </a:solidFill>
                          <a:latin typeface="Arial"/>
                          <a:ea typeface="Arial"/>
                          <a:cs typeface="Arial"/>
                        </a:rPr>
                        <a:t>Analysis / generation</a:t>
                      </a:r>
                    </a:p>
                  </a:txBody>
                  <a:tcPr marL="91440" marR="91440" marT="45720" marB="45720" anchor="ctr">
                    <a:solidFill>
                      <a:srgbClr val="FFFFFF"/>
                    </a:solidFill>
                  </a:tcPr>
                </a:tc>
                <a:tc>
                  <a:txBody>
                    <a:bodyPr/>
                    <a:lstStyle/>
                    <a:p>
                      <a:r>
                        <a:rPr sz="1725" b="0">
                          <a:solidFill>
                            <a:srgbClr val="213B33"/>
                          </a:solidFill>
                          <a:latin typeface="Arial"/>
                          <a:ea typeface="Arial"/>
                          <a:cs typeface="Arial"/>
                        </a:rPr>
                        <a:t>ONNX, scikit-learn, Groq</a:t>
                      </a:r>
                    </a:p>
                  </a:txBody>
                  <a:tcPr marL="91440" marR="91440" marT="45720" marB="45720" anchor="ctr">
                    <a:solidFill>
                      <a:srgbClr val="FFFFFF"/>
                    </a:solidFill>
                  </a:tcPr>
                </a:tc>
                <a:tc>
                  <a:txBody>
                    <a:bodyPr/>
                    <a:lstStyle/>
                    <a:p>
                      <a:r>
                        <a:rPr sz="1725" b="0">
                          <a:solidFill>
                            <a:srgbClr val="213B33"/>
                          </a:solidFill>
                          <a:latin typeface="Arial"/>
                          <a:ea typeface="Arial"/>
                          <a:cs typeface="Arial"/>
                        </a:rPr>
                        <a:t>Local sentiment and topics, optional hosted research</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D8DB325-BDB0-4B28-82FD-88FA33A447F1}"/>
              </a:ext>
            </a:extLst>
          </p:cNvPr>
          <p:cNvSpPr>
            <a:spLocks xmlns:a="http://schemas.openxmlformats.org/drawingml/2006/main" noGrp="1"/>
          </p:cNvSpPr>
          <p:nvPr/>
        </p:nvSpPr>
        <p:spPr>
          <a:xfrm xmlns:a="http://schemas.openxmlformats.org/drawingml/2006/main">
            <a:off x="609600" y="6048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64786A"/>
                </a:solidFill>
                <a:latin typeface="Arial"/>
                <a:ea typeface="Arial"/>
                <a:cs typeface="Arial"/>
              </a:defRPr>
            </a:defPPr>
            <a:lvl1pPr>
              <a:defRPr sz="1725" b="0">
                <a:solidFill>
                  <a:srgbClr val="64786A"/>
                </a:solidFill>
                <a:latin typeface="Arial"/>
                <a:ea typeface="Arial"/>
                <a:cs typeface="Arial"/>
              </a:defRPr>
            </a:lvl1pPr>
            <a:lvl2pPr>
              <a:defRPr sz="1725" b="0">
                <a:solidFill>
                  <a:srgbClr val="64786A"/>
                </a:solidFill>
                <a:latin typeface="Arial"/>
                <a:ea typeface="Arial"/>
                <a:cs typeface="Arial"/>
              </a:defRPr>
            </a:lvl2pPr>
            <a:lvl3pPr>
              <a:defRPr sz="1725" b="0">
                <a:solidFill>
                  <a:srgbClr val="64786A"/>
                </a:solidFill>
                <a:latin typeface="Arial"/>
                <a:ea typeface="Arial"/>
                <a:cs typeface="Arial"/>
              </a:defRPr>
            </a:lvl3pPr>
            <a:lvl4pPr>
              <a:defRPr sz="1725" b="0">
                <a:solidFill>
                  <a:srgbClr val="64786A"/>
                </a:solidFill>
                <a:latin typeface="Arial"/>
                <a:ea typeface="Arial"/>
                <a:cs typeface="Arial"/>
              </a:defRPr>
            </a:lvl4pPr>
            <a:lvl5pPr>
              <a:defRPr sz="1725" b="0">
                <a:solidFill>
                  <a:srgbClr val="64786A"/>
                </a:solidFill>
                <a:latin typeface="Arial"/>
                <a:ea typeface="Arial"/>
                <a:cs typeface="Arial"/>
              </a:defRPr>
            </a:lvl5pPr>
            <a:lvl6pPr>
              <a:defRPr sz="1725" b="0">
                <a:solidFill>
                  <a:srgbClr val="64786A"/>
                </a:solidFill>
                <a:latin typeface="Arial"/>
                <a:ea typeface="Arial"/>
                <a:cs typeface="Arial"/>
              </a:defRPr>
            </a:lvl6pPr>
            <a:lvl7pPr>
              <a:defRPr sz="1725" b="0">
                <a:solidFill>
                  <a:srgbClr val="64786A"/>
                </a:solidFill>
                <a:latin typeface="Arial"/>
                <a:ea typeface="Arial"/>
                <a:cs typeface="Arial"/>
              </a:defRPr>
            </a:lvl7pPr>
            <a:lvl8pPr>
              <a:defRPr sz="1725" b="0">
                <a:solidFill>
                  <a:srgbClr val="64786A"/>
                </a:solidFill>
                <a:latin typeface="Arial"/>
                <a:ea typeface="Arial"/>
                <a:cs typeface="Arial"/>
              </a:defRPr>
            </a:lvl8pPr>
            <a:lvl9pPr>
              <a:defRPr sz="1725" b="0">
                <a:solidFill>
                  <a:srgbClr val="64786A"/>
                </a:solidFill>
                <a:latin typeface="Arial"/>
                <a:ea typeface="Arial"/>
                <a:cs typeface="Arial"/>
              </a:defRPr>
            </a:lvl9pPr>
          </a:lstStyle>
          <a:p xmlns:a="http://schemas.openxmlformats.org/drawingml/2006/main">
            <a:pPr>
              <a:defRPr sz="1725" b="0">
                <a:solidFill>
                  <a:srgbClr val="64786A"/>
                </a:solidFill>
                <a:latin typeface="Arial"/>
                <a:ea typeface="Arial"/>
                <a:cs typeface="Arial"/>
              </a:defRPr>
            </a:pPr>
            <a:r>
              <a:rPr sz="1725" b="0">
                <a:solidFill>
                  <a:srgbClr val="64786A"/>
                </a:solidFill>
                <a:latin typeface="Arial"/>
                <a:ea typeface="Arial"/>
                <a:cs typeface="Arial"/>
              </a:rPr>
              <a:t>The current worker, scheduler and rate limiter assume one application process.</a:t>
            </a:r>
          </a:p>
        </p:txBody>
      </p:sp>
    </p:spTree>
    <p:extLst>
      <p:ext uri="{BB962C8B-B14F-4D97-AF65-F5344CB8AC3E}">
        <p14:creationId xmlns:p14="http://schemas.microsoft.com/office/powerpoint/2010/main" val="856860079"/>
      </p:ext>
    </p:extLst>
  </p:cSld>
</p:sld>
</file>

<file path=ppt/slides/slide15.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69D0314-77BA-4679-BAB9-2390F815705A}"/>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SECURITY AND COLLABORATION</a:t>
            </a:r>
          </a:p>
        </p:txBody>
      </p:sp>
      <p:sp>
        <p:nvSpPr>
          <p:cNvPr id="3" name="">
            <a:extLst xmlns:a="http://schemas.openxmlformats.org/drawingml/2006/main">
              <a:ext uri="{FF2B5EF4-FFF2-40B4-BE49-F238E27FC236}">
                <a16:creationId xmlns:a16="http://schemas.microsoft.com/office/drawing/2014/main" id="{8170D77D-96C0-4CEA-8454-83ED05997F9A}"/>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Workspace access and privacy</a:t>
            </a:r>
          </a:p>
        </p:txBody>
      </p:sp>
      <p:sp>
        <p:nvSpPr>
          <p:cNvPr id="4" name="">
            <a:extLst xmlns:a="http://schemas.openxmlformats.org/drawingml/2006/main">
              <a:ext uri="{FF2B5EF4-FFF2-40B4-BE49-F238E27FC236}">
                <a16:creationId xmlns:a16="http://schemas.microsoft.com/office/drawing/2014/main" id="{94A26CBA-7065-41A5-811E-689AD5BB7881}"/>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15</a:t>
            </a:r>
          </a:p>
        </p:txBody>
      </p:sp>
      <p:pic>
        <p:nvPicPr>
          <p:cNvPr id="5" name="">
            <a:extLst xmlns:a="http://schemas.openxmlformats.org/drawingml/2006/main">
              <a:ext uri="{FF2B5EF4-FFF2-40B4-BE49-F238E27FC236}">
                <a16:creationId xmlns:a16="http://schemas.microsoft.com/office/drawing/2014/main" id="{97550846-E3A0-4143-BBEF-5AD8043E1640}"/>
              </a:ext>
            </a:extLst>
          </p:cNvPr>
          <p:cNvPicPr>
            <a:picLocks xmlns:a="http://schemas.openxmlformats.org/drawingml/2006/main" noChangeAspect="1"/>
          </p:cNvPicPr>
          <p:nvPr/>
        </p:nvPicPr>
        <p:blipFill>
          <a:blip xmlns:r="http://schemas.openxmlformats.org/officeDocument/2006/relationships" xmlns:a="http://schemas.openxmlformats.org/drawingml/2006/main" r:embed="Raa33ef5bd57740b3"/>
          <a:stretch xmlns:a="http://schemas.openxmlformats.org/drawingml/2006/main"/>
        </p:blipFill>
        <p:spPr>
          <a:xfrm xmlns:a="http://schemas.openxmlformats.org/drawingml/2006/main">
            <a:off x="1038422" y="1495425"/>
            <a:ext cx="4876407" cy="45624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465D038-F9AC-4B20-9273-39A7D027B92B}"/>
              </a:ext>
            </a:extLst>
          </p:cNvPr>
          <p:cNvSpPr>
            <a:spLocks xmlns:a="http://schemas.openxmlformats.org/drawingml/2006/main" noGrp="1"/>
          </p:cNvSpPr>
          <p:nvPr/>
        </p:nvSpPr>
        <p:spPr>
          <a:xfrm xmlns:a="http://schemas.openxmlformats.org/drawingml/2006/main">
            <a:off x="609600" y="61436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Actual platform screenshot. Synthetic demo data.</a:t>
            </a:r>
          </a:p>
        </p:txBody>
      </p:sp>
      <p:sp>
        <p:nvSpPr>
          <p:cNvPr id="7" name="">
            <a:extLst xmlns:a="http://schemas.openxmlformats.org/drawingml/2006/main">
              <a:ext uri="{FF2B5EF4-FFF2-40B4-BE49-F238E27FC236}">
                <a16:creationId xmlns:a16="http://schemas.microsoft.com/office/drawing/2014/main" id="{9FDDA4F2-A436-4776-BA31-1C183C7A6E1F}"/>
              </a:ext>
            </a:extLst>
          </p:cNvPr>
          <p:cNvSpPr>
            <a:spLocks xmlns:a="http://schemas.openxmlformats.org/drawingml/2006/main" noGrp="1"/>
          </p:cNvSpPr>
          <p:nvPr/>
        </p:nvSpPr>
        <p:spPr>
          <a:xfrm xmlns:a="http://schemas.openxmlformats.org/drawingml/2006/main">
            <a:off x="6896100" y="164782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Role-based access</a:t>
            </a:r>
          </a:p>
        </p:txBody>
      </p:sp>
      <p:sp>
        <p:nvSpPr>
          <p:cNvPr id="8" name="">
            <a:extLst xmlns:a="http://schemas.openxmlformats.org/drawingml/2006/main">
              <a:ext uri="{FF2B5EF4-FFF2-40B4-BE49-F238E27FC236}">
                <a16:creationId xmlns:a16="http://schemas.microsoft.com/office/drawing/2014/main" id="{C7CA3E46-A28F-4B0D-945E-C9BD6A01E82C}"/>
              </a:ext>
            </a:extLst>
          </p:cNvPr>
          <p:cNvSpPr>
            <a:spLocks xmlns:a="http://schemas.openxmlformats.org/drawingml/2006/main" noGrp="1"/>
          </p:cNvSpPr>
          <p:nvPr/>
        </p:nvSpPr>
        <p:spPr>
          <a:xfrm xmlns:a="http://schemas.openxmlformats.org/drawingml/2006/main">
            <a:off x="6896100" y="21050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Owners manage members. Analysts edit. Viewers read.</a:t>
            </a:r>
          </a:p>
        </p:txBody>
      </p:sp>
      <p:sp>
        <p:nvSpPr>
          <p:cNvPr id="9" name="">
            <a:extLst xmlns:a="http://schemas.openxmlformats.org/drawingml/2006/main">
              <a:ext uri="{FF2B5EF4-FFF2-40B4-BE49-F238E27FC236}">
                <a16:creationId xmlns:a16="http://schemas.microsoft.com/office/drawing/2014/main" id="{164BA3A4-E012-4048-BC68-E7B9C2F7EEAD}"/>
              </a:ext>
            </a:extLst>
          </p:cNvPr>
          <p:cNvSpPr>
            <a:spLocks xmlns:a="http://schemas.openxmlformats.org/drawingml/2006/main" noGrp="1"/>
          </p:cNvSpPr>
          <p:nvPr/>
        </p:nvSpPr>
        <p:spPr>
          <a:xfrm xmlns:a="http://schemas.openxmlformats.org/drawingml/2006/main">
            <a:off x="6896100" y="31051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Workspace boundaries</a:t>
            </a:r>
          </a:p>
        </p:txBody>
      </p:sp>
      <p:sp>
        <p:nvSpPr>
          <p:cNvPr id="10" name="">
            <a:extLst xmlns:a="http://schemas.openxmlformats.org/drawingml/2006/main">
              <a:ext uri="{FF2B5EF4-FFF2-40B4-BE49-F238E27FC236}">
                <a16:creationId xmlns:a16="http://schemas.microsoft.com/office/drawing/2014/main" id="{8DFDA5F0-B8FB-48EA-A548-51F73C00A916}"/>
              </a:ext>
            </a:extLst>
          </p:cNvPr>
          <p:cNvSpPr>
            <a:spLocks xmlns:a="http://schemas.openxmlformats.org/drawingml/2006/main" noGrp="1"/>
          </p:cNvSpPr>
          <p:nvPr/>
        </p:nvSpPr>
        <p:spPr>
          <a:xfrm xmlns:a="http://schemas.openxmlformats.org/drawingml/2006/main">
            <a:off x="6896100" y="3562350"/>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Authorization scopes records, jobs and reports to workspace membership.</a:t>
            </a:r>
          </a:p>
        </p:txBody>
      </p:sp>
      <p:sp>
        <p:nvSpPr>
          <p:cNvPr id="11" name="">
            <a:extLst xmlns:a="http://schemas.openxmlformats.org/drawingml/2006/main">
              <a:ext uri="{FF2B5EF4-FFF2-40B4-BE49-F238E27FC236}">
                <a16:creationId xmlns:a16="http://schemas.microsoft.com/office/drawing/2014/main" id="{CEF65DF5-118C-4199-9B49-62C6090421A8}"/>
              </a:ext>
            </a:extLst>
          </p:cNvPr>
          <p:cNvSpPr>
            <a:spLocks xmlns:a="http://schemas.openxmlformats.org/drawingml/2006/main" noGrp="1"/>
          </p:cNvSpPr>
          <p:nvPr/>
        </p:nvSpPr>
        <p:spPr>
          <a:xfrm xmlns:a="http://schemas.openxmlformats.org/drawingml/2006/main">
            <a:off x="6896100" y="456247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Secrets and hosted AI</a:t>
            </a:r>
          </a:p>
        </p:txBody>
      </p:sp>
      <p:sp>
        <p:nvSpPr>
          <p:cNvPr id="12" name="">
            <a:extLst xmlns:a="http://schemas.openxmlformats.org/drawingml/2006/main">
              <a:ext uri="{FF2B5EF4-FFF2-40B4-BE49-F238E27FC236}">
                <a16:creationId xmlns:a16="http://schemas.microsoft.com/office/drawing/2014/main" id="{70F8C17D-A15F-47C2-9287-E7417955E6CE}"/>
              </a:ext>
            </a:extLst>
          </p:cNvPr>
          <p:cNvSpPr>
            <a:spLocks xmlns:a="http://schemas.openxmlformats.org/drawingml/2006/main" noGrp="1"/>
          </p:cNvSpPr>
          <p:nvPr/>
        </p:nvSpPr>
        <p:spPr>
          <a:xfrm xmlns:a="http://schemas.openxmlformats.org/drawingml/2006/main">
            <a:off x="6896100" y="501967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Keys stay in ignored local configuration. Groq receives only selected research excerpts.</a:t>
            </a:r>
          </a:p>
        </p:txBody>
      </p:sp>
    </p:spTree>
    <p:extLst>
      <p:ext uri="{BB962C8B-B14F-4D97-AF65-F5344CB8AC3E}">
        <p14:creationId xmlns:p14="http://schemas.microsoft.com/office/powerpoint/2010/main" val="319460567"/>
      </p:ext>
    </p:extLst>
  </p:cSld>
</p:sld>
</file>

<file path=ppt/slides/slide16.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8A74FF1-1B08-4114-A5B5-1A0A717E19CF}"/>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DELIVERY</a:t>
            </a:r>
          </a:p>
        </p:txBody>
      </p:sp>
      <p:sp>
        <p:nvSpPr>
          <p:cNvPr id="3" name="">
            <a:extLst xmlns:a="http://schemas.openxmlformats.org/drawingml/2006/main">
              <a:ext uri="{FF2B5EF4-FFF2-40B4-BE49-F238E27FC236}">
                <a16:creationId xmlns:a16="http://schemas.microsoft.com/office/drawing/2014/main" id="{17624ECB-12D6-4346-A027-D0E3A886AB8B}"/>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Deployment and verification</a:t>
            </a:r>
          </a:p>
        </p:txBody>
      </p:sp>
      <p:sp>
        <p:nvSpPr>
          <p:cNvPr id="4" name="">
            <a:extLst xmlns:a="http://schemas.openxmlformats.org/drawingml/2006/main">
              <a:ext uri="{FF2B5EF4-FFF2-40B4-BE49-F238E27FC236}">
                <a16:creationId xmlns:a16="http://schemas.microsoft.com/office/drawing/2014/main" id="{5F69CFE9-CD1C-4EEF-9D6D-69AE854D1689}"/>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BFABD46B-5414-471E-B610-C4F87E7537FA}"/>
              </a:ext>
            </a:extLst>
          </p:cNvPr>
          <p:cNvSpPr>
            <a:spLocks xmlns:a="http://schemas.openxmlformats.org/drawingml/2006/main" noGrp="1"/>
          </p:cNvSpPr>
          <p:nvPr/>
        </p:nvSpPr>
        <p:spPr>
          <a:xfrm xmlns:a="http://schemas.openxmlformats.org/drawingml/2006/main">
            <a:off x="609600" y="174307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Local execution</a:t>
            </a:r>
          </a:p>
        </p:txBody>
      </p:sp>
      <p:sp>
        <p:nvSpPr>
          <p:cNvPr id="6" name="">
            <a:extLst xmlns:a="http://schemas.openxmlformats.org/drawingml/2006/main">
              <a:ext uri="{FF2B5EF4-FFF2-40B4-BE49-F238E27FC236}">
                <a16:creationId xmlns:a16="http://schemas.microsoft.com/office/drawing/2014/main" id="{FFF5D79D-F6A3-4BFE-9461-F83E99300FB8}"/>
              </a:ext>
            </a:extLst>
          </p:cNvPr>
          <p:cNvSpPr>
            <a:spLocks xmlns:a="http://schemas.openxmlformats.org/drawingml/2006/main" noGrp="1"/>
          </p:cNvSpPr>
          <p:nvPr/>
        </p:nvSpPr>
        <p:spPr>
          <a:xfrm xmlns:a="http://schemas.openxmlformats.org/drawingml/2006/main">
            <a:off x="609600" y="2200275"/>
            <a:ext cx="519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Python 3.12, a virtual environment and the repository dependencies. Launch with python -m app.</a:t>
            </a:r>
          </a:p>
        </p:txBody>
      </p:sp>
      <p:sp>
        <p:nvSpPr>
          <p:cNvPr id="7" name="">
            <a:extLst xmlns:a="http://schemas.openxmlformats.org/drawingml/2006/main">
              <a:ext uri="{FF2B5EF4-FFF2-40B4-BE49-F238E27FC236}">
                <a16:creationId xmlns:a16="http://schemas.microsoft.com/office/drawing/2014/main" id="{87F7A511-3C8E-42BF-BCE2-AFB038952026}"/>
              </a:ext>
            </a:extLst>
          </p:cNvPr>
          <p:cNvSpPr>
            <a:spLocks xmlns:a="http://schemas.openxmlformats.org/drawingml/2006/main" noGrp="1"/>
          </p:cNvSpPr>
          <p:nvPr/>
        </p:nvSpPr>
        <p:spPr>
          <a:xfrm xmlns:a="http://schemas.openxmlformats.org/drawingml/2006/main">
            <a:off x="6705600" y="17430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Docker package</a:t>
            </a:r>
          </a:p>
        </p:txBody>
      </p:sp>
      <p:sp>
        <p:nvSpPr>
          <p:cNvPr id="8" name="">
            <a:extLst xmlns:a="http://schemas.openxmlformats.org/drawingml/2006/main">
              <a:ext uri="{FF2B5EF4-FFF2-40B4-BE49-F238E27FC236}">
                <a16:creationId xmlns:a16="http://schemas.microsoft.com/office/drawing/2014/main" id="{C548085D-F502-4217-8FB6-67F0CD79A367}"/>
              </a:ext>
            </a:extLst>
          </p:cNvPr>
          <p:cNvSpPr>
            <a:spLocks xmlns:a="http://schemas.openxmlformats.org/drawingml/2006/main" noGrp="1"/>
          </p:cNvSpPr>
          <p:nvPr/>
        </p:nvSpPr>
        <p:spPr>
          <a:xfrm xmlns:a="http://schemas.openxmlformats.org/drawingml/2006/main">
            <a:off x="6705600" y="22002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A non-root application image and PostgreSQL Compose configuration support a local deployment.</a:t>
            </a:r>
          </a:p>
        </p:txBody>
      </p:sp>
      <p:sp>
        <p:nvSpPr>
          <p:cNvPr id="9" name="">
            <a:extLst xmlns:a="http://schemas.openxmlformats.org/drawingml/2006/main">
              <a:ext uri="{FF2B5EF4-FFF2-40B4-BE49-F238E27FC236}">
                <a16:creationId xmlns:a16="http://schemas.microsoft.com/office/drawing/2014/main" id="{7B7EE43E-E6AF-4BD1-B74D-AA219A8BB54A}"/>
              </a:ext>
            </a:extLst>
          </p:cNvPr>
          <p:cNvSpPr>
            <a:spLocks xmlns:a="http://schemas.openxmlformats.org/drawingml/2006/main" noGrp="1"/>
          </p:cNvSpPr>
          <p:nvPr/>
        </p:nvSpPr>
        <p:spPr>
          <a:xfrm xmlns:a="http://schemas.openxmlformats.org/drawingml/2006/main">
            <a:off x="609600" y="3781425"/>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75" b="1">
                <a:solidFill>
                  <a:srgbClr val="153A32"/>
                </a:solidFill>
                <a:latin typeface="Arial"/>
                <a:ea typeface="Arial"/>
                <a:cs typeface="Arial"/>
              </a:defRPr>
            </a:defPPr>
            <a:lvl1pPr>
              <a:defRPr sz="4875" b="1">
                <a:solidFill>
                  <a:srgbClr val="153A32"/>
                </a:solidFill>
                <a:latin typeface="Arial"/>
                <a:ea typeface="Arial"/>
                <a:cs typeface="Arial"/>
              </a:defRPr>
            </a:lvl1pPr>
            <a:lvl2pPr>
              <a:defRPr sz="4875" b="1">
                <a:solidFill>
                  <a:srgbClr val="153A32"/>
                </a:solidFill>
                <a:latin typeface="Arial"/>
                <a:ea typeface="Arial"/>
                <a:cs typeface="Arial"/>
              </a:defRPr>
            </a:lvl2pPr>
            <a:lvl3pPr>
              <a:defRPr sz="4875" b="1">
                <a:solidFill>
                  <a:srgbClr val="153A32"/>
                </a:solidFill>
                <a:latin typeface="Arial"/>
                <a:ea typeface="Arial"/>
                <a:cs typeface="Arial"/>
              </a:defRPr>
            </a:lvl3pPr>
            <a:lvl4pPr>
              <a:defRPr sz="4875" b="1">
                <a:solidFill>
                  <a:srgbClr val="153A32"/>
                </a:solidFill>
                <a:latin typeface="Arial"/>
                <a:ea typeface="Arial"/>
                <a:cs typeface="Arial"/>
              </a:defRPr>
            </a:lvl4pPr>
            <a:lvl5pPr>
              <a:defRPr sz="4875" b="1">
                <a:solidFill>
                  <a:srgbClr val="153A32"/>
                </a:solidFill>
                <a:latin typeface="Arial"/>
                <a:ea typeface="Arial"/>
                <a:cs typeface="Arial"/>
              </a:defRPr>
            </a:lvl5pPr>
            <a:lvl6pPr>
              <a:defRPr sz="4875" b="1">
                <a:solidFill>
                  <a:srgbClr val="153A32"/>
                </a:solidFill>
                <a:latin typeface="Arial"/>
                <a:ea typeface="Arial"/>
                <a:cs typeface="Arial"/>
              </a:defRPr>
            </a:lvl6pPr>
            <a:lvl7pPr>
              <a:defRPr sz="4875" b="1">
                <a:solidFill>
                  <a:srgbClr val="153A32"/>
                </a:solidFill>
                <a:latin typeface="Arial"/>
                <a:ea typeface="Arial"/>
                <a:cs typeface="Arial"/>
              </a:defRPr>
            </a:lvl7pPr>
            <a:lvl8pPr>
              <a:defRPr sz="4875" b="1">
                <a:solidFill>
                  <a:srgbClr val="153A32"/>
                </a:solidFill>
                <a:latin typeface="Arial"/>
                <a:ea typeface="Arial"/>
                <a:cs typeface="Arial"/>
              </a:defRPr>
            </a:lvl8pPr>
            <a:lvl9pPr>
              <a:defRPr sz="4875" b="1">
                <a:solidFill>
                  <a:srgbClr val="153A32"/>
                </a:solidFill>
                <a:latin typeface="Arial"/>
                <a:ea typeface="Arial"/>
                <a:cs typeface="Arial"/>
              </a:defRPr>
            </a:lvl9pPr>
          </a:lstStyle>
          <a:p xmlns:a="http://schemas.openxmlformats.org/drawingml/2006/main">
            <a:pPr>
              <a:defRPr sz="4875" b="1">
                <a:solidFill>
                  <a:srgbClr val="153A32"/>
                </a:solidFill>
                <a:latin typeface="Arial"/>
                <a:ea typeface="Arial"/>
                <a:cs typeface="Arial"/>
              </a:defRPr>
            </a:pPr>
            <a:r>
              <a:rPr sz="4875" b="1">
                <a:solidFill>
                  <a:srgbClr val="153A32"/>
                </a:solidFill>
                <a:latin typeface="Arial"/>
                <a:ea typeface="Arial"/>
                <a:cs typeface="Arial"/>
              </a:rPr>
              <a:t>40 passed</a:t>
            </a:r>
          </a:p>
        </p:txBody>
      </p:sp>
      <p:sp>
        <p:nvSpPr>
          <p:cNvPr id="10" name="">
            <a:extLst xmlns:a="http://schemas.openxmlformats.org/drawingml/2006/main">
              <a:ext uri="{FF2B5EF4-FFF2-40B4-BE49-F238E27FC236}">
                <a16:creationId xmlns:a16="http://schemas.microsoft.com/office/drawing/2014/main" id="{9ABD630B-B26F-4E89-A1A8-C03F4B170F88}"/>
              </a:ext>
            </a:extLst>
          </p:cNvPr>
          <p:cNvSpPr>
            <a:spLocks xmlns:a="http://schemas.openxmlformats.org/drawingml/2006/main" noGrp="1"/>
          </p:cNvSpPr>
          <p:nvPr/>
        </p:nvSpPr>
        <p:spPr>
          <a:xfrm xmlns:a="http://schemas.openxmlformats.org/drawingml/2006/main">
            <a:off x="647700" y="4762500"/>
            <a:ext cx="5048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64786A"/>
                </a:solidFill>
                <a:latin typeface="Arial"/>
                <a:ea typeface="Arial"/>
                <a:cs typeface="Arial"/>
              </a:defRPr>
            </a:defPPr>
            <a:lvl1pPr>
              <a:defRPr sz="1950" b="0">
                <a:solidFill>
                  <a:srgbClr val="64786A"/>
                </a:solidFill>
                <a:latin typeface="Arial"/>
                <a:ea typeface="Arial"/>
                <a:cs typeface="Arial"/>
              </a:defRPr>
            </a:lvl1pPr>
            <a:lvl2pPr>
              <a:defRPr sz="1950" b="0">
                <a:solidFill>
                  <a:srgbClr val="64786A"/>
                </a:solidFill>
                <a:latin typeface="Arial"/>
                <a:ea typeface="Arial"/>
                <a:cs typeface="Arial"/>
              </a:defRPr>
            </a:lvl2pPr>
            <a:lvl3pPr>
              <a:defRPr sz="1950" b="0">
                <a:solidFill>
                  <a:srgbClr val="64786A"/>
                </a:solidFill>
                <a:latin typeface="Arial"/>
                <a:ea typeface="Arial"/>
                <a:cs typeface="Arial"/>
              </a:defRPr>
            </a:lvl3pPr>
            <a:lvl4pPr>
              <a:defRPr sz="1950" b="0">
                <a:solidFill>
                  <a:srgbClr val="64786A"/>
                </a:solidFill>
                <a:latin typeface="Arial"/>
                <a:ea typeface="Arial"/>
                <a:cs typeface="Arial"/>
              </a:defRPr>
            </a:lvl4pPr>
            <a:lvl5pPr>
              <a:defRPr sz="1950" b="0">
                <a:solidFill>
                  <a:srgbClr val="64786A"/>
                </a:solidFill>
                <a:latin typeface="Arial"/>
                <a:ea typeface="Arial"/>
                <a:cs typeface="Arial"/>
              </a:defRPr>
            </a:lvl5pPr>
            <a:lvl6pPr>
              <a:defRPr sz="1950" b="0">
                <a:solidFill>
                  <a:srgbClr val="64786A"/>
                </a:solidFill>
                <a:latin typeface="Arial"/>
                <a:ea typeface="Arial"/>
                <a:cs typeface="Arial"/>
              </a:defRPr>
            </a:lvl6pPr>
            <a:lvl7pPr>
              <a:defRPr sz="1950" b="0">
                <a:solidFill>
                  <a:srgbClr val="64786A"/>
                </a:solidFill>
                <a:latin typeface="Arial"/>
                <a:ea typeface="Arial"/>
                <a:cs typeface="Arial"/>
              </a:defRPr>
            </a:lvl7pPr>
            <a:lvl8pPr>
              <a:defRPr sz="1950" b="0">
                <a:solidFill>
                  <a:srgbClr val="64786A"/>
                </a:solidFill>
                <a:latin typeface="Arial"/>
                <a:ea typeface="Arial"/>
                <a:cs typeface="Arial"/>
              </a:defRPr>
            </a:lvl8pPr>
            <a:lvl9pPr>
              <a:defRPr sz="1950" b="0">
                <a:solidFill>
                  <a:srgbClr val="64786A"/>
                </a:solidFill>
                <a:latin typeface="Arial"/>
                <a:ea typeface="Arial"/>
                <a:cs typeface="Arial"/>
              </a:defRPr>
            </a:lvl9pPr>
          </a:lstStyle>
          <a:p xmlns:a="http://schemas.openxmlformats.org/drawingml/2006/main">
            <a:pPr>
              <a:defRPr sz="1950" b="0">
                <a:solidFill>
                  <a:srgbClr val="64786A"/>
                </a:solidFill>
                <a:latin typeface="Arial"/>
                <a:ea typeface="Arial"/>
                <a:cs typeface="Arial"/>
              </a:defRPr>
            </a:pPr>
            <a:r>
              <a:rPr sz="1950" b="0">
                <a:solidFill>
                  <a:srgbClr val="64786A"/>
                </a:solidFill>
                <a:latin typeface="Arial"/>
                <a:ea typeface="Arial"/>
                <a:cs typeface="Arial"/>
              </a:rPr>
              <a:t>Latest local regression run, with one optional model test skipped</a:t>
            </a:r>
          </a:p>
        </p:txBody>
      </p:sp>
      <p:sp>
        <p:nvSpPr>
          <p:cNvPr id="11" name="">
            <a:extLst xmlns:a="http://schemas.openxmlformats.org/drawingml/2006/main">
              <a:ext uri="{FF2B5EF4-FFF2-40B4-BE49-F238E27FC236}">
                <a16:creationId xmlns:a16="http://schemas.microsoft.com/office/drawing/2014/main" id="{8B46C242-5CEF-4EEB-8716-903B4DA624AC}"/>
              </a:ext>
            </a:extLst>
          </p:cNvPr>
          <p:cNvSpPr>
            <a:spLocks xmlns:a="http://schemas.openxmlformats.org/drawingml/2006/main" noGrp="1"/>
          </p:cNvSpPr>
          <p:nvPr/>
        </p:nvSpPr>
        <p:spPr>
          <a:xfrm xmlns:a="http://schemas.openxmlformats.org/drawingml/2006/main">
            <a:off x="6705600" y="3781425"/>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75" b="1">
                <a:solidFill>
                  <a:srgbClr val="153A32"/>
                </a:solidFill>
                <a:latin typeface="Arial"/>
                <a:ea typeface="Arial"/>
                <a:cs typeface="Arial"/>
              </a:defRPr>
            </a:defPPr>
            <a:lvl1pPr>
              <a:defRPr sz="3675" b="1">
                <a:solidFill>
                  <a:srgbClr val="153A32"/>
                </a:solidFill>
                <a:latin typeface="Arial"/>
                <a:ea typeface="Arial"/>
                <a:cs typeface="Arial"/>
              </a:defRPr>
            </a:lvl1pPr>
            <a:lvl2pPr>
              <a:defRPr sz="3675" b="1">
                <a:solidFill>
                  <a:srgbClr val="153A32"/>
                </a:solidFill>
                <a:latin typeface="Arial"/>
                <a:ea typeface="Arial"/>
                <a:cs typeface="Arial"/>
              </a:defRPr>
            </a:lvl2pPr>
            <a:lvl3pPr>
              <a:defRPr sz="3675" b="1">
                <a:solidFill>
                  <a:srgbClr val="153A32"/>
                </a:solidFill>
                <a:latin typeface="Arial"/>
                <a:ea typeface="Arial"/>
                <a:cs typeface="Arial"/>
              </a:defRPr>
            </a:lvl3pPr>
            <a:lvl4pPr>
              <a:defRPr sz="3675" b="1">
                <a:solidFill>
                  <a:srgbClr val="153A32"/>
                </a:solidFill>
                <a:latin typeface="Arial"/>
                <a:ea typeface="Arial"/>
                <a:cs typeface="Arial"/>
              </a:defRPr>
            </a:lvl4pPr>
            <a:lvl5pPr>
              <a:defRPr sz="3675" b="1">
                <a:solidFill>
                  <a:srgbClr val="153A32"/>
                </a:solidFill>
                <a:latin typeface="Arial"/>
                <a:ea typeface="Arial"/>
                <a:cs typeface="Arial"/>
              </a:defRPr>
            </a:lvl5pPr>
            <a:lvl6pPr>
              <a:defRPr sz="3675" b="1">
                <a:solidFill>
                  <a:srgbClr val="153A32"/>
                </a:solidFill>
                <a:latin typeface="Arial"/>
                <a:ea typeface="Arial"/>
                <a:cs typeface="Arial"/>
              </a:defRPr>
            </a:lvl6pPr>
            <a:lvl7pPr>
              <a:defRPr sz="3675" b="1">
                <a:solidFill>
                  <a:srgbClr val="153A32"/>
                </a:solidFill>
                <a:latin typeface="Arial"/>
                <a:ea typeface="Arial"/>
                <a:cs typeface="Arial"/>
              </a:defRPr>
            </a:lvl7pPr>
            <a:lvl8pPr>
              <a:defRPr sz="3675" b="1">
                <a:solidFill>
                  <a:srgbClr val="153A32"/>
                </a:solidFill>
                <a:latin typeface="Arial"/>
                <a:ea typeface="Arial"/>
                <a:cs typeface="Arial"/>
              </a:defRPr>
            </a:lvl8pPr>
            <a:lvl9pPr>
              <a:defRPr sz="3675" b="1">
                <a:solidFill>
                  <a:srgbClr val="153A32"/>
                </a:solidFill>
                <a:latin typeface="Arial"/>
                <a:ea typeface="Arial"/>
                <a:cs typeface="Arial"/>
              </a:defRPr>
            </a:lvl9pPr>
          </a:lstStyle>
          <a:p xmlns:a="http://schemas.openxmlformats.org/drawingml/2006/main">
            <a:pPr>
              <a:defRPr sz="3675" b="1">
                <a:solidFill>
                  <a:srgbClr val="153A32"/>
                </a:solidFill>
                <a:latin typeface="Arial"/>
                <a:ea typeface="Arial"/>
                <a:cs typeface="Arial"/>
              </a:defRPr>
            </a:pPr>
            <a:r>
              <a:rPr sz="3675" b="1">
                <a:solidFill>
                  <a:srgbClr val="153A32"/>
                </a:solidFill>
                <a:latin typeface="Arial"/>
                <a:ea typeface="Arial"/>
                <a:cs typeface="Arial"/>
              </a:rPr>
              <a:t>3 CI jobs passed</a:t>
            </a:r>
          </a:p>
        </p:txBody>
      </p:sp>
      <p:sp>
        <p:nvSpPr>
          <p:cNvPr id="12" name="">
            <a:extLst xmlns:a="http://schemas.openxmlformats.org/drawingml/2006/main">
              <a:ext uri="{FF2B5EF4-FFF2-40B4-BE49-F238E27FC236}">
                <a16:creationId xmlns:a16="http://schemas.microsoft.com/office/drawing/2014/main" id="{B14F8FA7-CDF6-49E1-BE7C-471E584EA81F}"/>
              </a:ext>
            </a:extLst>
          </p:cNvPr>
          <p:cNvSpPr>
            <a:spLocks xmlns:a="http://schemas.openxmlformats.org/drawingml/2006/main" noGrp="1"/>
          </p:cNvSpPr>
          <p:nvPr/>
        </p:nvSpPr>
        <p:spPr>
          <a:xfrm xmlns:a="http://schemas.openxmlformats.org/drawingml/2006/main">
            <a:off x="6734175" y="4762500"/>
            <a:ext cx="4667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64786A"/>
                </a:solidFill>
                <a:latin typeface="Arial"/>
                <a:ea typeface="Arial"/>
                <a:cs typeface="Arial"/>
              </a:defRPr>
            </a:defPPr>
            <a:lvl1pPr>
              <a:defRPr sz="1950" b="0">
                <a:solidFill>
                  <a:srgbClr val="64786A"/>
                </a:solidFill>
                <a:latin typeface="Arial"/>
                <a:ea typeface="Arial"/>
                <a:cs typeface="Arial"/>
              </a:defRPr>
            </a:lvl1pPr>
            <a:lvl2pPr>
              <a:defRPr sz="1950" b="0">
                <a:solidFill>
                  <a:srgbClr val="64786A"/>
                </a:solidFill>
                <a:latin typeface="Arial"/>
                <a:ea typeface="Arial"/>
                <a:cs typeface="Arial"/>
              </a:defRPr>
            </a:lvl2pPr>
            <a:lvl3pPr>
              <a:defRPr sz="1950" b="0">
                <a:solidFill>
                  <a:srgbClr val="64786A"/>
                </a:solidFill>
                <a:latin typeface="Arial"/>
                <a:ea typeface="Arial"/>
                <a:cs typeface="Arial"/>
              </a:defRPr>
            </a:lvl3pPr>
            <a:lvl4pPr>
              <a:defRPr sz="1950" b="0">
                <a:solidFill>
                  <a:srgbClr val="64786A"/>
                </a:solidFill>
                <a:latin typeface="Arial"/>
                <a:ea typeface="Arial"/>
                <a:cs typeface="Arial"/>
              </a:defRPr>
            </a:lvl4pPr>
            <a:lvl5pPr>
              <a:defRPr sz="1950" b="0">
                <a:solidFill>
                  <a:srgbClr val="64786A"/>
                </a:solidFill>
                <a:latin typeface="Arial"/>
                <a:ea typeface="Arial"/>
                <a:cs typeface="Arial"/>
              </a:defRPr>
            </a:lvl5pPr>
            <a:lvl6pPr>
              <a:defRPr sz="1950" b="0">
                <a:solidFill>
                  <a:srgbClr val="64786A"/>
                </a:solidFill>
                <a:latin typeface="Arial"/>
                <a:ea typeface="Arial"/>
                <a:cs typeface="Arial"/>
              </a:defRPr>
            </a:lvl6pPr>
            <a:lvl7pPr>
              <a:defRPr sz="1950" b="0">
                <a:solidFill>
                  <a:srgbClr val="64786A"/>
                </a:solidFill>
                <a:latin typeface="Arial"/>
                <a:ea typeface="Arial"/>
                <a:cs typeface="Arial"/>
              </a:defRPr>
            </a:lvl7pPr>
            <a:lvl8pPr>
              <a:defRPr sz="1950" b="0">
                <a:solidFill>
                  <a:srgbClr val="64786A"/>
                </a:solidFill>
                <a:latin typeface="Arial"/>
                <a:ea typeface="Arial"/>
                <a:cs typeface="Arial"/>
              </a:defRPr>
            </a:lvl8pPr>
            <a:lvl9pPr>
              <a:defRPr sz="1950" b="0">
                <a:solidFill>
                  <a:srgbClr val="64786A"/>
                </a:solidFill>
                <a:latin typeface="Arial"/>
                <a:ea typeface="Arial"/>
                <a:cs typeface="Arial"/>
              </a:defRPr>
            </a:lvl9pPr>
          </a:lstStyle>
          <a:p xmlns:a="http://schemas.openxmlformats.org/drawingml/2006/main">
            <a:pPr>
              <a:defRPr sz="1950" b="0">
                <a:solidFill>
                  <a:srgbClr val="64786A"/>
                </a:solidFill>
                <a:latin typeface="Arial"/>
                <a:ea typeface="Arial"/>
                <a:cs typeface="Arial"/>
              </a:defRPr>
            </a:pPr>
            <a:r>
              <a:rPr sz="1950" b="0">
                <a:solidFill>
                  <a:srgbClr val="64786A"/>
                </a:solidFill>
                <a:latin typeface="Arial"/>
                <a:ea typeface="Arial"/>
                <a:cs typeface="Arial"/>
              </a:rPr>
              <a:t>SQLite, PostgreSQL and container image build</a:t>
            </a:r>
          </a:p>
        </p:txBody>
      </p:sp>
      <p:sp>
        <p:nvSpPr>
          <p:cNvPr id="13" name="">
            <a:extLst xmlns:a="http://schemas.openxmlformats.org/drawingml/2006/main">
              <a:ext uri="{FF2B5EF4-FFF2-40B4-BE49-F238E27FC236}">
                <a16:creationId xmlns:a16="http://schemas.microsoft.com/office/drawing/2014/main" id="{2EEA69B6-D912-4636-9957-AB94E0DB30AD}"/>
              </a:ext>
            </a:extLst>
          </p:cNvPr>
          <p:cNvSpPr>
            <a:spLocks xmlns:a="http://schemas.openxmlformats.org/drawingml/2006/main" noGrp="1"/>
          </p:cNvSpPr>
          <p:nvPr/>
        </p:nvSpPr>
        <p:spPr>
          <a:xfrm xmlns:a="http://schemas.openxmlformats.org/drawingml/2006/main">
            <a:off x="609600" y="6010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64786A"/>
                </a:solidFill>
                <a:latin typeface="Arial"/>
                <a:ea typeface="Arial"/>
                <a:cs typeface="Arial"/>
              </a:defRPr>
            </a:defPPr>
            <a:lvl1pPr>
              <a:defRPr sz="1650" b="0">
                <a:solidFill>
                  <a:srgbClr val="64786A"/>
                </a:solidFill>
                <a:latin typeface="Arial"/>
                <a:ea typeface="Arial"/>
                <a:cs typeface="Arial"/>
              </a:defRPr>
            </a:lvl1pPr>
            <a:lvl2pPr>
              <a:defRPr sz="1650" b="0">
                <a:solidFill>
                  <a:srgbClr val="64786A"/>
                </a:solidFill>
                <a:latin typeface="Arial"/>
                <a:ea typeface="Arial"/>
                <a:cs typeface="Arial"/>
              </a:defRPr>
            </a:lvl2pPr>
            <a:lvl3pPr>
              <a:defRPr sz="1650" b="0">
                <a:solidFill>
                  <a:srgbClr val="64786A"/>
                </a:solidFill>
                <a:latin typeface="Arial"/>
                <a:ea typeface="Arial"/>
                <a:cs typeface="Arial"/>
              </a:defRPr>
            </a:lvl3pPr>
            <a:lvl4pPr>
              <a:defRPr sz="1650" b="0">
                <a:solidFill>
                  <a:srgbClr val="64786A"/>
                </a:solidFill>
                <a:latin typeface="Arial"/>
                <a:ea typeface="Arial"/>
                <a:cs typeface="Arial"/>
              </a:defRPr>
            </a:lvl4pPr>
            <a:lvl5pPr>
              <a:defRPr sz="1650" b="0">
                <a:solidFill>
                  <a:srgbClr val="64786A"/>
                </a:solidFill>
                <a:latin typeface="Arial"/>
                <a:ea typeface="Arial"/>
                <a:cs typeface="Arial"/>
              </a:defRPr>
            </a:lvl5pPr>
            <a:lvl6pPr>
              <a:defRPr sz="1650" b="0">
                <a:solidFill>
                  <a:srgbClr val="64786A"/>
                </a:solidFill>
                <a:latin typeface="Arial"/>
                <a:ea typeface="Arial"/>
                <a:cs typeface="Arial"/>
              </a:defRPr>
            </a:lvl6pPr>
            <a:lvl7pPr>
              <a:defRPr sz="1650" b="0">
                <a:solidFill>
                  <a:srgbClr val="64786A"/>
                </a:solidFill>
                <a:latin typeface="Arial"/>
                <a:ea typeface="Arial"/>
                <a:cs typeface="Arial"/>
              </a:defRPr>
            </a:lvl7pPr>
            <a:lvl8pPr>
              <a:defRPr sz="1650" b="0">
                <a:solidFill>
                  <a:srgbClr val="64786A"/>
                </a:solidFill>
                <a:latin typeface="Arial"/>
                <a:ea typeface="Arial"/>
                <a:cs typeface="Arial"/>
              </a:defRPr>
            </a:lvl8pPr>
            <a:lvl9pPr>
              <a:defRPr sz="1650" b="0">
                <a:solidFill>
                  <a:srgbClr val="64786A"/>
                </a:solidFill>
                <a:latin typeface="Arial"/>
                <a:ea typeface="Arial"/>
                <a:cs typeface="Arial"/>
              </a:defRPr>
            </a:lvl9pPr>
          </a:lstStyle>
          <a:p xmlns:a="http://schemas.openxmlformats.org/drawingml/2006/main">
            <a:pPr>
              <a:defRPr sz="1650" b="0">
                <a:solidFill>
                  <a:srgbClr val="64786A"/>
                </a:solidFill>
                <a:latin typeface="Arial"/>
                <a:ea typeface="Arial"/>
                <a:cs typeface="Arial"/>
              </a:defRPr>
            </a:pPr>
            <a:r>
              <a:rPr sz="1650" b="0">
                <a:solidFill>
                  <a:srgbClr val="64786A"/>
                </a:solidFill>
                <a:latin typeface="Arial"/>
                <a:ea typeface="Arial"/>
                <a:cs typeface="Arial"/>
              </a:rPr>
              <a:t>Live Groq generation and multilingual inference also passed separate smoke checks.</a:t>
            </a:r>
          </a:p>
        </p:txBody>
      </p:sp>
    </p:spTree>
    <p:extLst>
      <p:ext uri="{BB962C8B-B14F-4D97-AF65-F5344CB8AC3E}">
        <p14:creationId xmlns:p14="http://schemas.microsoft.com/office/powerpoint/2010/main" val="431307635"/>
      </p:ext>
    </p:extLst>
  </p:cSld>
</p:sld>
</file>

<file path=ppt/slides/slide17.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D08A47F-A289-4BDD-90ED-BCB19A47D88D}"/>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64786A"/>
                </a:solidFill>
                <a:latin typeface="Arial"/>
                <a:ea typeface="Arial"/>
                <a:cs typeface="Arial"/>
              </a:defRPr>
            </a:defPPr>
            <a:lvl1pPr>
              <a:defRPr sz="1125" b="1">
                <a:solidFill>
                  <a:srgbClr val="64786A"/>
                </a:solidFill>
                <a:latin typeface="Arial"/>
                <a:ea typeface="Arial"/>
                <a:cs typeface="Arial"/>
              </a:defRPr>
            </a:lvl1pPr>
            <a:lvl2pPr>
              <a:defRPr sz="1125" b="1">
                <a:solidFill>
                  <a:srgbClr val="64786A"/>
                </a:solidFill>
                <a:latin typeface="Arial"/>
                <a:ea typeface="Arial"/>
                <a:cs typeface="Arial"/>
              </a:defRPr>
            </a:lvl2pPr>
            <a:lvl3pPr>
              <a:defRPr sz="1125" b="1">
                <a:solidFill>
                  <a:srgbClr val="64786A"/>
                </a:solidFill>
                <a:latin typeface="Arial"/>
                <a:ea typeface="Arial"/>
                <a:cs typeface="Arial"/>
              </a:defRPr>
            </a:lvl3pPr>
            <a:lvl4pPr>
              <a:defRPr sz="1125" b="1">
                <a:solidFill>
                  <a:srgbClr val="64786A"/>
                </a:solidFill>
                <a:latin typeface="Arial"/>
                <a:ea typeface="Arial"/>
                <a:cs typeface="Arial"/>
              </a:defRPr>
            </a:lvl4pPr>
            <a:lvl5pPr>
              <a:defRPr sz="1125" b="1">
                <a:solidFill>
                  <a:srgbClr val="64786A"/>
                </a:solidFill>
                <a:latin typeface="Arial"/>
                <a:ea typeface="Arial"/>
                <a:cs typeface="Arial"/>
              </a:defRPr>
            </a:lvl5pPr>
            <a:lvl6pPr>
              <a:defRPr sz="1125" b="1">
                <a:solidFill>
                  <a:srgbClr val="64786A"/>
                </a:solidFill>
                <a:latin typeface="Arial"/>
                <a:ea typeface="Arial"/>
                <a:cs typeface="Arial"/>
              </a:defRPr>
            </a:lvl6pPr>
            <a:lvl7pPr>
              <a:defRPr sz="1125" b="1">
                <a:solidFill>
                  <a:srgbClr val="64786A"/>
                </a:solidFill>
                <a:latin typeface="Arial"/>
                <a:ea typeface="Arial"/>
                <a:cs typeface="Arial"/>
              </a:defRPr>
            </a:lvl7pPr>
            <a:lvl8pPr>
              <a:defRPr sz="1125" b="1">
                <a:solidFill>
                  <a:srgbClr val="64786A"/>
                </a:solidFill>
                <a:latin typeface="Arial"/>
                <a:ea typeface="Arial"/>
                <a:cs typeface="Arial"/>
              </a:defRPr>
            </a:lvl8pPr>
            <a:lvl9pPr>
              <a:defRPr sz="1125" b="1">
                <a:solidFill>
                  <a:srgbClr val="64786A"/>
                </a:solidFill>
                <a:latin typeface="Arial"/>
                <a:ea typeface="Arial"/>
                <a:cs typeface="Arial"/>
              </a:defRPr>
            </a:lvl9pPr>
          </a:lstStyle>
          <a:p xmlns:a="http://schemas.openxmlformats.org/drawingml/2006/main">
            <a:pPr>
              <a:defRPr sz="1125" b="1">
                <a:solidFill>
                  <a:srgbClr val="64786A"/>
                </a:solidFill>
                <a:latin typeface="Arial"/>
                <a:ea typeface="Arial"/>
                <a:cs typeface="Arial"/>
              </a:defRPr>
            </a:pPr>
            <a:r>
              <a:rPr sz="1125" b="1">
                <a:solidFill>
                  <a:srgbClr val="64786A"/>
                </a:solidFill>
                <a:latin typeface="Arial"/>
                <a:ea typeface="Arial"/>
                <a:cs typeface="Arial"/>
              </a:rPr>
              <a:t>PROJECT STATUS</a:t>
            </a:r>
          </a:p>
        </p:txBody>
      </p:sp>
      <p:sp>
        <p:nvSpPr>
          <p:cNvPr id="3" name="">
            <a:extLst xmlns:a="http://schemas.openxmlformats.org/drawingml/2006/main">
              <a:ext uri="{FF2B5EF4-FFF2-40B4-BE49-F238E27FC236}">
                <a16:creationId xmlns:a16="http://schemas.microsoft.com/office/drawing/2014/main" id="{0FF86203-9D52-460B-8D86-5E32B1A767E0}"/>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3A32"/>
                </a:solidFill>
                <a:latin typeface="Arial"/>
                <a:ea typeface="Arial"/>
                <a:cs typeface="Arial"/>
              </a:defRPr>
            </a:defPPr>
            <a:lvl1pPr>
              <a:defRPr sz="3300" b="1">
                <a:solidFill>
                  <a:srgbClr val="153A32"/>
                </a:solidFill>
                <a:latin typeface="Arial"/>
                <a:ea typeface="Arial"/>
                <a:cs typeface="Arial"/>
              </a:defRPr>
            </a:lvl1pPr>
            <a:lvl2pPr>
              <a:defRPr sz="3300" b="1">
                <a:solidFill>
                  <a:srgbClr val="153A32"/>
                </a:solidFill>
                <a:latin typeface="Arial"/>
                <a:ea typeface="Arial"/>
                <a:cs typeface="Arial"/>
              </a:defRPr>
            </a:lvl2pPr>
            <a:lvl3pPr>
              <a:defRPr sz="3300" b="1">
                <a:solidFill>
                  <a:srgbClr val="153A32"/>
                </a:solidFill>
                <a:latin typeface="Arial"/>
                <a:ea typeface="Arial"/>
                <a:cs typeface="Arial"/>
              </a:defRPr>
            </a:lvl3pPr>
            <a:lvl4pPr>
              <a:defRPr sz="3300" b="1">
                <a:solidFill>
                  <a:srgbClr val="153A32"/>
                </a:solidFill>
                <a:latin typeface="Arial"/>
                <a:ea typeface="Arial"/>
                <a:cs typeface="Arial"/>
              </a:defRPr>
            </a:lvl4pPr>
            <a:lvl5pPr>
              <a:defRPr sz="3300" b="1">
                <a:solidFill>
                  <a:srgbClr val="153A32"/>
                </a:solidFill>
                <a:latin typeface="Arial"/>
                <a:ea typeface="Arial"/>
                <a:cs typeface="Arial"/>
              </a:defRPr>
            </a:lvl5pPr>
            <a:lvl6pPr>
              <a:defRPr sz="3300" b="1">
                <a:solidFill>
                  <a:srgbClr val="153A32"/>
                </a:solidFill>
                <a:latin typeface="Arial"/>
                <a:ea typeface="Arial"/>
                <a:cs typeface="Arial"/>
              </a:defRPr>
            </a:lvl6pPr>
            <a:lvl7pPr>
              <a:defRPr sz="3300" b="1">
                <a:solidFill>
                  <a:srgbClr val="153A32"/>
                </a:solidFill>
                <a:latin typeface="Arial"/>
                <a:ea typeface="Arial"/>
                <a:cs typeface="Arial"/>
              </a:defRPr>
            </a:lvl7pPr>
            <a:lvl8pPr>
              <a:defRPr sz="3300" b="1">
                <a:solidFill>
                  <a:srgbClr val="153A32"/>
                </a:solidFill>
                <a:latin typeface="Arial"/>
                <a:ea typeface="Arial"/>
                <a:cs typeface="Arial"/>
              </a:defRPr>
            </a:lvl8pPr>
            <a:lvl9pPr>
              <a:defRPr sz="3300" b="1">
                <a:solidFill>
                  <a:srgbClr val="153A32"/>
                </a:solidFill>
                <a:latin typeface="Arial"/>
                <a:ea typeface="Arial"/>
                <a:cs typeface="Arial"/>
              </a:defRPr>
            </a:lvl9pPr>
          </a:lstStyle>
          <a:p xmlns:a="http://schemas.openxmlformats.org/drawingml/2006/main">
            <a:pPr>
              <a:defRPr sz="3300" b="1">
                <a:solidFill>
                  <a:srgbClr val="153A32"/>
                </a:solidFill>
                <a:latin typeface="Arial"/>
                <a:ea typeface="Arial"/>
                <a:cs typeface="Arial"/>
              </a:defRPr>
            </a:pPr>
            <a:r>
              <a:rPr sz="3300" b="1">
                <a:solidFill>
                  <a:srgbClr val="153A32"/>
                </a:solidFill>
                <a:latin typeface="Arial"/>
                <a:ea typeface="Arial"/>
                <a:cs typeface="Arial"/>
              </a:rPr>
              <a:t>Current limits and next priorities</a:t>
            </a:r>
          </a:p>
        </p:txBody>
      </p:sp>
      <p:sp>
        <p:nvSpPr>
          <p:cNvPr id="4" name="">
            <a:extLst xmlns:a="http://schemas.openxmlformats.org/drawingml/2006/main">
              <a:ext uri="{FF2B5EF4-FFF2-40B4-BE49-F238E27FC236}">
                <a16:creationId xmlns:a16="http://schemas.microsoft.com/office/drawing/2014/main" id="{85193B0B-7925-4720-B9C9-823F06C9C002}"/>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4786A"/>
                </a:solidFill>
                <a:latin typeface="Arial"/>
                <a:ea typeface="Arial"/>
                <a:cs typeface="Arial"/>
              </a:defRPr>
            </a:defPPr>
            <a:lvl1pPr>
              <a:defRPr sz="1125" b="0">
                <a:solidFill>
                  <a:srgbClr val="64786A"/>
                </a:solidFill>
                <a:latin typeface="Arial"/>
                <a:ea typeface="Arial"/>
                <a:cs typeface="Arial"/>
              </a:defRPr>
            </a:lvl1pPr>
            <a:lvl2pPr>
              <a:defRPr sz="1125" b="0">
                <a:solidFill>
                  <a:srgbClr val="64786A"/>
                </a:solidFill>
                <a:latin typeface="Arial"/>
                <a:ea typeface="Arial"/>
                <a:cs typeface="Arial"/>
              </a:defRPr>
            </a:lvl2pPr>
            <a:lvl3pPr>
              <a:defRPr sz="1125" b="0">
                <a:solidFill>
                  <a:srgbClr val="64786A"/>
                </a:solidFill>
                <a:latin typeface="Arial"/>
                <a:ea typeface="Arial"/>
                <a:cs typeface="Arial"/>
              </a:defRPr>
            </a:lvl3pPr>
            <a:lvl4pPr>
              <a:defRPr sz="1125" b="0">
                <a:solidFill>
                  <a:srgbClr val="64786A"/>
                </a:solidFill>
                <a:latin typeface="Arial"/>
                <a:ea typeface="Arial"/>
                <a:cs typeface="Arial"/>
              </a:defRPr>
            </a:lvl4pPr>
            <a:lvl5pPr>
              <a:defRPr sz="1125" b="0">
                <a:solidFill>
                  <a:srgbClr val="64786A"/>
                </a:solidFill>
                <a:latin typeface="Arial"/>
                <a:ea typeface="Arial"/>
                <a:cs typeface="Arial"/>
              </a:defRPr>
            </a:lvl5pPr>
            <a:lvl6pPr>
              <a:defRPr sz="1125" b="0">
                <a:solidFill>
                  <a:srgbClr val="64786A"/>
                </a:solidFill>
                <a:latin typeface="Arial"/>
                <a:ea typeface="Arial"/>
                <a:cs typeface="Arial"/>
              </a:defRPr>
            </a:lvl6pPr>
            <a:lvl7pPr>
              <a:defRPr sz="1125" b="0">
                <a:solidFill>
                  <a:srgbClr val="64786A"/>
                </a:solidFill>
                <a:latin typeface="Arial"/>
                <a:ea typeface="Arial"/>
                <a:cs typeface="Arial"/>
              </a:defRPr>
            </a:lvl7pPr>
            <a:lvl8pPr>
              <a:defRPr sz="1125" b="0">
                <a:solidFill>
                  <a:srgbClr val="64786A"/>
                </a:solidFill>
                <a:latin typeface="Arial"/>
                <a:ea typeface="Arial"/>
                <a:cs typeface="Arial"/>
              </a:defRPr>
            </a:lvl8pPr>
            <a:lvl9pPr>
              <a:defRPr sz="1125" b="0">
                <a:solidFill>
                  <a:srgbClr val="64786A"/>
                </a:solidFill>
                <a:latin typeface="Arial"/>
                <a:ea typeface="Arial"/>
                <a:cs typeface="Arial"/>
              </a:defRPr>
            </a:lvl9pPr>
          </a:lstStyle>
          <a:p xmlns:a="http://schemas.openxmlformats.org/drawingml/2006/main">
            <a:pPr>
              <a:defRPr sz="1125" b="0">
                <a:solidFill>
                  <a:srgbClr val="64786A"/>
                </a:solidFill>
                <a:latin typeface="Arial"/>
                <a:ea typeface="Arial"/>
                <a:cs typeface="Arial"/>
              </a:defRPr>
            </a:pPr>
            <a:r>
              <a:rPr sz="1125" b="0">
                <a:solidFill>
                  <a:srgbClr val="64786A"/>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4C579600-6B09-4920-8217-CA23753178AF}"/>
              </a:ext>
            </a:extLst>
          </p:cNvPr>
          <p:cNvSpPr>
            <a:spLocks xmlns:a="http://schemas.openxmlformats.org/drawingml/2006/main" noGrp="1"/>
          </p:cNvSpPr>
          <p:nvPr/>
        </p:nvSpPr>
        <p:spPr>
          <a:xfrm xmlns:a="http://schemas.openxmlformats.org/drawingml/2006/main">
            <a:off x="609600" y="17335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Analysis quality</a:t>
            </a:r>
          </a:p>
        </p:txBody>
      </p:sp>
      <p:sp>
        <p:nvSpPr>
          <p:cNvPr id="6" name="">
            <a:extLst xmlns:a="http://schemas.openxmlformats.org/drawingml/2006/main">
              <a:ext uri="{FF2B5EF4-FFF2-40B4-BE49-F238E27FC236}">
                <a16:creationId xmlns:a16="http://schemas.microsoft.com/office/drawing/2014/main" id="{591A4DE9-6034-403D-BA7E-8EB211E97A9E}"/>
              </a:ext>
            </a:extLst>
          </p:cNvPr>
          <p:cNvSpPr>
            <a:spLocks xmlns:a="http://schemas.openxmlformats.org/drawingml/2006/main" noGrp="1"/>
          </p:cNvSpPr>
          <p:nvPr/>
        </p:nvSpPr>
        <p:spPr>
          <a:xfrm xmlns:a="http://schemas.openxmlformats.org/drawingml/2006/main">
            <a:off x="609600" y="219075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Build representative evaluation datasets and measure performance by language and domain.</a:t>
            </a:r>
          </a:p>
        </p:txBody>
      </p:sp>
      <p:sp>
        <p:nvSpPr>
          <p:cNvPr id="7" name="">
            <a:extLst xmlns:a="http://schemas.openxmlformats.org/drawingml/2006/main">
              <a:ext uri="{FF2B5EF4-FFF2-40B4-BE49-F238E27FC236}">
                <a16:creationId xmlns:a16="http://schemas.microsoft.com/office/drawing/2014/main" id="{A09E9EA7-D733-4ED3-A985-6AE992D70760}"/>
              </a:ext>
            </a:extLst>
          </p:cNvPr>
          <p:cNvSpPr>
            <a:spLocks xmlns:a="http://schemas.openxmlformats.org/drawingml/2006/main" noGrp="1"/>
          </p:cNvSpPr>
          <p:nvPr/>
        </p:nvSpPr>
        <p:spPr>
          <a:xfrm xmlns:a="http://schemas.openxmlformats.org/drawingml/2006/main">
            <a:off x="6705600" y="17335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Broader listening</a:t>
            </a:r>
          </a:p>
        </p:txBody>
      </p:sp>
      <p:sp>
        <p:nvSpPr>
          <p:cNvPr id="8" name="">
            <a:extLst xmlns:a="http://schemas.openxmlformats.org/drawingml/2006/main">
              <a:ext uri="{FF2B5EF4-FFF2-40B4-BE49-F238E27FC236}">
                <a16:creationId xmlns:a16="http://schemas.microsoft.com/office/drawing/2014/main" id="{266A6E9F-E785-40E1-8108-75E294CF25C8}"/>
              </a:ext>
            </a:extLst>
          </p:cNvPr>
          <p:cNvSpPr>
            <a:spLocks xmlns:a="http://schemas.openxmlformats.org/drawingml/2006/main" noGrp="1"/>
          </p:cNvSpPr>
          <p:nvPr/>
        </p:nvSpPr>
        <p:spPr>
          <a:xfrm xmlns:a="http://schemas.openxmlformats.org/drawingml/2006/main">
            <a:off x="6705600" y="219075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Add approved provider integrations, incremental sync and deletion propagation.</a:t>
            </a:r>
          </a:p>
        </p:txBody>
      </p:sp>
      <p:sp>
        <p:nvSpPr>
          <p:cNvPr id="9" name="">
            <a:extLst xmlns:a="http://schemas.openxmlformats.org/drawingml/2006/main">
              <a:ext uri="{FF2B5EF4-FFF2-40B4-BE49-F238E27FC236}">
                <a16:creationId xmlns:a16="http://schemas.microsoft.com/office/drawing/2014/main" id="{B82C70C6-61D2-40AD-8EDF-463CF8600950}"/>
              </a:ext>
            </a:extLst>
          </p:cNvPr>
          <p:cNvSpPr>
            <a:spLocks xmlns:a="http://schemas.openxmlformats.org/drawingml/2006/main" noGrp="1"/>
          </p:cNvSpPr>
          <p:nvPr/>
        </p:nvSpPr>
        <p:spPr>
          <a:xfrm xmlns:a="http://schemas.openxmlformats.org/drawingml/2006/main">
            <a:off x="609600" y="37147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Production operations</a:t>
            </a:r>
          </a:p>
        </p:txBody>
      </p:sp>
      <p:sp>
        <p:nvSpPr>
          <p:cNvPr id="10" name="">
            <a:extLst xmlns:a="http://schemas.openxmlformats.org/drawingml/2006/main">
              <a:ext uri="{FF2B5EF4-FFF2-40B4-BE49-F238E27FC236}">
                <a16:creationId xmlns:a16="http://schemas.microsoft.com/office/drawing/2014/main" id="{404D2513-4D83-4B2A-8F72-116FCE97E74C}"/>
              </a:ext>
            </a:extLst>
          </p:cNvPr>
          <p:cNvSpPr>
            <a:spLocks xmlns:a="http://schemas.openxmlformats.org/drawingml/2006/main" noGrp="1"/>
          </p:cNvSpPr>
          <p:nvPr/>
        </p:nvSpPr>
        <p:spPr>
          <a:xfrm xmlns:a="http://schemas.openxmlformats.org/drawingml/2006/main">
            <a:off x="609600" y="417195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Introduce distributed workers, shared rate limiting, migrations and larger dataset support.</a:t>
            </a:r>
          </a:p>
        </p:txBody>
      </p:sp>
      <p:sp>
        <p:nvSpPr>
          <p:cNvPr id="11" name="">
            <a:extLst xmlns:a="http://schemas.openxmlformats.org/drawingml/2006/main">
              <a:ext uri="{FF2B5EF4-FFF2-40B4-BE49-F238E27FC236}">
                <a16:creationId xmlns:a16="http://schemas.microsoft.com/office/drawing/2014/main" id="{C32799E6-4C52-4F26-8793-A56896E08B6C}"/>
              </a:ext>
            </a:extLst>
          </p:cNvPr>
          <p:cNvSpPr>
            <a:spLocks xmlns:a="http://schemas.openxmlformats.org/drawingml/2006/main" noGrp="1"/>
          </p:cNvSpPr>
          <p:nvPr/>
        </p:nvSpPr>
        <p:spPr>
          <a:xfrm xmlns:a="http://schemas.openxmlformats.org/drawingml/2006/main">
            <a:off x="6705600" y="37147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53A32"/>
                </a:solidFill>
                <a:latin typeface="Arial"/>
                <a:ea typeface="Arial"/>
                <a:cs typeface="Arial"/>
              </a:defRPr>
            </a:defPPr>
            <a:lvl1pPr>
              <a:defRPr sz="2175" b="1">
                <a:solidFill>
                  <a:srgbClr val="153A32"/>
                </a:solidFill>
                <a:latin typeface="Arial"/>
                <a:ea typeface="Arial"/>
                <a:cs typeface="Arial"/>
              </a:defRPr>
            </a:lvl1pPr>
            <a:lvl2pPr>
              <a:defRPr sz="2175" b="1">
                <a:solidFill>
                  <a:srgbClr val="153A32"/>
                </a:solidFill>
                <a:latin typeface="Arial"/>
                <a:ea typeface="Arial"/>
                <a:cs typeface="Arial"/>
              </a:defRPr>
            </a:lvl2pPr>
            <a:lvl3pPr>
              <a:defRPr sz="2175" b="1">
                <a:solidFill>
                  <a:srgbClr val="153A32"/>
                </a:solidFill>
                <a:latin typeface="Arial"/>
                <a:ea typeface="Arial"/>
                <a:cs typeface="Arial"/>
              </a:defRPr>
            </a:lvl3pPr>
            <a:lvl4pPr>
              <a:defRPr sz="2175" b="1">
                <a:solidFill>
                  <a:srgbClr val="153A32"/>
                </a:solidFill>
                <a:latin typeface="Arial"/>
                <a:ea typeface="Arial"/>
                <a:cs typeface="Arial"/>
              </a:defRPr>
            </a:lvl4pPr>
            <a:lvl5pPr>
              <a:defRPr sz="2175" b="1">
                <a:solidFill>
                  <a:srgbClr val="153A32"/>
                </a:solidFill>
                <a:latin typeface="Arial"/>
                <a:ea typeface="Arial"/>
                <a:cs typeface="Arial"/>
              </a:defRPr>
            </a:lvl5pPr>
            <a:lvl6pPr>
              <a:defRPr sz="2175" b="1">
                <a:solidFill>
                  <a:srgbClr val="153A32"/>
                </a:solidFill>
                <a:latin typeface="Arial"/>
                <a:ea typeface="Arial"/>
                <a:cs typeface="Arial"/>
              </a:defRPr>
            </a:lvl6pPr>
            <a:lvl7pPr>
              <a:defRPr sz="2175" b="1">
                <a:solidFill>
                  <a:srgbClr val="153A32"/>
                </a:solidFill>
                <a:latin typeface="Arial"/>
                <a:ea typeface="Arial"/>
                <a:cs typeface="Arial"/>
              </a:defRPr>
            </a:lvl7pPr>
            <a:lvl8pPr>
              <a:defRPr sz="2175" b="1">
                <a:solidFill>
                  <a:srgbClr val="153A32"/>
                </a:solidFill>
                <a:latin typeface="Arial"/>
                <a:ea typeface="Arial"/>
                <a:cs typeface="Arial"/>
              </a:defRPr>
            </a:lvl8pPr>
            <a:lvl9pPr>
              <a:defRPr sz="2175" b="1">
                <a:solidFill>
                  <a:srgbClr val="153A32"/>
                </a:solidFill>
                <a:latin typeface="Arial"/>
                <a:ea typeface="Arial"/>
                <a:cs typeface="Arial"/>
              </a:defRPr>
            </a:lvl9pPr>
          </a:lstStyle>
          <a:p xmlns:a="http://schemas.openxmlformats.org/drawingml/2006/main">
            <a:pPr>
              <a:defRPr sz="2175" b="1">
                <a:solidFill>
                  <a:srgbClr val="153A32"/>
                </a:solidFill>
                <a:latin typeface="Arial"/>
                <a:ea typeface="Arial"/>
                <a:cs typeface="Arial"/>
              </a:defRPr>
            </a:pPr>
            <a:r>
              <a:rPr sz="2175" b="1">
                <a:solidFill>
                  <a:srgbClr val="153A32"/>
                </a:solidFill>
                <a:latin typeface="Arial"/>
                <a:ea typeface="Arial"/>
                <a:cs typeface="Arial"/>
              </a:rPr>
              <a:t>Account administration</a:t>
            </a:r>
          </a:p>
        </p:txBody>
      </p:sp>
      <p:sp>
        <p:nvSpPr>
          <p:cNvPr id="12" name="">
            <a:extLst xmlns:a="http://schemas.openxmlformats.org/drawingml/2006/main">
              <a:ext uri="{FF2B5EF4-FFF2-40B4-BE49-F238E27FC236}">
                <a16:creationId xmlns:a16="http://schemas.microsoft.com/office/drawing/2014/main" id="{08BF8B1C-C08B-4975-B7EB-1E6716694563}"/>
              </a:ext>
            </a:extLst>
          </p:cNvPr>
          <p:cNvSpPr>
            <a:spLocks xmlns:a="http://schemas.openxmlformats.org/drawingml/2006/main" noGrp="1"/>
          </p:cNvSpPr>
          <p:nvPr/>
        </p:nvSpPr>
        <p:spPr>
          <a:xfrm xmlns:a="http://schemas.openxmlformats.org/drawingml/2006/main">
            <a:off x="6705600" y="417195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4786A"/>
                </a:solidFill>
                <a:latin typeface="Arial"/>
                <a:ea typeface="Arial"/>
                <a:cs typeface="Arial"/>
              </a:defRPr>
            </a:defPPr>
            <a:lvl1pPr>
              <a:defRPr sz="1875" b="0">
                <a:solidFill>
                  <a:srgbClr val="64786A"/>
                </a:solidFill>
                <a:latin typeface="Arial"/>
                <a:ea typeface="Arial"/>
                <a:cs typeface="Arial"/>
              </a:defRPr>
            </a:lvl1pPr>
            <a:lvl2pPr>
              <a:defRPr sz="1875" b="0">
                <a:solidFill>
                  <a:srgbClr val="64786A"/>
                </a:solidFill>
                <a:latin typeface="Arial"/>
                <a:ea typeface="Arial"/>
                <a:cs typeface="Arial"/>
              </a:defRPr>
            </a:lvl2pPr>
            <a:lvl3pPr>
              <a:defRPr sz="1875" b="0">
                <a:solidFill>
                  <a:srgbClr val="64786A"/>
                </a:solidFill>
                <a:latin typeface="Arial"/>
                <a:ea typeface="Arial"/>
                <a:cs typeface="Arial"/>
              </a:defRPr>
            </a:lvl3pPr>
            <a:lvl4pPr>
              <a:defRPr sz="1875" b="0">
                <a:solidFill>
                  <a:srgbClr val="64786A"/>
                </a:solidFill>
                <a:latin typeface="Arial"/>
                <a:ea typeface="Arial"/>
                <a:cs typeface="Arial"/>
              </a:defRPr>
            </a:lvl4pPr>
            <a:lvl5pPr>
              <a:defRPr sz="1875" b="0">
                <a:solidFill>
                  <a:srgbClr val="64786A"/>
                </a:solidFill>
                <a:latin typeface="Arial"/>
                <a:ea typeface="Arial"/>
                <a:cs typeface="Arial"/>
              </a:defRPr>
            </a:lvl5pPr>
            <a:lvl6pPr>
              <a:defRPr sz="1875" b="0">
                <a:solidFill>
                  <a:srgbClr val="64786A"/>
                </a:solidFill>
                <a:latin typeface="Arial"/>
                <a:ea typeface="Arial"/>
                <a:cs typeface="Arial"/>
              </a:defRPr>
            </a:lvl6pPr>
            <a:lvl7pPr>
              <a:defRPr sz="1875" b="0">
                <a:solidFill>
                  <a:srgbClr val="64786A"/>
                </a:solidFill>
                <a:latin typeface="Arial"/>
                <a:ea typeface="Arial"/>
                <a:cs typeface="Arial"/>
              </a:defRPr>
            </a:lvl7pPr>
            <a:lvl8pPr>
              <a:defRPr sz="1875" b="0">
                <a:solidFill>
                  <a:srgbClr val="64786A"/>
                </a:solidFill>
                <a:latin typeface="Arial"/>
                <a:ea typeface="Arial"/>
                <a:cs typeface="Arial"/>
              </a:defRPr>
            </a:lvl8pPr>
            <a:lvl9pPr>
              <a:defRPr sz="1875" b="0">
                <a:solidFill>
                  <a:srgbClr val="64786A"/>
                </a:solidFill>
                <a:latin typeface="Arial"/>
                <a:ea typeface="Arial"/>
                <a:cs typeface="Arial"/>
              </a:defRPr>
            </a:lvl9pPr>
          </a:lstStyle>
          <a:p xmlns:a="http://schemas.openxmlformats.org/drawingml/2006/main">
            <a:pPr>
              <a:defRPr sz="1875" b="0">
                <a:solidFill>
                  <a:srgbClr val="64786A"/>
                </a:solidFill>
                <a:latin typeface="Arial"/>
                <a:ea typeface="Arial"/>
                <a:cs typeface="Arial"/>
              </a:defRPr>
            </a:pPr>
            <a:r>
              <a:rPr sz="1875" b="0">
                <a:solidFill>
                  <a:srgbClr val="64786A"/>
                </a:solidFill>
                <a:latin typeface="Arial"/>
                <a:ea typeface="Arial"/>
                <a:cs typeface="Arial"/>
              </a:rPr>
              <a:t>Add password recovery, SSO, retention controls and optional email notifications.</a:t>
            </a:r>
          </a:p>
        </p:txBody>
      </p:sp>
      <p:sp>
        <p:nvSpPr>
          <p:cNvPr id="13" name="">
            <a:extLst xmlns:a="http://schemas.openxmlformats.org/drawingml/2006/main">
              <a:ext uri="{FF2B5EF4-FFF2-40B4-BE49-F238E27FC236}">
                <a16:creationId xmlns:a16="http://schemas.microsoft.com/office/drawing/2014/main" id="{9DE583E0-DB58-486D-BC35-875A959C5CBC}"/>
              </a:ext>
            </a:extLst>
          </p:cNvPr>
          <p:cNvSpPr>
            <a:spLocks xmlns:a="http://schemas.openxmlformats.org/drawingml/2006/main" noGrp="1"/>
          </p:cNvSpPr>
          <p:nvPr/>
        </p:nvSpPr>
        <p:spPr>
          <a:xfrm xmlns:a="http://schemas.openxmlformats.org/drawingml/2006/main">
            <a:off x="609600" y="5953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153A32"/>
                </a:solidFill>
                <a:latin typeface="Arial"/>
                <a:ea typeface="Arial"/>
                <a:cs typeface="Arial"/>
              </a:defRPr>
            </a:defPPr>
            <a:lvl1pPr>
              <a:defRPr sz="1950" b="1">
                <a:solidFill>
                  <a:srgbClr val="153A32"/>
                </a:solidFill>
                <a:latin typeface="Arial"/>
                <a:ea typeface="Arial"/>
                <a:cs typeface="Arial"/>
              </a:defRPr>
            </a:lvl1pPr>
            <a:lvl2pPr>
              <a:defRPr sz="1950" b="1">
                <a:solidFill>
                  <a:srgbClr val="153A32"/>
                </a:solidFill>
                <a:latin typeface="Arial"/>
                <a:ea typeface="Arial"/>
                <a:cs typeface="Arial"/>
              </a:defRPr>
            </a:lvl2pPr>
            <a:lvl3pPr>
              <a:defRPr sz="1950" b="1">
                <a:solidFill>
                  <a:srgbClr val="153A32"/>
                </a:solidFill>
                <a:latin typeface="Arial"/>
                <a:ea typeface="Arial"/>
                <a:cs typeface="Arial"/>
              </a:defRPr>
            </a:lvl3pPr>
            <a:lvl4pPr>
              <a:defRPr sz="1950" b="1">
                <a:solidFill>
                  <a:srgbClr val="153A32"/>
                </a:solidFill>
                <a:latin typeface="Arial"/>
                <a:ea typeface="Arial"/>
                <a:cs typeface="Arial"/>
              </a:defRPr>
            </a:lvl4pPr>
            <a:lvl5pPr>
              <a:defRPr sz="1950" b="1">
                <a:solidFill>
                  <a:srgbClr val="153A32"/>
                </a:solidFill>
                <a:latin typeface="Arial"/>
                <a:ea typeface="Arial"/>
                <a:cs typeface="Arial"/>
              </a:defRPr>
            </a:lvl5pPr>
            <a:lvl6pPr>
              <a:defRPr sz="1950" b="1">
                <a:solidFill>
                  <a:srgbClr val="153A32"/>
                </a:solidFill>
                <a:latin typeface="Arial"/>
                <a:ea typeface="Arial"/>
                <a:cs typeface="Arial"/>
              </a:defRPr>
            </a:lvl6pPr>
            <a:lvl7pPr>
              <a:defRPr sz="1950" b="1">
                <a:solidFill>
                  <a:srgbClr val="153A32"/>
                </a:solidFill>
                <a:latin typeface="Arial"/>
                <a:ea typeface="Arial"/>
                <a:cs typeface="Arial"/>
              </a:defRPr>
            </a:lvl7pPr>
            <a:lvl8pPr>
              <a:defRPr sz="1950" b="1">
                <a:solidFill>
                  <a:srgbClr val="153A32"/>
                </a:solidFill>
                <a:latin typeface="Arial"/>
                <a:ea typeface="Arial"/>
                <a:cs typeface="Arial"/>
              </a:defRPr>
            </a:lvl8pPr>
            <a:lvl9pPr>
              <a:defRPr sz="1950" b="1">
                <a:solidFill>
                  <a:srgbClr val="153A32"/>
                </a:solidFill>
                <a:latin typeface="Arial"/>
                <a:ea typeface="Arial"/>
                <a:cs typeface="Arial"/>
              </a:defRPr>
            </a:lvl9pPr>
          </a:lstStyle>
          <a:p xmlns:a="http://schemas.openxmlformats.org/drawingml/2006/main">
            <a:pPr>
              <a:defRPr sz="1950" b="1">
                <a:solidFill>
                  <a:srgbClr val="153A32"/>
                </a:solidFill>
                <a:latin typeface="Arial"/>
                <a:ea typeface="Arial"/>
                <a:cs typeface="Arial"/>
              </a:defRPr>
            </a:pPr>
            <a:r>
              <a:rPr sz="1950" b="1">
                <a:solidFill>
                  <a:srgbClr val="153A32"/>
                </a:solidFill>
                <a:latin typeface="Arial"/>
                <a:ea typeface="Arial"/>
                <a:cs typeface="Arial"/>
              </a:rPr>
              <a:t>The current release targets local use and requires human review of AI estimates.</a:t>
            </a:r>
          </a:p>
        </p:txBody>
      </p:sp>
    </p:spTree>
    <p:extLst>
      <p:ext uri="{BB962C8B-B14F-4D97-AF65-F5344CB8AC3E}">
        <p14:creationId xmlns:p14="http://schemas.microsoft.com/office/powerpoint/2010/main" val="1692178651"/>
      </p:ext>
    </p:extLst>
  </p:cSld>
</p:sld>
</file>

<file path=ppt/slides/slide18.xml><?xml version="1.0" encoding="utf-8"?>
<p:sld xmlns:p="http://schemas.openxmlformats.org/presentationml/2006/main">
  <p:cSld>
    <p:bg>
      <p:bgPr>
        <a:solidFill xmlns:a="http://schemas.openxmlformats.org/drawingml/2006/main">
          <a:srgbClr val="153A3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B78A6CD-5012-4B46-960A-AC693075C5AD}"/>
              </a:ext>
            </a:extLst>
          </p:cNvPr>
          <p:cNvSpPr>
            <a:spLocks xmlns:a="http://schemas.openxmlformats.org/drawingml/2006/main" noGrp="1"/>
          </p:cNvSpPr>
          <p:nvPr/>
        </p:nvSpPr>
        <p:spPr>
          <a:xfrm xmlns:a="http://schemas.openxmlformats.org/drawingml/2006/main">
            <a:off x="609600" y="333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1">
                <a:solidFill>
                  <a:srgbClr val="BED78D"/>
                </a:solidFill>
                <a:latin typeface="Arial"/>
                <a:ea typeface="Arial"/>
                <a:cs typeface="Arial"/>
              </a:defRPr>
            </a:defPPr>
            <a:lvl1pPr>
              <a:defRPr sz="1125" b="1">
                <a:solidFill>
                  <a:srgbClr val="BED78D"/>
                </a:solidFill>
                <a:latin typeface="Arial"/>
                <a:ea typeface="Arial"/>
                <a:cs typeface="Arial"/>
              </a:defRPr>
            </a:lvl1pPr>
            <a:lvl2pPr>
              <a:defRPr sz="1125" b="1">
                <a:solidFill>
                  <a:srgbClr val="BED78D"/>
                </a:solidFill>
                <a:latin typeface="Arial"/>
                <a:ea typeface="Arial"/>
                <a:cs typeface="Arial"/>
              </a:defRPr>
            </a:lvl2pPr>
            <a:lvl3pPr>
              <a:defRPr sz="1125" b="1">
                <a:solidFill>
                  <a:srgbClr val="BED78D"/>
                </a:solidFill>
                <a:latin typeface="Arial"/>
                <a:ea typeface="Arial"/>
                <a:cs typeface="Arial"/>
              </a:defRPr>
            </a:lvl3pPr>
            <a:lvl4pPr>
              <a:defRPr sz="1125" b="1">
                <a:solidFill>
                  <a:srgbClr val="BED78D"/>
                </a:solidFill>
                <a:latin typeface="Arial"/>
                <a:ea typeface="Arial"/>
                <a:cs typeface="Arial"/>
              </a:defRPr>
            </a:lvl4pPr>
            <a:lvl5pPr>
              <a:defRPr sz="1125" b="1">
                <a:solidFill>
                  <a:srgbClr val="BED78D"/>
                </a:solidFill>
                <a:latin typeface="Arial"/>
                <a:ea typeface="Arial"/>
                <a:cs typeface="Arial"/>
              </a:defRPr>
            </a:lvl5pPr>
            <a:lvl6pPr>
              <a:defRPr sz="1125" b="1">
                <a:solidFill>
                  <a:srgbClr val="BED78D"/>
                </a:solidFill>
                <a:latin typeface="Arial"/>
                <a:ea typeface="Arial"/>
                <a:cs typeface="Arial"/>
              </a:defRPr>
            </a:lvl6pPr>
            <a:lvl7pPr>
              <a:defRPr sz="1125" b="1">
                <a:solidFill>
                  <a:srgbClr val="BED78D"/>
                </a:solidFill>
                <a:latin typeface="Arial"/>
                <a:ea typeface="Arial"/>
                <a:cs typeface="Arial"/>
              </a:defRPr>
            </a:lvl7pPr>
            <a:lvl8pPr>
              <a:defRPr sz="1125" b="1">
                <a:solidFill>
                  <a:srgbClr val="BED78D"/>
                </a:solidFill>
                <a:latin typeface="Arial"/>
                <a:ea typeface="Arial"/>
                <a:cs typeface="Arial"/>
              </a:defRPr>
            </a:lvl8pPr>
            <a:lvl9pPr>
              <a:defRPr sz="1125" b="1">
                <a:solidFill>
                  <a:srgbClr val="BED78D"/>
                </a:solidFill>
                <a:latin typeface="Arial"/>
                <a:ea typeface="Arial"/>
                <a:cs typeface="Arial"/>
              </a:defRPr>
            </a:lvl9pPr>
          </a:lstStyle>
          <a:p xmlns:a="http://schemas.openxmlformats.org/drawingml/2006/main">
            <a:pPr>
              <a:defRPr sz="1125" b="1">
                <a:solidFill>
                  <a:srgbClr val="BED78D"/>
                </a:solidFill>
                <a:latin typeface="Arial"/>
                <a:ea typeface="Arial"/>
                <a:cs typeface="Arial"/>
              </a:defRPr>
            </a:pPr>
            <a:r>
              <a:rPr sz="1125" b="1">
                <a:solidFill>
                  <a:srgbClr val="BED78D"/>
                </a:solidFill>
                <a:latin typeface="Arial"/>
                <a:ea typeface="Arial"/>
                <a:cs typeface="Arial"/>
              </a:rPr>
              <a:t>SOURCE CODE AND DOCUMENTATION</a:t>
            </a:r>
          </a:p>
        </p:txBody>
      </p:sp>
      <p:sp>
        <p:nvSpPr>
          <p:cNvPr id="3" name="">
            <a:extLst xmlns:a="http://schemas.openxmlformats.org/drawingml/2006/main">
              <a:ext uri="{FF2B5EF4-FFF2-40B4-BE49-F238E27FC236}">
                <a16:creationId xmlns:a16="http://schemas.microsoft.com/office/drawing/2014/main" id="{F8857413-350F-4C90-9EA6-301AD19AEBE8}"/>
              </a:ext>
            </a:extLst>
          </p:cNvPr>
          <p:cNvSpPr>
            <a:spLocks xmlns:a="http://schemas.openxmlformats.org/drawingml/2006/main" noGrp="1"/>
          </p:cNvSpPr>
          <p:nvPr/>
        </p:nvSpPr>
        <p:spPr>
          <a:xfrm xmlns:a="http://schemas.openxmlformats.org/drawingml/2006/main">
            <a:off x="609600" y="7429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Project repository</a:t>
            </a:r>
          </a:p>
        </p:txBody>
      </p:sp>
      <p:sp>
        <p:nvSpPr>
          <p:cNvPr id="4" name="">
            <a:extLst xmlns:a="http://schemas.openxmlformats.org/drawingml/2006/main">
              <a:ext uri="{FF2B5EF4-FFF2-40B4-BE49-F238E27FC236}">
                <a16:creationId xmlns:a16="http://schemas.microsoft.com/office/drawing/2014/main" id="{58F1A107-3D4A-46CE-B6D7-F602979BB0F8}"/>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BED78D"/>
                </a:solidFill>
                <a:latin typeface="Arial"/>
                <a:ea typeface="Arial"/>
                <a:cs typeface="Arial"/>
              </a:defRPr>
            </a:defPPr>
            <a:lvl1pPr>
              <a:defRPr sz="1125" b="0">
                <a:solidFill>
                  <a:srgbClr val="BED78D"/>
                </a:solidFill>
                <a:latin typeface="Arial"/>
                <a:ea typeface="Arial"/>
                <a:cs typeface="Arial"/>
              </a:defRPr>
            </a:lvl1pPr>
            <a:lvl2pPr>
              <a:defRPr sz="1125" b="0">
                <a:solidFill>
                  <a:srgbClr val="BED78D"/>
                </a:solidFill>
                <a:latin typeface="Arial"/>
                <a:ea typeface="Arial"/>
                <a:cs typeface="Arial"/>
              </a:defRPr>
            </a:lvl2pPr>
            <a:lvl3pPr>
              <a:defRPr sz="1125" b="0">
                <a:solidFill>
                  <a:srgbClr val="BED78D"/>
                </a:solidFill>
                <a:latin typeface="Arial"/>
                <a:ea typeface="Arial"/>
                <a:cs typeface="Arial"/>
              </a:defRPr>
            </a:lvl3pPr>
            <a:lvl4pPr>
              <a:defRPr sz="1125" b="0">
                <a:solidFill>
                  <a:srgbClr val="BED78D"/>
                </a:solidFill>
                <a:latin typeface="Arial"/>
                <a:ea typeface="Arial"/>
                <a:cs typeface="Arial"/>
              </a:defRPr>
            </a:lvl4pPr>
            <a:lvl5pPr>
              <a:defRPr sz="1125" b="0">
                <a:solidFill>
                  <a:srgbClr val="BED78D"/>
                </a:solidFill>
                <a:latin typeface="Arial"/>
                <a:ea typeface="Arial"/>
                <a:cs typeface="Arial"/>
              </a:defRPr>
            </a:lvl5pPr>
            <a:lvl6pPr>
              <a:defRPr sz="1125" b="0">
                <a:solidFill>
                  <a:srgbClr val="BED78D"/>
                </a:solidFill>
                <a:latin typeface="Arial"/>
                <a:ea typeface="Arial"/>
                <a:cs typeface="Arial"/>
              </a:defRPr>
            </a:lvl6pPr>
            <a:lvl7pPr>
              <a:defRPr sz="1125" b="0">
                <a:solidFill>
                  <a:srgbClr val="BED78D"/>
                </a:solidFill>
                <a:latin typeface="Arial"/>
                <a:ea typeface="Arial"/>
                <a:cs typeface="Arial"/>
              </a:defRPr>
            </a:lvl7pPr>
            <a:lvl8pPr>
              <a:defRPr sz="1125" b="0">
                <a:solidFill>
                  <a:srgbClr val="BED78D"/>
                </a:solidFill>
                <a:latin typeface="Arial"/>
                <a:ea typeface="Arial"/>
                <a:cs typeface="Arial"/>
              </a:defRPr>
            </a:lvl8pPr>
            <a:lvl9pPr>
              <a:defRPr sz="1125" b="0">
                <a:solidFill>
                  <a:srgbClr val="BED78D"/>
                </a:solidFill>
                <a:latin typeface="Arial"/>
                <a:ea typeface="Arial"/>
                <a:cs typeface="Arial"/>
              </a:defRPr>
            </a:lvl9pPr>
          </a:lstStyle>
          <a:p xmlns:a="http://schemas.openxmlformats.org/drawingml/2006/main">
            <a:pPr>
              <a:defRPr sz="1125" b="0">
                <a:solidFill>
                  <a:srgbClr val="BED78D"/>
                </a:solidFill>
                <a:latin typeface="Arial"/>
                <a:ea typeface="Arial"/>
                <a:cs typeface="Arial"/>
              </a:defRPr>
            </a:pPr>
            <a:r>
              <a:rPr sz="1125" b="0">
                <a:solidFill>
                  <a:srgbClr val="BED78D"/>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C05D43B1-9A6D-4141-A541-7AEAD7FE46A8}"/>
              </a:ext>
            </a:extLst>
          </p:cNvPr>
          <p:cNvSpPr>
            <a:spLocks xmlns:a="http://schemas.openxmlformats.org/drawingml/2006/main" noGrp="1"/>
          </p:cNvSpPr>
          <p:nvPr/>
        </p:nvSpPr>
        <p:spPr>
          <a:xfrm xmlns:a="http://schemas.openxmlformats.org/drawingml/2006/main">
            <a:off x="666750" y="2000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5700" b="1">
                <a:solidFill>
                  <a:srgbClr val="FFFFFF"/>
                </a:solidFill>
                <a:latin typeface="Arial"/>
                <a:ea typeface="Arial"/>
                <a:cs typeface="Arial"/>
              </a:defRPr>
            </a:defPPr>
            <a:lvl1pPr>
              <a:defRPr sz="5700" b="1">
                <a:solidFill>
                  <a:srgbClr val="FFFFFF"/>
                </a:solidFill>
                <a:latin typeface="Arial"/>
                <a:ea typeface="Arial"/>
                <a:cs typeface="Arial"/>
              </a:defRPr>
            </a:lvl1pPr>
            <a:lvl2pPr>
              <a:defRPr sz="5700" b="1">
                <a:solidFill>
                  <a:srgbClr val="FFFFFF"/>
                </a:solidFill>
                <a:latin typeface="Arial"/>
                <a:ea typeface="Arial"/>
                <a:cs typeface="Arial"/>
              </a:defRPr>
            </a:lvl2pPr>
            <a:lvl3pPr>
              <a:defRPr sz="5700" b="1">
                <a:solidFill>
                  <a:srgbClr val="FFFFFF"/>
                </a:solidFill>
                <a:latin typeface="Arial"/>
                <a:ea typeface="Arial"/>
                <a:cs typeface="Arial"/>
              </a:defRPr>
            </a:lvl3pPr>
            <a:lvl4pPr>
              <a:defRPr sz="5700" b="1">
                <a:solidFill>
                  <a:srgbClr val="FFFFFF"/>
                </a:solidFill>
                <a:latin typeface="Arial"/>
                <a:ea typeface="Arial"/>
                <a:cs typeface="Arial"/>
              </a:defRPr>
            </a:lvl4pPr>
            <a:lvl5pPr>
              <a:defRPr sz="5700" b="1">
                <a:solidFill>
                  <a:srgbClr val="FFFFFF"/>
                </a:solidFill>
                <a:latin typeface="Arial"/>
                <a:ea typeface="Arial"/>
                <a:cs typeface="Arial"/>
              </a:defRPr>
            </a:lvl5pPr>
            <a:lvl6pPr>
              <a:defRPr sz="5700" b="1">
                <a:solidFill>
                  <a:srgbClr val="FFFFFF"/>
                </a:solidFill>
                <a:latin typeface="Arial"/>
                <a:ea typeface="Arial"/>
                <a:cs typeface="Arial"/>
              </a:defRPr>
            </a:lvl6pPr>
            <a:lvl7pPr>
              <a:defRPr sz="5700" b="1">
                <a:solidFill>
                  <a:srgbClr val="FFFFFF"/>
                </a:solidFill>
                <a:latin typeface="Arial"/>
                <a:ea typeface="Arial"/>
                <a:cs typeface="Arial"/>
              </a:defRPr>
            </a:lvl7pPr>
            <a:lvl8pPr>
              <a:defRPr sz="5700" b="1">
                <a:solidFill>
                  <a:srgbClr val="FFFFFF"/>
                </a:solidFill>
                <a:latin typeface="Arial"/>
                <a:ea typeface="Arial"/>
                <a:cs typeface="Arial"/>
              </a:defRPr>
            </a:lvl8pPr>
            <a:lvl9pPr>
              <a:defRPr sz="5700" b="1">
                <a:solidFill>
                  <a:srgbClr val="FFFFFF"/>
                </a:solidFill>
                <a:latin typeface="Arial"/>
                <a:ea typeface="Arial"/>
                <a:cs typeface="Arial"/>
              </a:defRPr>
            </a:lvl9pPr>
          </a:lstStyle>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Social Ear</a:t>
            </a:r>
          </a:p>
        </p:txBody>
      </p:sp>
      <p:sp>
        <p:nvSpPr>
          <p:cNvPr id="6" name="">
            <a:extLst xmlns:a="http://schemas.openxmlformats.org/drawingml/2006/main">
              <a:ext uri="{FF2B5EF4-FFF2-40B4-BE49-F238E27FC236}">
                <a16:creationId xmlns:a16="http://schemas.microsoft.com/office/drawing/2014/main" id="{8320AFD3-0882-482F-A938-422965DF1E14}"/>
              </a:ext>
            </a:extLst>
          </p:cNvPr>
          <p:cNvSpPr>
            <a:spLocks xmlns:a="http://schemas.openxmlformats.org/drawingml/2006/main" noGrp="1"/>
          </p:cNvSpPr>
          <p:nvPr/>
        </p:nvSpPr>
        <p:spPr>
          <a:xfrm xmlns:a="http://schemas.openxmlformats.org/drawingml/2006/main">
            <a:off x="714375" y="32956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625" b="0">
                <a:solidFill>
                  <a:srgbClr val="FFFFFF"/>
                </a:solidFill>
                <a:latin typeface="Arial"/>
                <a:ea typeface="Arial"/>
                <a:cs typeface="Arial"/>
              </a:defRPr>
            </a:defPPr>
            <a:lvl1pPr>
              <a:defRPr sz="2625" b="0">
                <a:solidFill>
                  <a:srgbClr val="FFFFFF"/>
                </a:solidFill>
                <a:latin typeface="Arial"/>
                <a:ea typeface="Arial"/>
                <a:cs typeface="Arial"/>
              </a:defRPr>
            </a:lvl1pPr>
            <a:lvl2pPr>
              <a:defRPr sz="2625" b="0">
                <a:solidFill>
                  <a:srgbClr val="FFFFFF"/>
                </a:solidFill>
                <a:latin typeface="Arial"/>
                <a:ea typeface="Arial"/>
                <a:cs typeface="Arial"/>
              </a:defRPr>
            </a:lvl2pPr>
            <a:lvl3pPr>
              <a:defRPr sz="2625" b="0">
                <a:solidFill>
                  <a:srgbClr val="FFFFFF"/>
                </a:solidFill>
                <a:latin typeface="Arial"/>
                <a:ea typeface="Arial"/>
                <a:cs typeface="Arial"/>
              </a:defRPr>
            </a:lvl3pPr>
            <a:lvl4pPr>
              <a:defRPr sz="2625" b="0">
                <a:solidFill>
                  <a:srgbClr val="FFFFFF"/>
                </a:solidFill>
                <a:latin typeface="Arial"/>
                <a:ea typeface="Arial"/>
                <a:cs typeface="Arial"/>
              </a:defRPr>
            </a:lvl4pPr>
            <a:lvl5pPr>
              <a:defRPr sz="2625" b="0">
                <a:solidFill>
                  <a:srgbClr val="FFFFFF"/>
                </a:solidFill>
                <a:latin typeface="Arial"/>
                <a:ea typeface="Arial"/>
                <a:cs typeface="Arial"/>
              </a:defRPr>
            </a:lvl5pPr>
            <a:lvl6pPr>
              <a:defRPr sz="2625" b="0">
                <a:solidFill>
                  <a:srgbClr val="FFFFFF"/>
                </a:solidFill>
                <a:latin typeface="Arial"/>
                <a:ea typeface="Arial"/>
                <a:cs typeface="Arial"/>
              </a:defRPr>
            </a:lvl6pPr>
            <a:lvl7pPr>
              <a:defRPr sz="2625" b="0">
                <a:solidFill>
                  <a:srgbClr val="FFFFFF"/>
                </a:solidFill>
                <a:latin typeface="Arial"/>
                <a:ea typeface="Arial"/>
                <a:cs typeface="Arial"/>
              </a:defRPr>
            </a:lvl7pPr>
            <a:lvl8pPr>
              <a:defRPr sz="2625" b="0">
                <a:solidFill>
                  <a:srgbClr val="FFFFFF"/>
                </a:solidFill>
                <a:latin typeface="Arial"/>
                <a:ea typeface="Arial"/>
                <a:cs typeface="Arial"/>
              </a:defRPr>
            </a:lvl8pPr>
            <a:lvl9pPr>
              <a:defRPr sz="2625" b="0">
                <a:solidFill>
                  <a:srgbClr val="FFFFFF"/>
                </a:solidFill>
                <a:latin typeface="Arial"/>
                <a:ea typeface="Arial"/>
                <a:cs typeface="Arial"/>
              </a:defRPr>
            </a:lvl9pPr>
          </a:lstStyle>
          <a:p xmlns:a="http://schemas.openxmlformats.org/drawingml/2006/main">
            <a:pPr>
              <a:defRPr sz="2625" b="0">
                <a:solidFill>
                  <a:srgbClr val="FFFFFF"/>
                </a:solidFill>
                <a:latin typeface="Arial"/>
                <a:ea typeface="Arial"/>
                <a:cs typeface="Arial"/>
              </a:defRPr>
            </a:pPr>
            <a:r>
              <a:rPr sz="2625" b="0">
                <a:solidFill>
                  <a:srgbClr val="FFFFFF"/>
                </a:solidFill>
                <a:latin typeface="Arial"/>
                <a:ea typeface="Arial"/>
                <a:cs typeface="Arial"/>
              </a:rPr>
              <a:t>Application code, setup instructions</a:t>
            </a:r>
          </a:p>
          <a:p xmlns:a="http://schemas.openxmlformats.org/drawingml/2006/main">
            <a:pPr>
              <a:defRPr sz="2625" b="0">
                <a:solidFill>
                  <a:srgbClr val="FFFFFF"/>
                </a:solidFill>
                <a:latin typeface="Arial"/>
                <a:ea typeface="Arial"/>
                <a:cs typeface="Arial"/>
              </a:defRPr>
            </a:pPr>
            <a:r>
              <a:rPr sz="2625" b="0">
                <a:solidFill>
                  <a:srgbClr val="FFFFFF"/>
                </a:solidFill>
                <a:latin typeface="Arial"/>
                <a:ea typeface="Arial"/>
                <a:cs typeface="Arial"/>
              </a:rPr>
              <a:t>and implementation documentation</a:t>
            </a:r>
          </a:p>
        </p:txBody>
      </p:sp>
      <p:sp>
        <p:nvSpPr>
          <p:cNvPr id="7" name="">
            <a:extLst xmlns:a="http://schemas.openxmlformats.org/drawingml/2006/main">
              <a:ext uri="{FF2B5EF4-FFF2-40B4-BE49-F238E27FC236}">
                <a16:creationId xmlns:a16="http://schemas.microsoft.com/office/drawing/2014/main" id="{FA82BB8F-A9ED-4D02-933E-417CD1CBB7B6}"/>
              </a:ext>
            </a:extLst>
          </p:cNvPr>
          <p:cNvSpPr>
            <a:spLocks xmlns:a="http://schemas.openxmlformats.org/drawingml/2006/main" noGrp="1"/>
          </p:cNvSpPr>
          <p:nvPr/>
        </p:nvSpPr>
        <p:spPr>
          <a:xfrm xmlns:a="http://schemas.openxmlformats.org/drawingml/2006/main">
            <a:off x="714375" y="49053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BED78D"/>
                </a:solidFill>
                <a:latin typeface="Arial"/>
                <a:ea typeface="Arial"/>
                <a:cs typeface="Arial"/>
              </a:defRPr>
            </a:defPPr>
            <a:lvl1pPr>
              <a:defRPr sz="2700" b="1">
                <a:solidFill>
                  <a:srgbClr val="BED78D"/>
                </a:solidFill>
                <a:latin typeface="Arial"/>
                <a:ea typeface="Arial"/>
                <a:cs typeface="Arial"/>
              </a:defRPr>
            </a:lvl1pPr>
            <a:lvl2pPr>
              <a:defRPr sz="2700" b="1">
                <a:solidFill>
                  <a:srgbClr val="BED78D"/>
                </a:solidFill>
                <a:latin typeface="Arial"/>
                <a:ea typeface="Arial"/>
                <a:cs typeface="Arial"/>
              </a:defRPr>
            </a:lvl2pPr>
            <a:lvl3pPr>
              <a:defRPr sz="2700" b="1">
                <a:solidFill>
                  <a:srgbClr val="BED78D"/>
                </a:solidFill>
                <a:latin typeface="Arial"/>
                <a:ea typeface="Arial"/>
                <a:cs typeface="Arial"/>
              </a:defRPr>
            </a:lvl3pPr>
            <a:lvl4pPr>
              <a:defRPr sz="2700" b="1">
                <a:solidFill>
                  <a:srgbClr val="BED78D"/>
                </a:solidFill>
                <a:latin typeface="Arial"/>
                <a:ea typeface="Arial"/>
                <a:cs typeface="Arial"/>
              </a:defRPr>
            </a:lvl4pPr>
            <a:lvl5pPr>
              <a:defRPr sz="2700" b="1">
                <a:solidFill>
                  <a:srgbClr val="BED78D"/>
                </a:solidFill>
                <a:latin typeface="Arial"/>
                <a:ea typeface="Arial"/>
                <a:cs typeface="Arial"/>
              </a:defRPr>
            </a:lvl5pPr>
            <a:lvl6pPr>
              <a:defRPr sz="2700" b="1">
                <a:solidFill>
                  <a:srgbClr val="BED78D"/>
                </a:solidFill>
                <a:latin typeface="Arial"/>
                <a:ea typeface="Arial"/>
                <a:cs typeface="Arial"/>
              </a:defRPr>
            </a:lvl6pPr>
            <a:lvl7pPr>
              <a:defRPr sz="2700" b="1">
                <a:solidFill>
                  <a:srgbClr val="BED78D"/>
                </a:solidFill>
                <a:latin typeface="Arial"/>
                <a:ea typeface="Arial"/>
                <a:cs typeface="Arial"/>
              </a:defRPr>
            </a:lvl7pPr>
            <a:lvl8pPr>
              <a:defRPr sz="2700" b="1">
                <a:solidFill>
                  <a:srgbClr val="BED78D"/>
                </a:solidFill>
                <a:latin typeface="Arial"/>
                <a:ea typeface="Arial"/>
                <a:cs typeface="Arial"/>
              </a:defRPr>
            </a:lvl8pPr>
            <a:lvl9pPr>
              <a:defRPr sz="2700" b="1">
                <a:solidFill>
                  <a:srgbClr val="BED78D"/>
                </a:solidFill>
                <a:latin typeface="Arial"/>
                <a:ea typeface="Arial"/>
                <a:cs typeface="Arial"/>
              </a:defRPr>
            </a:lvl9pPr>
          </a:lstStyle>
          <a:p xmlns:a="http://schemas.openxmlformats.org/drawingml/2006/main">
            <a:pPr>
              <a:defRPr sz="2700" b="1">
                <a:solidFill>
                  <a:srgbClr val="BED78D"/>
                </a:solidFill>
                <a:latin typeface="Arial"/>
                <a:ea typeface="Arial"/>
                <a:cs typeface="Arial"/>
              </a:defRPr>
            </a:pPr>
            <a:r>
              <a:rPr sz="2700" u="sng">
                <a:solidFill>
                  <a:srgbClr val="BED78D"/>
                </a:solidFill>
                <a:latin typeface="Arial"/>
                <a:ea typeface="Arial"/>
                <a:cs typeface="Arial"/>
                <a:hlinkClick xmlns:r="http://schemas.openxmlformats.org/officeDocument/2006/relationships" r:id="Rb17241ad8bd54b44"/>
              </a:rPr>
              <a:t>github.com/HamzaElhaddaji/social-ear</a:t>
            </a:r>
          </a:p>
        </p:txBody>
      </p:sp>
      <p:sp>
        <p:nvSpPr>
          <p:cNvPr id="8" name="">
            <a:extLst xmlns:a="http://schemas.openxmlformats.org/drawingml/2006/main">
              <a:ext uri="{FF2B5EF4-FFF2-40B4-BE49-F238E27FC236}">
                <a16:creationId xmlns:a16="http://schemas.microsoft.com/office/drawing/2014/main" id="{EAB7D9CB-4AB5-4CCB-BACD-2A03DF0FF4C3}"/>
              </a:ext>
            </a:extLst>
          </p:cNvPr>
          <p:cNvSpPr>
            <a:spLocks xmlns:a="http://schemas.openxmlformats.org/drawingml/2006/main" noGrp="1"/>
          </p:cNvSpPr>
          <p:nvPr/>
        </p:nvSpPr>
        <p:spPr>
          <a:xfrm xmlns:a="http://schemas.openxmlformats.org/drawingml/2006/main">
            <a:off x="733425" y="59721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BED78D"/>
                </a:solidFill>
                <a:latin typeface="Arial"/>
                <a:ea typeface="Arial"/>
                <a:cs typeface="Arial"/>
              </a:defRPr>
            </a:defPPr>
            <a:lvl1pPr>
              <a:defRPr sz="1800" b="0">
                <a:solidFill>
                  <a:srgbClr val="BED78D"/>
                </a:solidFill>
                <a:latin typeface="Arial"/>
                <a:ea typeface="Arial"/>
                <a:cs typeface="Arial"/>
              </a:defRPr>
            </a:lvl1pPr>
            <a:lvl2pPr>
              <a:defRPr sz="1800" b="0">
                <a:solidFill>
                  <a:srgbClr val="BED78D"/>
                </a:solidFill>
                <a:latin typeface="Arial"/>
                <a:ea typeface="Arial"/>
                <a:cs typeface="Arial"/>
              </a:defRPr>
            </a:lvl2pPr>
            <a:lvl3pPr>
              <a:defRPr sz="1800" b="0">
                <a:solidFill>
                  <a:srgbClr val="BED78D"/>
                </a:solidFill>
                <a:latin typeface="Arial"/>
                <a:ea typeface="Arial"/>
                <a:cs typeface="Arial"/>
              </a:defRPr>
            </a:lvl3pPr>
            <a:lvl4pPr>
              <a:defRPr sz="1800" b="0">
                <a:solidFill>
                  <a:srgbClr val="BED78D"/>
                </a:solidFill>
                <a:latin typeface="Arial"/>
                <a:ea typeface="Arial"/>
                <a:cs typeface="Arial"/>
              </a:defRPr>
            </a:lvl4pPr>
            <a:lvl5pPr>
              <a:defRPr sz="1800" b="0">
                <a:solidFill>
                  <a:srgbClr val="BED78D"/>
                </a:solidFill>
                <a:latin typeface="Arial"/>
                <a:ea typeface="Arial"/>
                <a:cs typeface="Arial"/>
              </a:defRPr>
            </a:lvl5pPr>
            <a:lvl6pPr>
              <a:defRPr sz="1800" b="0">
                <a:solidFill>
                  <a:srgbClr val="BED78D"/>
                </a:solidFill>
                <a:latin typeface="Arial"/>
                <a:ea typeface="Arial"/>
                <a:cs typeface="Arial"/>
              </a:defRPr>
            </a:lvl6pPr>
            <a:lvl7pPr>
              <a:defRPr sz="1800" b="0">
                <a:solidFill>
                  <a:srgbClr val="BED78D"/>
                </a:solidFill>
                <a:latin typeface="Arial"/>
                <a:ea typeface="Arial"/>
                <a:cs typeface="Arial"/>
              </a:defRPr>
            </a:lvl7pPr>
            <a:lvl8pPr>
              <a:defRPr sz="1800" b="0">
                <a:solidFill>
                  <a:srgbClr val="BED78D"/>
                </a:solidFill>
                <a:latin typeface="Arial"/>
                <a:ea typeface="Arial"/>
                <a:cs typeface="Arial"/>
              </a:defRPr>
            </a:lvl8pPr>
            <a:lvl9pPr>
              <a:defRPr sz="1800" b="0">
                <a:solidFill>
                  <a:srgbClr val="BED78D"/>
                </a:solidFill>
                <a:latin typeface="Arial"/>
                <a:ea typeface="Arial"/>
                <a:cs typeface="Arial"/>
              </a:defRPr>
            </a:lvl9pPr>
          </a:lstStyle>
          <a:p xmlns:a="http://schemas.openxmlformats.org/drawingml/2006/main">
            <a:pPr>
              <a:defRPr sz="1800" b="0">
                <a:solidFill>
                  <a:srgbClr val="BED78D"/>
                </a:solidFill>
                <a:latin typeface="Arial"/>
                <a:ea typeface="Arial"/>
                <a:cs typeface="Arial"/>
              </a:defRPr>
            </a:pPr>
            <a:r>
              <a:rPr sz="1800" b="0">
                <a:solidFill>
                  <a:srgbClr val="BED78D"/>
                </a:solidFill>
                <a:latin typeface="Arial"/>
                <a:ea typeface="Arial"/>
                <a:cs typeface="Arial"/>
              </a:rPr>
              <a:t>Private repository. Access requires permission from the owner.</a:t>
            </a:r>
          </a:p>
        </p:txBody>
      </p:sp>
    </p:spTree>
    <p:extLst>
      <p:ext uri="{BB962C8B-B14F-4D97-AF65-F5344CB8AC3E}">
        <p14:creationId xmlns:p14="http://schemas.microsoft.com/office/powerpoint/2010/main" val="6020727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2026-10-20T14:44:47.3820000Z</dcterms:created>
  <dcterms:modified xsi:type="dcterms:W3CDTF">2026-10-20T14:44:47.3820000Z</dcterms:modified>
</coreProperties>
</file>