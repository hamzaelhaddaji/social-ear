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8426ef00e242a5" /><Relationship Type="http://schemas.openxmlformats.org/officeDocument/2006/relationships/extended-properties" Target="/docProps/app.xml" Id="R8cd90bcd54cb4e89" /><Relationship Type="http://schemas.openxmlformats.org/officeDocument/2006/relationships/officeDocument" Target="/ppt/presentation.xml" Id="R822755a3191d43ca" /></Relationships>
</file>

<file path=ppt/presentation.xml><?xml version="1.0" encoding="utf-8"?>
<p:presentation xmlns:p="http://schemas.openxmlformats.org/presentationml/2006/main">
  <p:sldMasterIdLst>
    <p:sldMasterId xmlns:r="http://schemas.openxmlformats.org/officeDocument/2006/relationships" id="2147483648" r:id="Rd6bf5e55336045f7"/>
  </p:sldMasterIdLst>
  <p:notesMasterIdLst>
    <p:notesMasterId xmlns:r="http://schemas.openxmlformats.org/officeDocument/2006/relationships" r:id="R0243ff09d7c94e73"/>
  </p:notesMasterIdLst>
  <p:sldIdLst>
    <p:sldId xmlns:r="http://schemas.openxmlformats.org/officeDocument/2006/relationships" id="256" r:id="Rce4d1e1e3d334808"/>
    <p:sldId xmlns:r="http://schemas.openxmlformats.org/officeDocument/2006/relationships" id="257" r:id="R776d330fdbe4422b"/>
    <p:sldId xmlns:r="http://schemas.openxmlformats.org/officeDocument/2006/relationships" id="258" r:id="R60f3c9b8ad2a4ff0"/>
    <p:sldId xmlns:r="http://schemas.openxmlformats.org/officeDocument/2006/relationships" id="259" r:id="R71ecd9b885c44b5c"/>
    <p:sldId xmlns:r="http://schemas.openxmlformats.org/officeDocument/2006/relationships" id="260" r:id="Re0dac03753584eeb"/>
    <p:sldId xmlns:r="http://schemas.openxmlformats.org/officeDocument/2006/relationships" id="261" r:id="Rdef11257110e426b"/>
    <p:sldId xmlns:r="http://schemas.openxmlformats.org/officeDocument/2006/relationships" id="262" r:id="R8d0a5b4d6ba94b3e"/>
    <p:sldId xmlns:r="http://schemas.openxmlformats.org/officeDocument/2006/relationships" id="263" r:id="R6f1f6708e4064718"/>
    <p:sldId xmlns:r="http://schemas.openxmlformats.org/officeDocument/2006/relationships" id="264" r:id="R99ef849514ae42b5"/>
    <p:sldId xmlns:r="http://schemas.openxmlformats.org/officeDocument/2006/relationships" id="265" r:id="Rea9386f2c5d34125"/>
    <p:sldId xmlns:r="http://schemas.openxmlformats.org/officeDocument/2006/relationships" id="266" r:id="R79d2ac32aa1d482b"/>
    <p:sldId xmlns:r="http://schemas.openxmlformats.org/officeDocument/2006/relationships" id="267" r:id="R89fd034b80a44a01"/>
    <p:sldId xmlns:r="http://schemas.openxmlformats.org/officeDocument/2006/relationships" id="268" r:id="R4bd6f786b1df46b1"/>
    <p:sldId xmlns:r="http://schemas.openxmlformats.org/officeDocument/2006/relationships" id="269" r:id="R30bbe47ea63247ba"/>
    <p:sldId xmlns:r="http://schemas.openxmlformats.org/officeDocument/2006/relationships" id="270" r:id="R06bffbf837674d62"/>
    <p:sldId xmlns:r="http://schemas.openxmlformats.org/officeDocument/2006/relationships" id="271" r:id="R1e37ec4613b948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682679a9594678" /><Relationship Type="http://schemas.openxmlformats.org/officeDocument/2006/relationships/slideMaster" Target="/ppt/slideMasters/slideMaster1.xml" Id="Rd6bf5e55336045f7" /><Relationship Type="http://schemas.openxmlformats.org/officeDocument/2006/relationships/notesMaster" Target="/ppt/notesMasters/notesMaster1.xml" Id="R0243ff09d7c94e73" /><Relationship Type="http://schemas.openxmlformats.org/officeDocument/2006/relationships/presProps" Target="/ppt/presProps.xml" Id="R34530343e220420c" /><Relationship Type="http://schemas.openxmlformats.org/officeDocument/2006/relationships/tableStyles" Target="/ppt/tableStyles.xml" Id="Rf18090d9504b4d90" /><Relationship Type="http://schemas.openxmlformats.org/officeDocument/2006/relationships/slide" Target="/ppt/slides/slide1.xml" Id="Rce4d1e1e3d334808" /><Relationship Type="http://schemas.openxmlformats.org/officeDocument/2006/relationships/slide" Target="/ppt/slides/slide2.xml" Id="R776d330fdbe4422b" /><Relationship Type="http://schemas.openxmlformats.org/officeDocument/2006/relationships/slide" Target="/ppt/slides/slide3.xml" Id="R60f3c9b8ad2a4ff0" /><Relationship Type="http://schemas.openxmlformats.org/officeDocument/2006/relationships/slide" Target="/ppt/slides/slide4.xml" Id="R71ecd9b885c44b5c" /><Relationship Type="http://schemas.openxmlformats.org/officeDocument/2006/relationships/slide" Target="/ppt/slides/slide5.xml" Id="Re0dac03753584eeb" /><Relationship Type="http://schemas.openxmlformats.org/officeDocument/2006/relationships/slide" Target="/ppt/slides/slide6.xml" Id="Rdef11257110e426b" /><Relationship Type="http://schemas.openxmlformats.org/officeDocument/2006/relationships/slide" Target="/ppt/slides/slide7.xml" Id="R8d0a5b4d6ba94b3e" /><Relationship Type="http://schemas.openxmlformats.org/officeDocument/2006/relationships/slide" Target="/ppt/slides/slide8.xml" Id="R6f1f6708e4064718" /><Relationship Type="http://schemas.openxmlformats.org/officeDocument/2006/relationships/slide" Target="/ppt/slides/slide9.xml" Id="R99ef849514ae42b5" /><Relationship Type="http://schemas.openxmlformats.org/officeDocument/2006/relationships/slide" Target="/ppt/slides/slide10.xml" Id="Rea9386f2c5d34125" /><Relationship Type="http://schemas.openxmlformats.org/officeDocument/2006/relationships/slide" Target="/ppt/slides/slide11.xml" Id="R79d2ac32aa1d482b" /><Relationship Type="http://schemas.openxmlformats.org/officeDocument/2006/relationships/slide" Target="/ppt/slides/slide12.xml" Id="R89fd034b80a44a01" /><Relationship Type="http://schemas.openxmlformats.org/officeDocument/2006/relationships/slide" Target="/ppt/slides/slide13.xml" Id="R4bd6f786b1df46b1" /><Relationship Type="http://schemas.openxmlformats.org/officeDocument/2006/relationships/slide" Target="/ppt/slides/slide14.xml" Id="R30bbe47ea63247ba" /><Relationship Type="http://schemas.openxmlformats.org/officeDocument/2006/relationships/slide" Target="/ppt/slides/slide15.xml" Id="R06bffbf837674d62" /><Relationship Type="http://schemas.openxmlformats.org/officeDocument/2006/relationships/slide" Target="/ppt/slides/slide16.xml" Id="R1e37ec4613b948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b156de80a248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322755238a48e0" /><Relationship Type="http://schemas.openxmlformats.org/officeDocument/2006/relationships/notesMaster" Target="/ppt/notesMasters/notesMaster1.xml" Id="R5db2ece595a847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02e51111d844d4" /><Relationship Type="http://schemas.openxmlformats.org/officeDocument/2006/relationships/notesMaster" Target="/ppt/notesMasters/notesMaster1.xml" Id="R4a6080274ff444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58fbe975d54792" /><Relationship Type="http://schemas.openxmlformats.org/officeDocument/2006/relationships/notesMaster" Target="/ppt/notesMasters/notesMaster1.xml" Id="Rceda3aae2f054f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19972cea284f92" /><Relationship Type="http://schemas.openxmlformats.org/officeDocument/2006/relationships/notesMaster" Target="/ppt/notesMasters/notesMaster1.xml" Id="R5db3e84129684a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a656c59a694ca4" /><Relationship Type="http://schemas.openxmlformats.org/officeDocument/2006/relationships/notesMaster" Target="/ppt/notesMasters/notesMaster1.xml" Id="R9b7c60c49fcd4a1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66a867bdbd4fd4" /><Relationship Type="http://schemas.openxmlformats.org/officeDocument/2006/relationships/notesMaster" Target="/ppt/notesMasters/notesMaster1.xml" Id="R601eb79a91274b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732942c4c94dd1" /><Relationship Type="http://schemas.openxmlformats.org/officeDocument/2006/relationships/notesMaster" Target="/ppt/notesMasters/notesMaster1.xml" Id="Rd7441da5f59942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056ca8a1fa642a4" /><Relationship Type="http://schemas.openxmlformats.org/officeDocument/2006/relationships/notesMaster" Target="/ppt/notesMasters/notesMaster1.xml" Id="Rd5684576ab1e4a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c481603eb14f0f" /><Relationship Type="http://schemas.openxmlformats.org/officeDocument/2006/relationships/notesMaster" Target="/ppt/notesMasters/notesMaster1.xml" Id="R63964e0d87a543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5d455a073b47b4" /><Relationship Type="http://schemas.openxmlformats.org/officeDocument/2006/relationships/notesMaster" Target="/ppt/notesMasters/notesMaster1.xml" Id="R35e39280e6694c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6e84c5a905246ad" /><Relationship Type="http://schemas.openxmlformats.org/officeDocument/2006/relationships/notesMaster" Target="/ppt/notesMasters/notesMaster1.xml" Id="Rb001668d4f9b489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a5577bbd834d0f" /><Relationship Type="http://schemas.openxmlformats.org/officeDocument/2006/relationships/notesMaster" Target="/ppt/notesMasters/notesMaster1.xml" Id="Rb8edbd4f98ff47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5cfa1b9ba7429b" /><Relationship Type="http://schemas.openxmlformats.org/officeDocument/2006/relationships/notesMaster" Target="/ppt/notesMasters/notesMaster1.xml" Id="R0dc56ec2f5cf43a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0533efc97b640d5" /><Relationship Type="http://schemas.openxmlformats.org/officeDocument/2006/relationships/notesMaster" Target="/ppt/notesMasters/notesMaster1.xml" Id="Rc377784474cf4e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91ec145db24bcb" /><Relationship Type="http://schemas.openxmlformats.org/officeDocument/2006/relationships/notesMaster" Target="/ppt/notesMasters/notesMaster1.xml" Id="R705f4618aba347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c33bfb9aab94a73" /><Relationship Type="http://schemas.openxmlformats.org/officeDocument/2006/relationships/notesMaster" Target="/ppt/notesMasters/notesMaster1.xml" Id="R63bf3070e49e40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 seconds. Total planned presentation: 600 seconds (10 minutes).</a:t>
            </a:r>
          </a:p>
          <a:p xmlns:a="http://schemas.openxmlformats.org/drawingml/2006/main">
            <a:r>
              <a:t/>
            </a:r>
          </a:p>
          <a:p xmlns:a="http://schemas.openxmlformats.org/drawingml/2006/main">
            <a:r>
              <a:t>Introduce the topic in plain language: this is a platform for analyzing multilingual social feedback, tracing generated answers to original posts and preserving human review. The research investigates the trade-off between quality, evidence support and local computing cost. This is a research proposal supported by a working prototype, not a completed benchmark study.</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 Total planned presentation: 600 seconds (10 minutes).</a:t>
            </a:r>
          </a:p>
          <a:p xmlns:a="http://schemas.openxmlformats.org/drawingml/2006/main">
            <a:r>
              <a:t/>
            </a:r>
          </a:p>
          <a:p xmlns:a="http://schemas.openxmlformats.org/drawingml/2006/main">
            <a:r>
              <a:t>Scenario: a product team imports feedback in several languages and needs to identify recurring complaints without losing the original evidence. Existing sentiment and attributed-answering work motivates the components. Our gap is an application-specific question: how do local multilingual inference, bounded retrieval and reviewer control perform together on realistic feedback? This limited literature review does not establish that no similar platform exists.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https://aclanthology.org/2022.lrec-1.27/</a:t>
            </a:r>
          </a:p>
          <a:p xmlns:a="http://schemas.openxmlformats.org/drawingml/2006/main">
            <a:r>
              <a:t>https://aclanthology.org/2022.emnlp-demos.5/</a:t>
            </a:r>
          </a:p>
          <a:p xmlns:a="http://schemas.openxmlformats.org/drawingml/2006/main">
            <a:r>
              <a:t>https://aclanthology.org/2023.emnlp-main.398/</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 Total planned presentation: 600 seconds (10 minutes).</a:t>
            </a:r>
          </a:p>
          <a:p xmlns:a="http://schemas.openxmlformats.org/drawingml/2006/main">
            <a:r>
              <a:t/>
            </a:r>
          </a:p>
          <a:p xmlns:a="http://schemas.openxmlformats.org/drawingml/2006/main">
            <a:r>
              <a:t>Group the literature by task. VADER is an interpretable English rule baseline. XLM-T and TweetNLP provide social-domain multilingual analysis. ALCE evaluates correctness and citation support for generated answers. Patel et al. (NAACL 2024) study training for multi-source attribution; annotation remains costly. Our proposed manual protocol adapts this attribution concern to support posts. Social Ear reuses existing algorithms and studies their behavior in a local feedback workflow; it does not propose a new language-model architecture. The cited papers are foundational selected references, not an exhaustive ranking of the newest models.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https://ojs.aaai.org/index.php/ICWSM/article/view/14550</a:t>
            </a:r>
          </a:p>
          <a:p xmlns:a="http://schemas.openxmlformats.org/drawingml/2006/main">
            <a:r>
              <a:t>https://aclanthology.org/2022.lrec-1.27/</a:t>
            </a:r>
          </a:p>
          <a:p xmlns:a="http://schemas.openxmlformats.org/drawingml/2006/main">
            <a:r>
              <a:t>https://aclanthology.org/2022.emnlp-demos.5/</a:t>
            </a:r>
          </a:p>
          <a:p xmlns:a="http://schemas.openxmlformats.org/drawingml/2006/main">
            <a:r>
              <a:t>https://aclanthology.org/2023.emnlp-main.398/</a:t>
            </a:r>
          </a:p>
          <a:p xmlns:a="http://schemas.openxmlformats.org/drawingml/2006/main">
            <a:r>
              <a:t>https://aclanthology.org/2024.naacl-long.216/</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 seconds. Total planned presentation: 600 seconds (10 minutes).</a:t>
            </a:r>
          </a:p>
          <a:p xmlns:a="http://schemas.openxmlformats.org/drawingml/2006/main">
            <a:r>
              <a:t/>
            </a:r>
          </a:p>
          <a:p xmlns:a="http://schemas.openxmlformats.org/drawingml/2006/main">
            <a:r>
              <a:t>RQ1 compares the English baseline fairly on English, while reporting transformer performance across supported languages. RQ2 isolates generation using identical retrieved excerpts for extractive and Groq conditions. RQ3 tests whether stored reviewer corrections survive processing and whether reviewers can resolve issues faster. These are questions and hypotheses, not established conclusions.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https://aclanthology.org/2022.lrec-1.27/</a:t>
            </a:r>
          </a:p>
          <a:p xmlns:a="http://schemas.openxmlformats.org/drawingml/2006/main">
            <a:r>
              <a:t>https://aclanthology.org/2023.emnlp-main.398/</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 Total planned presentation: 600 seconds (10 minutes).</a:t>
            </a:r>
          </a:p>
          <a:p xmlns:a="http://schemas.openxmlformats.org/drawingml/2006/main">
            <a:r>
              <a:t/>
            </a:r>
          </a:p>
          <a:p xmlns:a="http://schemas.openxmlformats.org/drawingml/2006/main">
            <a:r>
              <a:t>Both sentiment backends have been exercised in development. Q8 is the deployed ONNX artifact; quantization does not guarantee equal accuracy. The underlying XLM-R base configuration has 12 layers, hidden size 768 and 12 attention heads. A parameter estimate from its configuration is approximately 278 million. It is not a new model trained by us. The measured memory figures are whole isolated Python processes, not model-only VRAM. Groq is optional and requires Internet, an API key and quota. The service runs the model remotely; local weight storage is not needed.</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https://huggingface.co/cardiffnlp/twitter-xlm-roberta-base-sentiment</a:t>
            </a:r>
          </a:p>
          <a:p xmlns:a="http://schemas.openxmlformats.org/drawingml/2006/main">
            <a:r>
              <a:t>https://huggingface.co/onnx-community/twitter-xlm-roberta-base-sentiment-ONNX</a:t>
            </a:r>
          </a:p>
          <a:p xmlns:a="http://schemas.openxmlformats.org/drawingml/2006/main">
            <a:r>
              <a:t>https://ojs.aaai.org/index.php/ICWSM/article/view/14550</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 seconds. Total planned presentation: 600 seconds (10 minutes).</a:t>
            </a:r>
          </a:p>
          <a:p xmlns:a="http://schemas.openxmlformats.org/drawingml/2006/main">
            <a:r>
              <a:t/>
            </a:r>
          </a:p>
          <a:p xmlns:a="http://schemas.openxmlformats.org/drawingml/2006/main">
            <a:r>
              <a:t>Measured on this Windows laptop: Intel64 Family 6 Model 126, 8 logical processors, 15.77 GiB installed RAM. CPU brand string from the OS environment; not a claimed minimum specification. ONNX uses CPUExecutionProvider, two intra-op threads, one inter-op thread, batch size one. Python 3.12, pinned model revision and SHA-256 verification are in the repository. Benchmark script uses a fixed short English input, two warmups, 30 timed calls and isolated processes for each backend. Cold first-call time excludes Python imports. Deployment target is local/Docker; a local GPU is not required. A larger memory recommendation needs load testing.</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https://huggingface.co/onnx-community/twitter-xlm-roberta-base-sentiment-ONNX</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 Total planned presentation: 600 seconds (10 minutes).</a:t>
            </a:r>
          </a:p>
          <a:p xmlns:a="http://schemas.openxmlformats.org/drawingml/2006/main">
            <a:r>
              <a:t/>
            </a:r>
          </a:p>
          <a:p xmlns:a="http://schemas.openxmlformats.org/drawingml/2006/main">
            <a:r>
              <a:t>Distinguish used data from proposed data. Current demonstrations use 12 synthetic conversations and a previous live model smoke suite uses eight simple examples across five languages. Neither establishes real-world accuracy. UMSAB is planned, not downloaded or evaluated for this deck. Its published test split has 870 tweets per language across eight languages and three sentiment classes. The deployed model was fine-tuned using this benchmark family, so it is an in-domain reference, not an independent transfer evaluation. Verify exact split/version and training overlap before scoring. Complement with 600 newly collected, consented/de-identified support posts, 200 each in Arabic, French and English; use naturally occurring labels. Dialect and code-switching must be recorded, not assumed supported. The proposed research set has 60 questions, including 20 unanswerable questions, each with gold relevant post IDs. These are target sizes awaiting collection and annotation.</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https://aclanthology.org/2022.lrec-1.27/</a:t>
            </a:r>
          </a:p>
          <a:p xmlns:a="http://schemas.openxmlformats.org/drawingml/2006/main">
            <a:r>
              <a:t>https://aclanthology.org/2020.findings-emnlp.148/</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 Total planned presentation: 600 seconds (10 minutes).</a:t>
            </a:r>
          </a:p>
          <a:p xmlns:a="http://schemas.openxmlformats.org/drawingml/2006/main">
            <a:r>
              <a:t/>
            </a:r>
          </a:p>
          <a:p xmlns:a="http://schemas.openxmlformats.org/drawingml/2006/main">
            <a:r>
              <a:t>Nothing on this slide claims that the proposed evaluation has already run. Two annotators independently label sentiment and question evidence; adjudicate disagreement, report Cohen kappa and maintain a written codebook. Do not use LLM labels as ground truth. Deduplicate by content, group by conversation and split chronologically: 20% development, 80% held-out final test for the 600-post support target. Stratify reporting by language and label; preserve natural class frequencies. Freeze rules, prompts and model versions before test evaluation. Use official benchmark splits without tuning on test. RQ1 compares baseline and ONNX only on English; ONNX gets per-language reports and coverage. RQ2 compares extractive and Groq on identical top-five retrieved excerpts, then runs oracle-evidence and no-evidence controls to separate retrieval failure and generation hallucination. RQ3 has a proposed pilot of six volunteers reviewing 12 cases each, counterbalanced with and without stored review history; it is descriptive, not a powered causal study. Use paired bootstrap 95% confidence intervals by conversation for model metrics, and log request dates/model IDs for hosted results.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https://aclanthology.org/2023.emnlp-main.398/</a:t>
            </a:r>
          </a:p>
          <a:p xmlns:a="http://schemas.openxmlformats.org/drawingml/2006/main">
            <a:r>
              <a:t>https://aclanthology.org/2022.lrec-1.27/</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 Total planned presentation: 600 seconds (10 minutes).</a:t>
            </a:r>
          </a:p>
          <a:p xmlns:a="http://schemas.openxmlformats.org/drawingml/2006/main">
            <a:r>
              <a:t/>
            </a:r>
          </a:p>
          <a:p xmlns:a="http://schemas.openxmlformats.org/drawingml/2006/main">
            <a:r>
              <a:t>Sentiment macro-F1 averages per-class F1 to avoid letting the majority class dominate. Also show per-class precision/recall, confusion matrices, per-language scores and classification coverage; unsupported language abstentions must not disappear from the denominator. Report calibration using Brier score and a reliability plot because softmax confidence is not an accuracy guarantee. Retrieval Recall@5 measures the fraction of annotated relevant posts in the top five; distinguish empty gold sets. Citation precision is the fraction of cited claim-source links whose source supports the claim; citation completeness is the fraction of verifiable generated claims with supporting citations. Human annotations decide support and correctness; citation-ID validity is only a separate structural metric. Answer relevance/usefulness is rated blindly on a fixed 1–5 rubric by two raters; unsupported-claim rate and unanswerable-question abstention are reported. Efficiency uses median/p95 milliseconds, cold-load time and peak process working set, with fixed hardware and input lengths. Review outcomes include time per case, residual error rate and correction retention after reanalysis. Topic clusters are exploratory only: two reviewers assess top-term coherence and example relevance; silhouette is supplemental and does not establish meaningful multilingual topics. Together these cover quality, evidence, cost and human use, while small samples and human agreement remain limits.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https://aclanthology.org/2023.emnlp-main.398/</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25 seconds. Total planned presentation: 600 seconds (10 minutes).</a:t>
            </a:r>
          </a:p>
          <a:p xmlns:a="http://schemas.openxmlformats.org/drawingml/2006/main">
            <a:r>
              <a:t/>
            </a:r>
          </a:p>
          <a:p xmlns:a="http://schemas.openxmlformats.org/drawingml/2006/main">
            <a:r>
              <a:t>Walk through the actual synthetic demo, not a benchmark result. There are 12 posts, with 5 positive, 5 negative and 2 neutral labels in this captured snapshot. Those counts are not model accuracy. Additional application features include keyword-count monitors and saved JSON reports. Provider connectors are optional and are disabled in the current demo.</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 Total planned presentation: 600 seconds (10 minutes).</a:t>
            </a:r>
          </a:p>
          <a:p xmlns:a="http://schemas.openxmlformats.org/drawingml/2006/main">
            <a:r>
              <a:t/>
            </a:r>
          </a:p>
          <a:p xmlns:a="http://schemas.openxmlformats.org/drawingml/2006/main">
            <a:r>
              <a:t>The real screenshot shows an existing Groq answer over synthetic support complaints. The question and selected excerpts leave the local server when hosted generation is requested. Credentials remain server-side and are excluded from slides. The review interface separately lets a human replace sentiment, assign an issue and add notes. Reviewed labels survive reanalysis. This motivates RQ2 and RQ3; the screenshot does not validate either hypothesis.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35 seconds. Total planned presentation: 600 seconds (10 minutes).</a:t>
            </a:r>
          </a:p>
          <a:p xmlns:a="http://schemas.openxmlformats.org/drawingml/2006/main">
            <a:r>
              <a:t/>
            </a:r>
          </a:p>
          <a:p xmlns:a="http://schemas.openxmlformats.org/drawingml/2006/main">
            <a:r>
              <a:t>These results were observed, not projected. Latest recorded application regression run: 40 passed and one optional model test skipped; live model smoke examples passed separately. Three GitHub CI jobs passed: SQLite, PostgreSQL and image build. Tests show implemented behavior, not NLP accuracy. New measurements on 20 October: fixed English sentence, two warmups, 30 serial repetitions, isolated Python processes, batch 1. VADER median/p95 0.04/0.04 ms, ONNX 8.24/12.39 ms. ONNX first-call time 2009.63 ms after imports; baseline 9.48 ms. Peak RSS 121.0 vs 761.8 MiB; current RSS 121.0 vs 592.4 MiB. The baseline process imports the intelligence module and its dependencies. This is a short-input microbenchmark, not platform load or varied-length latency; no statistical significance or comparative accuracy claim is made. Quality metrics, citation-support scoring and reviewer pilot results are pending. Sources: repository CI and local measurements committed alongside this deck.</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 Total planned presentation: 600 seconds (10 minutes).</a:t>
            </a:r>
          </a:p>
          <a:p xmlns:a="http://schemas.openxmlformats.org/drawingml/2006/main">
            <a:r>
              <a:t/>
            </a:r>
          </a:p>
          <a:p xmlns:a="http://schemas.openxmlformats.org/drawingml/2006/main">
            <a:r>
              <a:t>Address limitations before drawing conclusions. Short text language detection can fail and the sentiment model truncates after 256 tokens. English aspect rules and English stopwords do not provide multilingual aspect or semantic topic validation. Twitter pretraining and historical benchmark labels may not transfer to contemporary support posts, dialects or sarcasm. UMSAB is familiar to the fine-tuned checkpoint; use fresh support data as the transfer test. Annotator disagreement and a six-person pilot constrain conclusions. Hosted provider behavior can change; record model IDs, dates, prompts and outputs. The local architecture assumes one process and supports 5000 posts per workspace; this is not a production scaling benchmark. Data collection must respect provider permissions and minimize personal information. Public hosting, SSO and a fully representative benchmark remain outside delivered scope.</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35 seconds. Total planned presentation: 600 seconds (10 minutes).</a:t>
            </a:r>
          </a:p>
          <a:p xmlns:a="http://schemas.openxmlformats.org/drawingml/2006/main">
            <a:r>
              <a:t/>
            </a:r>
          </a:p>
          <a:p xmlns:a="http://schemas.openxmlformats.org/drawingml/2006/main">
            <a:r>
              <a:t>Conclude by explicitly distinguishing engineering delivery from expected research novelty. The implemented contribution is a working local platform that joins multilingual analysis, original-post evidence and persistent human review. The proposed research contribution is a reproducible comparison of the trade-off between quality, claim support, resource cost and correction persistence in this bounded feedback setting. Existing model architectures, sentiment classification and retrieval-augmented generation are not our inventions. Whether the integrated workflow improves reviewer outcomes remains to be tested. Next milestones: approve labels and access, collect fresh support data, freeze experiment settings, run paired comparisons and publish error analysis including negative results.</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 seconds. Total planned presentation: 600 seconds (10 minutes).</a:t>
            </a:r>
          </a:p>
          <a:p xmlns:a="http://schemas.openxmlformats.org/drawingml/2006/main">
            <a:r>
              <a:t/>
            </a:r>
          </a:p>
          <a:p xmlns:a="http://schemas.openxmlformats.org/drawingml/2006/main">
            <a:r>
              <a:t>Selected foundational literature grouped in slide 3. These are verified primary sources, not automatically generated citations. The full technical model URLs, supplementary dataset references and benchmark details are linked in the accompanying research protocol. Major NLP venues are represented by EMNLP demos, EMNLP main and Findings of EMNLP; LREC covers the multilingual benchmark. VADER is an older ICWSM baseline. This is not an exhaustive state-of-the-art survey as of 2026.</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https://aclanthology.org/2024.naacl-long.216/</a:t>
            </a:r>
          </a:p>
          <a:p xmlns:a="http://schemas.openxmlformats.org/drawingml/2006/main">
            <a:r>
              <a:t>https://aclanthology.org/2022.lrec-1.27/</a:t>
            </a:r>
          </a:p>
          <a:p xmlns:a="http://schemas.openxmlformats.org/drawingml/2006/main">
            <a:r>
              <a:t>https://aclanthology.org/2022.emnlp-demos.5/</a:t>
            </a:r>
          </a:p>
          <a:p xmlns:a="http://schemas.openxmlformats.org/drawingml/2006/main">
            <a:r>
              <a:t>https://aclanthology.org/2023.emnlp-main.398/</a:t>
            </a:r>
          </a:p>
          <a:p xmlns:a="http://schemas.openxmlformats.org/drawingml/2006/main">
            <a:r>
              <a:t>https://aclanthology.org/2020.findings-emnlp.148/</a:t>
            </a:r>
          </a:p>
          <a:p xmlns:a="http://schemas.openxmlformats.org/drawingml/2006/main">
            <a:r>
              <a:t>https://huggingface.co/cardiffnlp/twitter-xlm-roberta-base-sentiment</a:t>
            </a:r>
          </a:p>
          <a:p xmlns:a="http://schemas.openxmlformats.org/drawingml/2006/main">
            <a:r>
              <a:t>https://huggingface.co/onnx-community/twitter-xlm-roberta-base-sentiment-ONNX</a:t>
            </a:r>
          </a:p>
          <a:p xmlns:a="http://schemas.openxmlformats.org/drawingml/2006/main">
            <a:r>
              <a:t>https://ojs.aaai.org/index.php/ICWSM/article/view/14550</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25 seconds. Total planned presentation: 600 seconds (10 minutes).</a:t>
            </a:r>
          </a:p>
          <a:p xmlns:a="http://schemas.openxmlformats.org/drawingml/2006/main">
            <a:r>
              <a:t/>
            </a:r>
          </a:p>
          <a:p xmlns:a="http://schemas.openxmlformats.org/drawingml/2006/main">
            <a:r>
              <a:t>Close at approximately ten minutes. Invite discussion around the three research questions and evaluation design. The repository contains application setup, methodology, criteria mapping and microbenchmark measurements. Repository is private: audience access requires permission from the owner. The assignment submission destination and deadline belong to the teacher document; no upload to the shared Drive has been performed. The repository link is clickable.</a:t>
            </a:r>
          </a:p>
          <a:p xmlns:a="http://schemas.openxmlformats.org/drawingml/2006/main">
            <a:r>
              <a:t/>
            </a:r>
          </a:p>
          <a:p xmlns:a="http://schemas.openxmlformats.org/drawingml/2006/main">
            <a:r>
              <a:t>Evidence status: implementation and measurements are distinguished from planned research.</a:t>
            </a:r>
          </a:p>
          <a:p xmlns:a="http://schemas.openxmlformats.org/drawingml/2006/main">
            <a:r>
              <a:t>Sources:</a:t>
            </a:r>
          </a:p>
          <a:p xmlns:a="http://schemas.openxmlformats.org/drawingml/2006/main">
            <a:r>
              <a:t>https://github.com/HamzaElhaddaji/social-ear</a:t>
            </a:r>
          </a:p>
          <a:p xmlns:a="http://schemas.openxmlformats.org/drawingml/2006/main">
            <a:r>
              <a:t>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c47c7b932749a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3bec21a76e45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22f745217548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ea8db2dbb764bc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4a3761dffb4c6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e366aea5a24e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44EC3B-02A4-48B0-A046-F5AA46FD85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2904FC9-7AD0-462E-86FA-5361048BF2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C6FE97F-3640-4186-85AA-73F1B469CC1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08C258-D4D6-442E-8CBB-A698FE9690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566040A-A268-4F44-B594-4238307CD5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872C7B8-5DF7-44CD-A6C5-2A9F56D4BF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DCF2C7-018A-42F5-91A9-2B3568C503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DF2FC4-92B2-478F-9B4F-96A010E832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E654FB-10FB-4AA2-8EB2-D39AFE7CC6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C7AB90-FD60-4154-BE07-E44CD54925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b1dbf9855c4eac" /><Relationship Type="http://schemas.openxmlformats.org/officeDocument/2006/relationships/slideLayout" Target="/ppt/slideLayouts/slideLayout1.xml" Id="R7b8fef541bf04b53" /><Relationship Type="http://schemas.openxmlformats.org/officeDocument/2006/relationships/slideLayout" Target="/ppt/slideLayouts/slideLayout2.xml" Id="Rfcaf87d539364551" /><Relationship Type="http://schemas.openxmlformats.org/officeDocument/2006/relationships/slideLayout" Target="/ppt/slideLayouts/slideLayout3.xml" Id="R1c5662199d6148af" /><Relationship Type="http://schemas.openxmlformats.org/officeDocument/2006/relationships/slideLayout" Target="/ppt/slideLayouts/slideLayout4.xml" Id="R240bb2e3ff89427a" /><Relationship Type="http://schemas.openxmlformats.org/officeDocument/2006/relationships/slideLayout" Target="/ppt/slideLayouts/slideLayout5.xml" Id="Rd3e12847aa644097" /><Relationship Type="http://schemas.openxmlformats.org/officeDocument/2006/relationships/slideLayout" Target="/ppt/slideLayouts/slideLayout6.xml" Id="R1dab151c858648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8fef541bf04b53"/>
    <p:sldLayoutId xmlns:r="http://schemas.openxmlformats.org/officeDocument/2006/relationships" id="2147483650" r:id="Rfcaf87d539364551"/>
    <p:sldLayoutId xmlns:r="http://schemas.openxmlformats.org/officeDocument/2006/relationships" id="2147483651" r:id="R1c5662199d6148af"/>
    <p:sldLayoutId xmlns:r="http://schemas.openxmlformats.org/officeDocument/2006/relationships" id="2147483652" r:id="R240bb2e3ff89427a"/>
    <p:sldLayoutId xmlns:r="http://schemas.openxmlformats.org/officeDocument/2006/relationships" id="2147483653" r:id="Rd3e12847aa644097"/>
    <p:sldLayoutId xmlns:r="http://schemas.openxmlformats.org/officeDocument/2006/relationships" id="2147483654" r:id="R1dab151c858648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af12197425d49e9" /><Relationship Type="http://schemas.openxmlformats.org/officeDocument/2006/relationships/notesSlide" Target="/ppt/notesSlides/notesSlide1.xml" Id="R16a8639cf3dc4a6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e0f99b90e8440a" /><Relationship Type="http://schemas.openxmlformats.org/officeDocument/2006/relationships/notesSlide" Target="/ppt/notesSlides/notesSlide2.xml" Id="R9d537393d65c45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c0902db93d4c28" /><Relationship Type="http://schemas.openxmlformats.org/officeDocument/2006/relationships/notesSlide" Target="/ppt/notesSlides/notesSlide3.xml" Id="R4c3a7e5396fc4a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a1779b17a12422d" /><Relationship Type="http://schemas.openxmlformats.org/officeDocument/2006/relationships/notesSlide" Target="/ppt/notesSlides/notesSlide4.xml" Id="Rd448206e5e95408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38991a9296d4d1d" /><Relationship Type="http://schemas.openxmlformats.org/officeDocument/2006/relationships/notesSlide" Target="/ppt/notesSlides/notesSlide5.xml" Id="R929fa2ff152142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552ccc88d634d49" /><Relationship Type="http://schemas.openxmlformats.org/officeDocument/2006/relationships/notesSlide" Target="/ppt/notesSlides/notesSlide6.xml" Id="Re5732578841f44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ea23ed48ded4b68" /><Relationship Type="http://schemas.openxmlformats.org/officeDocument/2006/relationships/notesSlide" Target="/ppt/notesSlides/notesSlide7.xml" Id="R66e5ab25cb6248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819589abcb45b0" /><Relationship Type="http://schemas.openxmlformats.org/officeDocument/2006/relationships/notesSlide" Target="/ppt/notesSlides/notesSlide8.xml" Id="Re5875778b0eb46d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b94f8e865da4c25" /><Relationship Type="http://schemas.openxmlformats.org/officeDocument/2006/relationships/notesSlide" Target="/ppt/notesSlides/notesSlide9.xml" Id="R3916fb9d91b84a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1ce9e9146548b0" /><Relationship Type="http://schemas.openxmlformats.org/officeDocument/2006/relationships/image" Target="/ppt/media/image.jpeg" Id="R4f35b7b06b24453e" /><Relationship Type="http://schemas.openxmlformats.org/officeDocument/2006/relationships/notesSlide" Target="/ppt/notesSlides/notesSlide10.xml" Id="R1f68fd32fc2a453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3801a37cd29481e" /><Relationship Type="http://schemas.openxmlformats.org/officeDocument/2006/relationships/image" Target="/ppt/media/image2.jpeg" Id="Rd68973edb4af4499" /><Relationship Type="http://schemas.openxmlformats.org/officeDocument/2006/relationships/notesSlide" Target="/ppt/notesSlides/notesSlide11.xml" Id="Rdb8e5ae5fa724c1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1bc273186044d0" /><Relationship Type="http://schemas.openxmlformats.org/officeDocument/2006/relationships/notesSlide" Target="/ppt/notesSlides/notesSlide12.xml" Id="R27773bd8bc7046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0998b187b644dad" /><Relationship Type="http://schemas.openxmlformats.org/officeDocument/2006/relationships/notesSlide" Target="/ppt/notesSlides/notesSlide13.xml" Id="R7c79fe9f3aec4d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654f3eb2184c0f" /><Relationship Type="http://schemas.openxmlformats.org/officeDocument/2006/relationships/notesSlide" Target="/ppt/notesSlides/notesSlide14.xml" Id="Ra67a9a3aeb4a4c1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5e22388506a4d6f" /><Relationship Type="http://schemas.openxmlformats.org/officeDocument/2006/relationships/hyperlink" Target="https://aclanthology.org/2022.lrec-1.27/" TargetMode="External" Id="R1a826a28420a4eed" /><Relationship Type="http://schemas.openxmlformats.org/officeDocument/2006/relationships/hyperlink" Target="https://aclanthology.org/2022.emnlp-demos.5/" TargetMode="External" Id="Ra00f204ecbf940b0" /><Relationship Type="http://schemas.openxmlformats.org/officeDocument/2006/relationships/hyperlink" Target="https://aclanthology.org/2023.emnlp-main.398/" TargetMode="External" Id="Rad3cf4a5ef614206" /><Relationship Type="http://schemas.openxmlformats.org/officeDocument/2006/relationships/hyperlink" Target="https://aclanthology.org/2024.naacl-long.216/" TargetMode="External" Id="Re0ba75774cee4784" /><Relationship Type="http://schemas.openxmlformats.org/officeDocument/2006/relationships/notesSlide" Target="/ppt/notesSlides/notesSlide15.xml" Id="R70919860b5ce4e0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94ce72ee9574a84" /><Relationship Type="http://schemas.openxmlformats.org/officeDocument/2006/relationships/hyperlink" Target="https://github.com/HamzaElhaddaji/social-ear" TargetMode="External" Id="R241a44ae7f5e4abe" /><Relationship Type="http://schemas.openxmlformats.org/officeDocument/2006/relationships/notesSlide" Target="/ppt/notesSlides/notesSlide16.xml" Id="R5e580d844006468d" /></Relationships>
</file>

<file path=ppt/slides/slide1.xml><?xml version="1.0" encoding="utf-8"?>
<p:sld xmlns:p="http://schemas.openxmlformats.org/presentationml/2006/main">
  <p:cSld>
    <p:bg>
      <p:bgPr>
        <a:solidFill xmlns:a="http://schemas.openxmlformats.org/drawingml/2006/main">
          <a:srgbClr val="153A3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C55B15D-1AB2-42A4-AB49-4497CB8753F6}"/>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BED78D"/>
                </a:solidFill>
                <a:latin typeface="Arial"/>
                <a:ea typeface="Arial"/>
                <a:cs typeface="Arial"/>
              </a:defRPr>
            </a:defPPr>
            <a:lvl1pPr>
              <a:defRPr sz="1200" b="1">
                <a:solidFill>
                  <a:srgbClr val="BED78D"/>
                </a:solidFill>
                <a:latin typeface="Arial"/>
                <a:ea typeface="Arial"/>
                <a:cs typeface="Arial"/>
              </a:defRPr>
            </a:lvl1pPr>
            <a:lvl2pPr>
              <a:defRPr sz="1200" b="1">
                <a:solidFill>
                  <a:srgbClr val="BED78D"/>
                </a:solidFill>
                <a:latin typeface="Arial"/>
                <a:ea typeface="Arial"/>
                <a:cs typeface="Arial"/>
              </a:defRPr>
            </a:lvl2pPr>
            <a:lvl3pPr>
              <a:defRPr sz="1200" b="1">
                <a:solidFill>
                  <a:srgbClr val="BED78D"/>
                </a:solidFill>
                <a:latin typeface="Arial"/>
                <a:ea typeface="Arial"/>
                <a:cs typeface="Arial"/>
              </a:defRPr>
            </a:lvl3pPr>
            <a:lvl4pPr>
              <a:defRPr sz="1200" b="1">
                <a:solidFill>
                  <a:srgbClr val="BED78D"/>
                </a:solidFill>
                <a:latin typeface="Arial"/>
                <a:ea typeface="Arial"/>
                <a:cs typeface="Arial"/>
              </a:defRPr>
            </a:lvl4pPr>
            <a:lvl5pPr>
              <a:defRPr sz="1200" b="1">
                <a:solidFill>
                  <a:srgbClr val="BED78D"/>
                </a:solidFill>
                <a:latin typeface="Arial"/>
                <a:ea typeface="Arial"/>
                <a:cs typeface="Arial"/>
              </a:defRPr>
            </a:lvl5pPr>
            <a:lvl6pPr>
              <a:defRPr sz="1200" b="1">
                <a:solidFill>
                  <a:srgbClr val="BED78D"/>
                </a:solidFill>
                <a:latin typeface="Arial"/>
                <a:ea typeface="Arial"/>
                <a:cs typeface="Arial"/>
              </a:defRPr>
            </a:lvl6pPr>
            <a:lvl7pPr>
              <a:defRPr sz="1200" b="1">
                <a:solidFill>
                  <a:srgbClr val="BED78D"/>
                </a:solidFill>
                <a:latin typeface="Arial"/>
                <a:ea typeface="Arial"/>
                <a:cs typeface="Arial"/>
              </a:defRPr>
            </a:lvl7pPr>
            <a:lvl8pPr>
              <a:defRPr sz="1200" b="1">
                <a:solidFill>
                  <a:srgbClr val="BED78D"/>
                </a:solidFill>
                <a:latin typeface="Arial"/>
                <a:ea typeface="Arial"/>
                <a:cs typeface="Arial"/>
              </a:defRPr>
            </a:lvl8pPr>
            <a:lvl9pPr>
              <a:defRPr sz="1200" b="1">
                <a:solidFill>
                  <a:srgbClr val="BED78D"/>
                </a:solidFill>
                <a:latin typeface="Arial"/>
                <a:ea typeface="Arial"/>
                <a:cs typeface="Arial"/>
              </a:defRPr>
            </a:lvl9pPr>
          </a:lstStyle>
          <a:p xmlns:a="http://schemas.openxmlformats.org/drawingml/2006/main">
            <a:pPr>
              <a:defRPr sz="1200" b="1">
                <a:solidFill>
                  <a:srgbClr val="BED78D"/>
                </a:solidFill>
                <a:latin typeface="Arial"/>
                <a:ea typeface="Arial"/>
                <a:cs typeface="Arial"/>
              </a:defRPr>
            </a:pPr>
            <a:r>
              <a:rPr sz="1200" b="1">
                <a:solidFill>
                  <a:srgbClr val="BED78D"/>
                </a:solidFill>
                <a:latin typeface="Arial"/>
                <a:ea typeface="Arial"/>
                <a:cs typeface="Arial"/>
              </a:rPr>
              <a:t>PFA RESEARCH METHODOLOGY</a:t>
            </a:r>
          </a:p>
        </p:txBody>
      </p:sp>
      <p:sp>
        <p:nvSpPr>
          <p:cNvPr id="3" name="">
            <a:extLst xmlns:a="http://schemas.openxmlformats.org/drawingml/2006/main">
              <a:ext uri="{FF2B5EF4-FFF2-40B4-BE49-F238E27FC236}">
                <a16:creationId xmlns:a16="http://schemas.microsoft.com/office/drawing/2014/main" id="{BDAAC41E-B0C0-4CE4-A9E8-5D156ED98885}"/>
              </a:ext>
            </a:extLst>
          </p:cNvPr>
          <p:cNvSpPr>
            <a:spLocks xmlns:a="http://schemas.openxmlformats.org/drawingml/2006/main" noGrp="1"/>
          </p:cNvSpPr>
          <p:nvPr/>
        </p:nvSpPr>
        <p:spPr>
          <a:xfrm xmlns:a="http://schemas.openxmlformats.org/drawingml/2006/main">
            <a:off x="609600" y="18097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6450" b="1">
                <a:solidFill>
                  <a:srgbClr val="FFFFFF"/>
                </a:solidFill>
                <a:latin typeface="Arial"/>
                <a:ea typeface="Arial"/>
                <a:cs typeface="Arial"/>
              </a:defRPr>
            </a:defPPr>
            <a:lvl1pPr>
              <a:defRPr sz="6450" b="1">
                <a:solidFill>
                  <a:srgbClr val="FFFFFF"/>
                </a:solidFill>
                <a:latin typeface="Arial"/>
                <a:ea typeface="Arial"/>
                <a:cs typeface="Arial"/>
              </a:defRPr>
            </a:lvl1pPr>
            <a:lvl2pPr>
              <a:defRPr sz="6450" b="1">
                <a:solidFill>
                  <a:srgbClr val="FFFFFF"/>
                </a:solidFill>
                <a:latin typeface="Arial"/>
                <a:ea typeface="Arial"/>
                <a:cs typeface="Arial"/>
              </a:defRPr>
            </a:lvl2pPr>
            <a:lvl3pPr>
              <a:defRPr sz="6450" b="1">
                <a:solidFill>
                  <a:srgbClr val="FFFFFF"/>
                </a:solidFill>
                <a:latin typeface="Arial"/>
                <a:ea typeface="Arial"/>
                <a:cs typeface="Arial"/>
              </a:defRPr>
            </a:lvl3pPr>
            <a:lvl4pPr>
              <a:defRPr sz="6450" b="1">
                <a:solidFill>
                  <a:srgbClr val="FFFFFF"/>
                </a:solidFill>
                <a:latin typeface="Arial"/>
                <a:ea typeface="Arial"/>
                <a:cs typeface="Arial"/>
              </a:defRPr>
            </a:lvl4pPr>
            <a:lvl5pPr>
              <a:defRPr sz="6450" b="1">
                <a:solidFill>
                  <a:srgbClr val="FFFFFF"/>
                </a:solidFill>
                <a:latin typeface="Arial"/>
                <a:ea typeface="Arial"/>
                <a:cs typeface="Arial"/>
              </a:defRPr>
            </a:lvl5pPr>
            <a:lvl6pPr>
              <a:defRPr sz="6450" b="1">
                <a:solidFill>
                  <a:srgbClr val="FFFFFF"/>
                </a:solidFill>
                <a:latin typeface="Arial"/>
                <a:ea typeface="Arial"/>
                <a:cs typeface="Arial"/>
              </a:defRPr>
            </a:lvl6pPr>
            <a:lvl7pPr>
              <a:defRPr sz="6450" b="1">
                <a:solidFill>
                  <a:srgbClr val="FFFFFF"/>
                </a:solidFill>
                <a:latin typeface="Arial"/>
                <a:ea typeface="Arial"/>
                <a:cs typeface="Arial"/>
              </a:defRPr>
            </a:lvl7pPr>
            <a:lvl8pPr>
              <a:defRPr sz="6450" b="1">
                <a:solidFill>
                  <a:srgbClr val="FFFFFF"/>
                </a:solidFill>
                <a:latin typeface="Arial"/>
                <a:ea typeface="Arial"/>
                <a:cs typeface="Arial"/>
              </a:defRPr>
            </a:lvl8pPr>
            <a:lvl9pPr>
              <a:defRPr sz="6450" b="1">
                <a:solidFill>
                  <a:srgbClr val="FFFFFF"/>
                </a:solidFill>
                <a:latin typeface="Arial"/>
                <a:ea typeface="Arial"/>
                <a:cs typeface="Arial"/>
              </a:defRPr>
            </a:lvl9pPr>
          </a:lstStyle>
          <a:p xmlns:a="http://schemas.openxmlformats.org/drawingml/2006/main">
            <a:pPr>
              <a:defRPr sz="6450" b="1">
                <a:solidFill>
                  <a:srgbClr val="FFFFFF"/>
                </a:solidFill>
                <a:latin typeface="Arial"/>
                <a:ea typeface="Arial"/>
                <a:cs typeface="Arial"/>
              </a:defRPr>
            </a:pPr>
            <a:r>
              <a:rPr sz="6450" b="1">
                <a:solidFill>
                  <a:srgbClr val="FFFFFF"/>
                </a:solidFill>
                <a:latin typeface="Arial"/>
                <a:ea typeface="Arial"/>
                <a:cs typeface="Arial"/>
              </a:rPr>
              <a:t>Social Ear</a:t>
            </a:r>
          </a:p>
        </p:txBody>
      </p:sp>
      <p:sp>
        <p:nvSpPr>
          <p:cNvPr id="4" name="">
            <a:extLst xmlns:a="http://schemas.openxmlformats.org/drawingml/2006/main">
              <a:ext uri="{FF2B5EF4-FFF2-40B4-BE49-F238E27FC236}">
                <a16:creationId xmlns:a16="http://schemas.microsoft.com/office/drawing/2014/main" id="{50E08351-5B26-4167-ABC1-78F2F400FC25}"/>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BED78D"/>
                </a:solidFill>
                <a:latin typeface="Arial"/>
                <a:ea typeface="Arial"/>
                <a:cs typeface="Arial"/>
              </a:defRPr>
            </a:defPPr>
            <a:lvl1pPr>
              <a:defRPr sz="1125" b="0">
                <a:solidFill>
                  <a:srgbClr val="BED78D"/>
                </a:solidFill>
                <a:latin typeface="Arial"/>
                <a:ea typeface="Arial"/>
                <a:cs typeface="Arial"/>
              </a:defRPr>
            </a:lvl1pPr>
            <a:lvl2pPr>
              <a:defRPr sz="1125" b="0">
                <a:solidFill>
                  <a:srgbClr val="BED78D"/>
                </a:solidFill>
                <a:latin typeface="Arial"/>
                <a:ea typeface="Arial"/>
                <a:cs typeface="Arial"/>
              </a:defRPr>
            </a:lvl2pPr>
            <a:lvl3pPr>
              <a:defRPr sz="1125" b="0">
                <a:solidFill>
                  <a:srgbClr val="BED78D"/>
                </a:solidFill>
                <a:latin typeface="Arial"/>
                <a:ea typeface="Arial"/>
                <a:cs typeface="Arial"/>
              </a:defRPr>
            </a:lvl3pPr>
            <a:lvl4pPr>
              <a:defRPr sz="1125" b="0">
                <a:solidFill>
                  <a:srgbClr val="BED78D"/>
                </a:solidFill>
                <a:latin typeface="Arial"/>
                <a:ea typeface="Arial"/>
                <a:cs typeface="Arial"/>
              </a:defRPr>
            </a:lvl4pPr>
            <a:lvl5pPr>
              <a:defRPr sz="1125" b="0">
                <a:solidFill>
                  <a:srgbClr val="BED78D"/>
                </a:solidFill>
                <a:latin typeface="Arial"/>
                <a:ea typeface="Arial"/>
                <a:cs typeface="Arial"/>
              </a:defRPr>
            </a:lvl5pPr>
            <a:lvl6pPr>
              <a:defRPr sz="1125" b="0">
                <a:solidFill>
                  <a:srgbClr val="BED78D"/>
                </a:solidFill>
                <a:latin typeface="Arial"/>
                <a:ea typeface="Arial"/>
                <a:cs typeface="Arial"/>
              </a:defRPr>
            </a:lvl6pPr>
            <a:lvl7pPr>
              <a:defRPr sz="1125" b="0">
                <a:solidFill>
                  <a:srgbClr val="BED78D"/>
                </a:solidFill>
                <a:latin typeface="Arial"/>
                <a:ea typeface="Arial"/>
                <a:cs typeface="Arial"/>
              </a:defRPr>
            </a:lvl7pPr>
            <a:lvl8pPr>
              <a:defRPr sz="1125" b="0">
                <a:solidFill>
                  <a:srgbClr val="BED78D"/>
                </a:solidFill>
                <a:latin typeface="Arial"/>
                <a:ea typeface="Arial"/>
                <a:cs typeface="Arial"/>
              </a:defRPr>
            </a:lvl8pPr>
            <a:lvl9pPr>
              <a:defRPr sz="1125" b="0">
                <a:solidFill>
                  <a:srgbClr val="BED78D"/>
                </a:solidFill>
                <a:latin typeface="Arial"/>
                <a:ea typeface="Arial"/>
                <a:cs typeface="Arial"/>
              </a:defRPr>
            </a:lvl9pPr>
          </a:lstStyle>
          <a:p xmlns:a="http://schemas.openxmlformats.org/drawingml/2006/main">
            <a:pPr>
              <a:defRPr sz="1125" b="0">
                <a:solidFill>
                  <a:srgbClr val="BED78D"/>
                </a:solidFill>
                <a:latin typeface="Arial"/>
                <a:ea typeface="Arial"/>
                <a:cs typeface="Arial"/>
              </a:defRPr>
            </a:pPr>
            <a:r>
              <a:rPr sz="1125" b="0">
                <a:solidFill>
                  <a:srgbClr val="BED78D"/>
                </a:solidFill>
                <a:latin typeface="Arial"/>
                <a:ea typeface="Arial"/>
                <a:cs typeface="Arial"/>
              </a:rPr>
              <a:t>01 / 16</a:t>
            </a:r>
          </a:p>
        </p:txBody>
      </p:sp>
      <p:sp>
        <p:nvSpPr>
          <p:cNvPr id="5" name="">
            <a:extLst xmlns:a="http://schemas.openxmlformats.org/drawingml/2006/main">
              <a:ext uri="{FF2B5EF4-FFF2-40B4-BE49-F238E27FC236}">
                <a16:creationId xmlns:a16="http://schemas.microsoft.com/office/drawing/2014/main" id="{B78528B8-E7DF-487F-BC0E-CB06E7183DBB}"/>
              </a:ext>
            </a:extLst>
          </p:cNvPr>
          <p:cNvSpPr>
            <a:spLocks xmlns:a="http://schemas.openxmlformats.org/drawingml/2006/main" noGrp="1"/>
          </p:cNvSpPr>
          <p:nvPr/>
        </p:nvSpPr>
        <p:spPr>
          <a:xfrm xmlns:a="http://schemas.openxmlformats.org/drawingml/2006/main">
            <a:off x="685800" y="3143250"/>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FFFFFF"/>
                </a:solidFill>
                <a:latin typeface="Arial"/>
                <a:ea typeface="Arial"/>
                <a:cs typeface="Arial"/>
              </a:defRPr>
            </a:defPPr>
            <a:lvl1pPr>
              <a:defRPr sz="2625" b="0">
                <a:solidFill>
                  <a:srgbClr val="FFFFFF"/>
                </a:solidFill>
                <a:latin typeface="Arial"/>
                <a:ea typeface="Arial"/>
                <a:cs typeface="Arial"/>
              </a:defRPr>
            </a:lvl1pPr>
            <a:lvl2pPr>
              <a:defRPr sz="2625" b="0">
                <a:solidFill>
                  <a:srgbClr val="FFFFFF"/>
                </a:solidFill>
                <a:latin typeface="Arial"/>
                <a:ea typeface="Arial"/>
                <a:cs typeface="Arial"/>
              </a:defRPr>
            </a:lvl2pPr>
            <a:lvl3pPr>
              <a:defRPr sz="2625" b="0">
                <a:solidFill>
                  <a:srgbClr val="FFFFFF"/>
                </a:solidFill>
                <a:latin typeface="Arial"/>
                <a:ea typeface="Arial"/>
                <a:cs typeface="Arial"/>
              </a:defRPr>
            </a:lvl3pPr>
            <a:lvl4pPr>
              <a:defRPr sz="2625" b="0">
                <a:solidFill>
                  <a:srgbClr val="FFFFFF"/>
                </a:solidFill>
                <a:latin typeface="Arial"/>
                <a:ea typeface="Arial"/>
                <a:cs typeface="Arial"/>
              </a:defRPr>
            </a:lvl4pPr>
            <a:lvl5pPr>
              <a:defRPr sz="2625" b="0">
                <a:solidFill>
                  <a:srgbClr val="FFFFFF"/>
                </a:solidFill>
                <a:latin typeface="Arial"/>
                <a:ea typeface="Arial"/>
                <a:cs typeface="Arial"/>
              </a:defRPr>
            </a:lvl5pPr>
            <a:lvl6pPr>
              <a:defRPr sz="2625" b="0">
                <a:solidFill>
                  <a:srgbClr val="FFFFFF"/>
                </a:solidFill>
                <a:latin typeface="Arial"/>
                <a:ea typeface="Arial"/>
                <a:cs typeface="Arial"/>
              </a:defRPr>
            </a:lvl6pPr>
            <a:lvl7pPr>
              <a:defRPr sz="2625" b="0">
                <a:solidFill>
                  <a:srgbClr val="FFFFFF"/>
                </a:solidFill>
                <a:latin typeface="Arial"/>
                <a:ea typeface="Arial"/>
                <a:cs typeface="Arial"/>
              </a:defRPr>
            </a:lvl7pPr>
            <a:lvl8pPr>
              <a:defRPr sz="2625" b="0">
                <a:solidFill>
                  <a:srgbClr val="FFFFFF"/>
                </a:solidFill>
                <a:latin typeface="Arial"/>
                <a:ea typeface="Arial"/>
                <a:cs typeface="Arial"/>
              </a:defRPr>
            </a:lvl8pPr>
            <a:lvl9pPr>
              <a:defRPr sz="2625" b="0">
                <a:solidFill>
                  <a:srgbClr val="FFFFFF"/>
                </a:solidFill>
                <a:latin typeface="Arial"/>
                <a:ea typeface="Arial"/>
                <a:cs typeface="Arial"/>
              </a:defRPr>
            </a:lvl9pPr>
          </a:lstStyle>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AI-assisted analysis of multilingual social feedback</a:t>
            </a:r>
          </a:p>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with source evidence and human review</a:t>
            </a:r>
          </a:p>
        </p:txBody>
      </p:sp>
      <p:sp>
        <p:nvSpPr>
          <p:cNvPr id="6" name="">
            <a:extLst xmlns:a="http://schemas.openxmlformats.org/drawingml/2006/main">
              <a:ext uri="{FF2B5EF4-FFF2-40B4-BE49-F238E27FC236}">
                <a16:creationId xmlns:a16="http://schemas.microsoft.com/office/drawing/2014/main" id="{D81076D1-8F36-442E-98E7-2BFB77DE627E}"/>
              </a:ext>
            </a:extLst>
          </p:cNvPr>
          <p:cNvSpPr>
            <a:spLocks xmlns:a="http://schemas.openxmlformats.org/drawingml/2006/main" noGrp="1"/>
          </p:cNvSpPr>
          <p:nvPr/>
        </p:nvSpPr>
        <p:spPr>
          <a:xfrm xmlns:a="http://schemas.openxmlformats.org/drawingml/2006/main">
            <a:off x="723900" y="48577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Presented by: Hamza El haddaji</a:t>
            </a:r>
          </a:p>
        </p:txBody>
      </p:sp>
      <p:sp>
        <p:nvSpPr>
          <p:cNvPr id="7" name="">
            <a:extLst xmlns:a="http://schemas.openxmlformats.org/drawingml/2006/main">
              <a:ext uri="{FF2B5EF4-FFF2-40B4-BE49-F238E27FC236}">
                <a16:creationId xmlns:a16="http://schemas.microsoft.com/office/drawing/2014/main" id="{11923C02-E812-41E6-8225-6EE8891AB251}"/>
              </a:ext>
            </a:extLst>
          </p:cNvPr>
          <p:cNvSpPr>
            <a:spLocks xmlns:a="http://schemas.openxmlformats.org/drawingml/2006/main" noGrp="1"/>
          </p:cNvSpPr>
          <p:nvPr/>
        </p:nvSpPr>
        <p:spPr>
          <a:xfrm xmlns:a="http://schemas.openxmlformats.org/drawingml/2006/main">
            <a:off x="723900" y="52863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Supervisor: Sanaa El filali</a:t>
            </a:r>
          </a:p>
        </p:txBody>
      </p:sp>
      <p:sp>
        <p:nvSpPr>
          <p:cNvPr id="8" name="">
            <a:extLst xmlns:a="http://schemas.openxmlformats.org/drawingml/2006/main">
              <a:ext uri="{FF2B5EF4-FFF2-40B4-BE49-F238E27FC236}">
                <a16:creationId xmlns:a16="http://schemas.microsoft.com/office/drawing/2014/main" id="{BBB030F2-C571-48F2-B48D-F6F857F0CD7F}"/>
              </a:ext>
            </a:extLst>
          </p:cNvPr>
          <p:cNvSpPr>
            <a:spLocks xmlns:a="http://schemas.openxmlformats.org/drawingml/2006/main" noGrp="1"/>
          </p:cNvSpPr>
          <p:nvPr/>
        </p:nvSpPr>
        <p:spPr>
          <a:xfrm xmlns:a="http://schemas.openxmlformats.org/drawingml/2006/main">
            <a:off x="723900" y="59055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BED78D"/>
                </a:solidFill>
                <a:latin typeface="Arial"/>
                <a:ea typeface="Arial"/>
                <a:cs typeface="Arial"/>
              </a:defRPr>
            </a:defPPr>
            <a:lvl1pPr>
              <a:defRPr sz="1800" b="0">
                <a:solidFill>
                  <a:srgbClr val="BED78D"/>
                </a:solidFill>
                <a:latin typeface="Arial"/>
                <a:ea typeface="Arial"/>
                <a:cs typeface="Arial"/>
              </a:defRPr>
            </a:lvl1pPr>
            <a:lvl2pPr>
              <a:defRPr sz="1800" b="0">
                <a:solidFill>
                  <a:srgbClr val="BED78D"/>
                </a:solidFill>
                <a:latin typeface="Arial"/>
                <a:ea typeface="Arial"/>
                <a:cs typeface="Arial"/>
              </a:defRPr>
            </a:lvl2pPr>
            <a:lvl3pPr>
              <a:defRPr sz="1800" b="0">
                <a:solidFill>
                  <a:srgbClr val="BED78D"/>
                </a:solidFill>
                <a:latin typeface="Arial"/>
                <a:ea typeface="Arial"/>
                <a:cs typeface="Arial"/>
              </a:defRPr>
            </a:lvl3pPr>
            <a:lvl4pPr>
              <a:defRPr sz="1800" b="0">
                <a:solidFill>
                  <a:srgbClr val="BED78D"/>
                </a:solidFill>
                <a:latin typeface="Arial"/>
                <a:ea typeface="Arial"/>
                <a:cs typeface="Arial"/>
              </a:defRPr>
            </a:lvl4pPr>
            <a:lvl5pPr>
              <a:defRPr sz="1800" b="0">
                <a:solidFill>
                  <a:srgbClr val="BED78D"/>
                </a:solidFill>
                <a:latin typeface="Arial"/>
                <a:ea typeface="Arial"/>
                <a:cs typeface="Arial"/>
              </a:defRPr>
            </a:lvl5pPr>
            <a:lvl6pPr>
              <a:defRPr sz="1800" b="0">
                <a:solidFill>
                  <a:srgbClr val="BED78D"/>
                </a:solidFill>
                <a:latin typeface="Arial"/>
                <a:ea typeface="Arial"/>
                <a:cs typeface="Arial"/>
              </a:defRPr>
            </a:lvl6pPr>
            <a:lvl7pPr>
              <a:defRPr sz="1800" b="0">
                <a:solidFill>
                  <a:srgbClr val="BED78D"/>
                </a:solidFill>
                <a:latin typeface="Arial"/>
                <a:ea typeface="Arial"/>
                <a:cs typeface="Arial"/>
              </a:defRPr>
            </a:lvl7pPr>
            <a:lvl8pPr>
              <a:defRPr sz="1800" b="0">
                <a:solidFill>
                  <a:srgbClr val="BED78D"/>
                </a:solidFill>
                <a:latin typeface="Arial"/>
                <a:ea typeface="Arial"/>
                <a:cs typeface="Arial"/>
              </a:defRPr>
            </a:lvl8pPr>
            <a:lvl9pPr>
              <a:defRPr sz="1800" b="0">
                <a:solidFill>
                  <a:srgbClr val="BED78D"/>
                </a:solidFill>
                <a:latin typeface="Arial"/>
                <a:ea typeface="Arial"/>
                <a:cs typeface="Arial"/>
              </a:defRPr>
            </a:lvl9pPr>
          </a:lstStyle>
          <a:p xmlns:a="http://schemas.openxmlformats.org/drawingml/2006/main">
            <a:pPr>
              <a:defRPr sz="1800" b="0">
                <a:solidFill>
                  <a:srgbClr val="BED78D"/>
                </a:solidFill>
                <a:latin typeface="Arial"/>
                <a:ea typeface="Arial"/>
                <a:cs typeface="Arial"/>
              </a:defRPr>
            </a:pPr>
            <a:r>
              <a:rPr sz="1800" b="0">
                <a:solidFill>
                  <a:srgbClr val="BED78D"/>
                </a:solidFill>
                <a:latin typeface="Arial"/>
                <a:ea typeface="Arial"/>
                <a:cs typeface="Arial"/>
              </a:rPr>
              <a:t>Proposed methodology and experimental setup</a:t>
            </a:r>
          </a:p>
        </p:txBody>
      </p:sp>
    </p:spTree>
    <p:extLst>
      <p:ext uri="{BB962C8B-B14F-4D97-AF65-F5344CB8AC3E}">
        <p14:creationId xmlns:p14="http://schemas.microsoft.com/office/powerpoint/2010/main" val="193202431"/>
      </p:ext>
    </p:extLst>
  </p:cSld>
</p:sld>
</file>

<file path=ppt/slides/slide2.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F2A5547-698A-4839-B868-DACF06AA3483}"/>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CONTEXT AND GAP</a:t>
            </a:r>
          </a:p>
        </p:txBody>
      </p:sp>
      <p:sp>
        <p:nvSpPr>
          <p:cNvPr id="3" name="">
            <a:extLst xmlns:a="http://schemas.openxmlformats.org/drawingml/2006/main">
              <a:ext uri="{FF2B5EF4-FFF2-40B4-BE49-F238E27FC236}">
                <a16:creationId xmlns:a16="http://schemas.microsoft.com/office/drawing/2014/main" id="{B062A3E3-A5B6-42A0-9595-6BC4232E4484}"/>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The problem and research opportunity</a:t>
            </a:r>
          </a:p>
        </p:txBody>
      </p:sp>
      <p:sp>
        <p:nvSpPr>
          <p:cNvPr id="4" name="">
            <a:extLst xmlns:a="http://schemas.openxmlformats.org/drawingml/2006/main">
              <a:ext uri="{FF2B5EF4-FFF2-40B4-BE49-F238E27FC236}">
                <a16:creationId xmlns:a16="http://schemas.microsoft.com/office/drawing/2014/main" id="{2010446F-7B76-4767-ACC2-53B64ADA2D29}"/>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02 / 16</a:t>
            </a:r>
          </a:p>
        </p:txBody>
      </p:sp>
      <p:sp>
        <p:nvSpPr>
          <p:cNvPr id="5" name="">
            <a:extLst xmlns:a="http://schemas.openxmlformats.org/drawingml/2006/main">
              <a:ext uri="{FF2B5EF4-FFF2-40B4-BE49-F238E27FC236}">
                <a16:creationId xmlns:a16="http://schemas.microsoft.com/office/drawing/2014/main" id="{45971BF6-E310-44AC-B79F-30EA725034FA}"/>
              </a:ext>
            </a:extLst>
          </p:cNvPr>
          <p:cNvSpPr>
            <a:spLocks xmlns:a="http://schemas.openxmlformats.org/drawingml/2006/main" noGrp="1"/>
          </p:cNvSpPr>
          <p:nvPr/>
        </p:nvSpPr>
        <p:spPr>
          <a:xfrm xmlns:a="http://schemas.openxmlformats.org/drawingml/2006/main">
            <a:off x="609600" y="18097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Practical problem</a:t>
            </a:r>
          </a:p>
        </p:txBody>
      </p:sp>
      <p:sp>
        <p:nvSpPr>
          <p:cNvPr id="6" name="">
            <a:extLst xmlns:a="http://schemas.openxmlformats.org/drawingml/2006/main">
              <a:ext uri="{FF2B5EF4-FFF2-40B4-BE49-F238E27FC236}">
                <a16:creationId xmlns:a16="http://schemas.microsoft.com/office/drawing/2014/main" id="{CEF6C018-7956-45D0-AC23-DAC80197C263}"/>
              </a:ext>
            </a:extLst>
          </p:cNvPr>
          <p:cNvSpPr>
            <a:spLocks xmlns:a="http://schemas.openxmlformats.org/drawingml/2006/main" noGrp="1"/>
          </p:cNvSpPr>
          <p:nvPr/>
        </p:nvSpPr>
        <p:spPr>
          <a:xfrm xmlns:a="http://schemas.openxmlformats.org/drawingml/2006/main">
            <a:off x="609600" y="2266950"/>
            <a:ext cx="5143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Feedback is multilingual, noisy and scattered. A summary can hide minority issues or unsupported claims.</a:t>
            </a:r>
          </a:p>
        </p:txBody>
      </p:sp>
      <p:sp>
        <p:nvSpPr>
          <p:cNvPr id="7" name="">
            <a:extLst xmlns:a="http://schemas.openxmlformats.org/drawingml/2006/main">
              <a:ext uri="{FF2B5EF4-FFF2-40B4-BE49-F238E27FC236}">
                <a16:creationId xmlns:a16="http://schemas.microsoft.com/office/drawing/2014/main" id="{1309D76E-CC03-4C20-A12C-E0AAF21DB29F}"/>
              </a:ext>
            </a:extLst>
          </p:cNvPr>
          <p:cNvSpPr>
            <a:spLocks xmlns:a="http://schemas.openxmlformats.org/drawingml/2006/main" noGrp="1"/>
          </p:cNvSpPr>
          <p:nvPr/>
        </p:nvSpPr>
        <p:spPr>
          <a:xfrm xmlns:a="http://schemas.openxmlformats.org/drawingml/2006/main">
            <a:off x="6705600" y="18097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Research gap to investigate</a:t>
            </a:r>
          </a:p>
        </p:txBody>
      </p:sp>
      <p:sp>
        <p:nvSpPr>
          <p:cNvPr id="8" name="">
            <a:extLst xmlns:a="http://schemas.openxmlformats.org/drawingml/2006/main">
              <a:ext uri="{FF2B5EF4-FFF2-40B4-BE49-F238E27FC236}">
                <a16:creationId xmlns:a16="http://schemas.microsoft.com/office/drawing/2014/main" id="{0322CBAF-0935-4AC9-85F4-03D8C4FD00EC}"/>
              </a:ext>
            </a:extLst>
          </p:cNvPr>
          <p:cNvSpPr>
            <a:spLocks xmlns:a="http://schemas.openxmlformats.org/drawingml/2006/main" noGrp="1"/>
          </p:cNvSpPr>
          <p:nvPr/>
        </p:nvSpPr>
        <p:spPr>
          <a:xfrm xmlns:a="http://schemas.openxmlformats.org/drawingml/2006/main">
            <a:off x="6705600" y="2266950"/>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Published component benchmarks do not directly answer our local workflow’s quality, latency and review needs.</a:t>
            </a:r>
          </a:p>
        </p:txBody>
      </p:sp>
      <p:sp>
        <p:nvSpPr>
          <p:cNvPr id="9" name="">
            <a:extLst xmlns:a="http://schemas.openxmlformats.org/drawingml/2006/main">
              <a:ext uri="{FF2B5EF4-FFF2-40B4-BE49-F238E27FC236}">
                <a16:creationId xmlns:a16="http://schemas.microsoft.com/office/drawing/2014/main" id="{E5B13098-EF8E-449F-ACA8-19A05ADB6391}"/>
              </a:ext>
            </a:extLst>
          </p:cNvPr>
          <p:cNvSpPr>
            <a:spLocks xmlns:a="http://schemas.openxmlformats.org/drawingml/2006/main" noGrp="1"/>
          </p:cNvSpPr>
          <p:nvPr/>
        </p:nvSpPr>
        <p:spPr>
          <a:xfrm xmlns:a="http://schemas.openxmlformats.org/drawingml/2006/main">
            <a:off x="609600" y="442912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775" b="1">
                <a:solidFill>
                  <a:srgbClr val="153A32"/>
                </a:solidFill>
                <a:latin typeface="Arial"/>
                <a:ea typeface="Arial"/>
                <a:cs typeface="Arial"/>
              </a:defRPr>
            </a:defPPr>
            <a:lvl1pPr>
              <a:defRPr sz="2775" b="1">
                <a:solidFill>
                  <a:srgbClr val="153A32"/>
                </a:solidFill>
                <a:latin typeface="Arial"/>
                <a:ea typeface="Arial"/>
                <a:cs typeface="Arial"/>
              </a:defRPr>
            </a:lvl1pPr>
            <a:lvl2pPr>
              <a:defRPr sz="2775" b="1">
                <a:solidFill>
                  <a:srgbClr val="153A32"/>
                </a:solidFill>
                <a:latin typeface="Arial"/>
                <a:ea typeface="Arial"/>
                <a:cs typeface="Arial"/>
              </a:defRPr>
            </a:lvl2pPr>
            <a:lvl3pPr>
              <a:defRPr sz="2775" b="1">
                <a:solidFill>
                  <a:srgbClr val="153A32"/>
                </a:solidFill>
                <a:latin typeface="Arial"/>
                <a:ea typeface="Arial"/>
                <a:cs typeface="Arial"/>
              </a:defRPr>
            </a:lvl3pPr>
            <a:lvl4pPr>
              <a:defRPr sz="2775" b="1">
                <a:solidFill>
                  <a:srgbClr val="153A32"/>
                </a:solidFill>
                <a:latin typeface="Arial"/>
                <a:ea typeface="Arial"/>
                <a:cs typeface="Arial"/>
              </a:defRPr>
            </a:lvl4pPr>
            <a:lvl5pPr>
              <a:defRPr sz="2775" b="1">
                <a:solidFill>
                  <a:srgbClr val="153A32"/>
                </a:solidFill>
                <a:latin typeface="Arial"/>
                <a:ea typeface="Arial"/>
                <a:cs typeface="Arial"/>
              </a:defRPr>
            </a:lvl5pPr>
            <a:lvl6pPr>
              <a:defRPr sz="2775" b="1">
                <a:solidFill>
                  <a:srgbClr val="153A32"/>
                </a:solidFill>
                <a:latin typeface="Arial"/>
                <a:ea typeface="Arial"/>
                <a:cs typeface="Arial"/>
              </a:defRPr>
            </a:lvl6pPr>
            <a:lvl7pPr>
              <a:defRPr sz="2775" b="1">
                <a:solidFill>
                  <a:srgbClr val="153A32"/>
                </a:solidFill>
                <a:latin typeface="Arial"/>
                <a:ea typeface="Arial"/>
                <a:cs typeface="Arial"/>
              </a:defRPr>
            </a:lvl7pPr>
            <a:lvl8pPr>
              <a:defRPr sz="2775" b="1">
                <a:solidFill>
                  <a:srgbClr val="153A32"/>
                </a:solidFill>
                <a:latin typeface="Arial"/>
                <a:ea typeface="Arial"/>
                <a:cs typeface="Arial"/>
              </a:defRPr>
            </a:lvl8pPr>
            <a:lvl9pPr>
              <a:defRPr sz="2775" b="1">
                <a:solidFill>
                  <a:srgbClr val="153A32"/>
                </a:solidFill>
                <a:latin typeface="Arial"/>
                <a:ea typeface="Arial"/>
                <a:cs typeface="Arial"/>
              </a:defRPr>
            </a:lvl9pPr>
          </a:lstStyle>
          <a:p xmlns:a="http://schemas.openxmlformats.org/drawingml/2006/main">
            <a:pPr>
              <a:defRPr sz="2775" b="1">
                <a:solidFill>
                  <a:srgbClr val="153A32"/>
                </a:solidFill>
                <a:latin typeface="Arial"/>
                <a:ea typeface="Arial"/>
                <a:cs typeface="Arial"/>
              </a:defRPr>
            </a:pPr>
            <a:r>
              <a:rPr sz="2775" b="1">
                <a:solidFill>
                  <a:srgbClr val="153A32"/>
                </a:solidFill>
                <a:latin typeface="Arial"/>
                <a:ea typeface="Arial"/>
                <a:cs typeface="Arial"/>
              </a:rPr>
              <a:t>Goal: evaluate a traceable analysis workflow on modest local hardware.</a:t>
            </a:r>
          </a:p>
        </p:txBody>
      </p:sp>
      <p:sp>
        <p:nvSpPr>
          <p:cNvPr id="10" name="">
            <a:extLst xmlns:a="http://schemas.openxmlformats.org/drawingml/2006/main">
              <a:ext uri="{FF2B5EF4-FFF2-40B4-BE49-F238E27FC236}">
                <a16:creationId xmlns:a16="http://schemas.microsoft.com/office/drawing/2014/main" id="{5B12FE6B-00AA-481A-B2E4-25BA62EEB671}"/>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Positioning is specific to this project. A universal novelty claim is not established.</a:t>
            </a:r>
          </a:p>
        </p:txBody>
      </p:sp>
    </p:spTree>
    <p:extLst>
      <p:ext uri="{BB962C8B-B14F-4D97-AF65-F5344CB8AC3E}">
        <p14:creationId xmlns:p14="http://schemas.microsoft.com/office/powerpoint/2010/main" val="197237043"/>
      </p:ext>
    </p:extLst>
  </p:cSld>
</p:sld>
</file>

<file path=ppt/slides/slide3.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A12D987-6E47-4276-927D-2833C9CE13D3}"/>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STATE OF THE ART</a:t>
            </a:r>
          </a:p>
        </p:txBody>
      </p:sp>
      <p:sp>
        <p:nvSpPr>
          <p:cNvPr id="3" name="">
            <a:extLst xmlns:a="http://schemas.openxmlformats.org/drawingml/2006/main">
              <a:ext uri="{FF2B5EF4-FFF2-40B4-BE49-F238E27FC236}">
                <a16:creationId xmlns:a16="http://schemas.microsoft.com/office/drawing/2014/main" id="{F819AE89-8CCB-4F3A-8CEA-D31BB065AA58}"/>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Related work and our positioning</a:t>
            </a:r>
          </a:p>
        </p:txBody>
      </p:sp>
      <p:sp>
        <p:nvSpPr>
          <p:cNvPr id="4" name="">
            <a:extLst xmlns:a="http://schemas.openxmlformats.org/drawingml/2006/main">
              <a:ext uri="{FF2B5EF4-FFF2-40B4-BE49-F238E27FC236}">
                <a16:creationId xmlns:a16="http://schemas.microsoft.com/office/drawing/2014/main" id="{5CD65641-A3FB-4B10-85AC-D96706730FBD}"/>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03 / 16</a:t>
            </a:r>
          </a:p>
        </p:txBody>
      </p:sp>
      <p:graphicFrame>
        <p:nvGraphicFramePr>
          <p:cNvPr id="5" name="">
            <a:extLst xmlns:a="http://schemas.openxmlformats.org/drawingml/2006/main">
              <a:ext uri="{FF2B5EF4-FFF2-40B4-BE49-F238E27FC236}">
                <a16:creationId xmlns:a16="http://schemas.microsoft.com/office/drawing/2014/main" id="{D39567FA-6506-4D20-B8EF-0E834D47B390}"/>
              </a:ext>
            </a:extLst>
          </p:cNvPr>
          <p:cNvGraphicFramePr/>
          <p:nvPr/>
        </p:nvGraphicFramePr>
        <p:xfrm>
          <a:off xmlns:a="http://schemas.openxmlformats.org/drawingml/2006/main" x="609600" y="1704975"/>
          <a:ext xmlns:a="http://schemas.openxmlformats.org/drawingml/2006/main" cx="10972800" cy="3524250"/>
        </p:xfrm>
        <a:graphic xmlns:a="http://schemas.openxmlformats.org/drawingml/2006/main">
          <a:graphicData uri="http://schemas.openxmlformats.org/drawingml/2006/table">
            <a:tbl>
              <a:tblPr/>
              <a:tblGrid>
                <a:gridCol w="2333625"/>
                <a:gridCol w="3762375"/>
                <a:gridCol w="4876800"/>
              </a:tblGrid>
              <a:tr h="881063">
                <a:tc>
                  <a:txBody>
                    <a:bodyPr/>
                    <a:lstStyle/>
                    <a:p>
                      <a:r>
                        <a:rPr sz="1725" b="1">
                          <a:solidFill>
                            <a:srgbClr val="FFFFFF"/>
                          </a:solidFill>
                          <a:latin typeface="Arial"/>
                          <a:ea typeface="Arial"/>
                          <a:cs typeface="Arial"/>
                        </a:rPr>
                        <a:t>Research strand</a:t>
                      </a:r>
                    </a:p>
                  </a:txBody>
                  <a:tcPr marL="91440" marR="91440" marT="45720" marB="45720" anchor="ctr">
                    <a:solidFill>
                      <a:srgbClr val="153A32"/>
                    </a:solidFill>
                  </a:tcPr>
                </a:tc>
                <a:tc>
                  <a:txBody>
                    <a:bodyPr/>
                    <a:lstStyle/>
                    <a:p>
                      <a:r>
                        <a:rPr sz="1725" b="1">
                          <a:solidFill>
                            <a:srgbClr val="FFFFFF"/>
                          </a:solidFill>
                          <a:latin typeface="Arial"/>
                          <a:ea typeface="Arial"/>
                          <a:cs typeface="Arial"/>
                        </a:rPr>
                        <a:t>Established approach</a:t>
                      </a:r>
                    </a:p>
                  </a:txBody>
                  <a:tcPr marL="91440" marR="91440" marT="45720" marB="45720" anchor="ctr">
                    <a:solidFill>
                      <a:srgbClr val="153A32"/>
                    </a:solidFill>
                  </a:tcPr>
                </a:tc>
                <a:tc>
                  <a:txBody>
                    <a:bodyPr/>
                    <a:lstStyle/>
                    <a:p>
                      <a:r>
                        <a:rPr sz="1725" b="1">
                          <a:solidFill>
                            <a:srgbClr val="FFFFFF"/>
                          </a:solidFill>
                          <a:latin typeface="Arial"/>
                          <a:ea typeface="Arial"/>
                          <a:cs typeface="Arial"/>
                        </a:rPr>
                        <a:t>Implication for Social Ear</a:t>
                      </a:r>
                    </a:p>
                  </a:txBody>
                  <a:tcPr marL="91440" marR="91440" marT="45720" marB="45720" anchor="ctr">
                    <a:solidFill>
                      <a:srgbClr val="153A32"/>
                    </a:solidFill>
                  </a:tcPr>
                </a:tc>
              </a:tr>
              <a:tr h="881063">
                <a:tc>
                  <a:txBody>
                    <a:bodyPr/>
                    <a:lstStyle/>
                    <a:p>
                      <a:r>
                        <a:rPr sz="1725" b="0">
                          <a:solidFill>
                            <a:srgbClr val="213B33"/>
                          </a:solidFill>
                          <a:latin typeface="Arial"/>
                          <a:ea typeface="Arial"/>
                          <a:cs typeface="Arial"/>
                        </a:rPr>
                        <a:t>Sentiment rules</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VADER (ICWSM 2014)</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Cheap English baseline; limited multilingual scope</a:t>
                      </a:r>
                    </a:p>
                  </a:txBody>
                  <a:tcPr marL="91440" marR="91440" marT="45720" marB="45720" anchor="ctr">
                    <a:solidFill>
                      <a:srgbClr val="FFFFFF"/>
                    </a:solidFill>
                  </a:tcPr>
                </a:tc>
              </a:tr>
              <a:tr h="881063">
                <a:tc>
                  <a:txBody>
                    <a:bodyPr/>
                    <a:lstStyle/>
                    <a:p>
                      <a:r>
                        <a:rPr sz="1725" b="0">
                          <a:solidFill>
                            <a:srgbClr val="213B33"/>
                          </a:solidFill>
                          <a:latin typeface="Arial"/>
                          <a:ea typeface="Arial"/>
                          <a:cs typeface="Arial"/>
                        </a:rPr>
                        <a:t>Social NLP</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XLM-T (LREC 2022)</a:t>
                      </a:r>
                    </a:p>
                    <a:p>
                      <a:r>
                        <a:rPr sz="1725" b="0">
                          <a:solidFill>
                            <a:srgbClr val="213B33"/>
                          </a:solidFill>
                          <a:latin typeface="Arial"/>
                          <a:ea typeface="Arial"/>
                          <a:cs typeface="Arial"/>
                        </a:rPr>
                        <a:t>TweetNLP (EMNLP 2022)</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Social-domain models; domain shift still needs testing</a:t>
                      </a:r>
                    </a:p>
                  </a:txBody>
                  <a:tcPr marL="91440" marR="91440" marT="45720" marB="45720" anchor="ctr">
                    <a:solidFill>
                      <a:srgbClr val="EBF0E4"/>
                    </a:solidFill>
                  </a:tcPr>
                </a:tc>
              </a:tr>
              <a:tr h="881063">
                <a:tc>
                  <a:txBody>
                    <a:bodyPr/>
                    <a:lstStyle/>
                    <a:p>
                      <a:r>
                        <a:rPr sz="1725" b="0">
                          <a:solidFill>
                            <a:srgbClr val="213B33"/>
                          </a:solidFill>
                          <a:latin typeface="Arial"/>
                          <a:ea typeface="Arial"/>
                          <a:cs typeface="Arial"/>
                        </a:rPr>
                        <a:t>Attributed answers</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ALCE (EMNLP 2023)</a:t>
                      </a:r>
                    </a:p>
                    <a:p>
                      <a:r>
                        <a:rPr sz="1725" b="0">
                          <a:solidFill>
                            <a:srgbClr val="213B33"/>
                          </a:solidFill>
                          <a:latin typeface="Arial"/>
                          <a:ea typeface="Arial"/>
                          <a:cs typeface="Arial"/>
                        </a:rPr>
                        <a:t>MultiAttr (NAACL 2024)</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Claim support remains difficult</a:t>
                      </a:r>
                    </a:p>
                    <a:p>
                      <a:r>
                        <a:rPr sz="1725" b="0">
                          <a:solidFill>
                            <a:srgbClr val="213B33"/>
                          </a:solidFill>
                          <a:latin typeface="Arial"/>
                          <a:ea typeface="Arial"/>
                          <a:cs typeface="Arial"/>
                        </a:rPr>
                        <a:t>across multiple evidence sources</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3926DF7-C602-4A0D-8B80-41C06EE40E43}"/>
              </a:ext>
            </a:extLst>
          </p:cNvPr>
          <p:cNvSpPr>
            <a:spLocks xmlns:a="http://schemas.openxmlformats.org/drawingml/2006/main" noGrp="1"/>
          </p:cNvSpPr>
          <p:nvPr/>
        </p:nvSpPr>
        <p:spPr>
          <a:xfrm xmlns:a="http://schemas.openxmlformats.org/drawingml/2006/main">
            <a:off x="609600" y="55245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Proposed contribution: an evaluated integration of local analysis,</a:t>
            </a:r>
          </a:p>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bounded evidence retrieval and persistent human corrections.</a:t>
            </a:r>
          </a:p>
        </p:txBody>
      </p:sp>
    </p:spTree>
    <p:extLst>
      <p:ext uri="{BB962C8B-B14F-4D97-AF65-F5344CB8AC3E}">
        <p14:creationId xmlns:p14="http://schemas.microsoft.com/office/powerpoint/2010/main" val="1371086243"/>
      </p:ext>
    </p:extLst>
  </p:cSld>
</p:sld>
</file>

<file path=ppt/slides/slide4.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7E6656B-BDE4-4978-8CF3-71EFF9CCF35B}"/>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RESEARCH QUESTIONS</a:t>
            </a:r>
          </a:p>
        </p:txBody>
      </p:sp>
      <p:sp>
        <p:nvSpPr>
          <p:cNvPr id="3" name="">
            <a:extLst xmlns:a="http://schemas.openxmlformats.org/drawingml/2006/main">
              <a:ext uri="{FF2B5EF4-FFF2-40B4-BE49-F238E27FC236}">
                <a16:creationId xmlns:a16="http://schemas.microsoft.com/office/drawing/2014/main" id="{D3BA6F03-EA0D-43F5-8465-CFFDBF7C027A}"/>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Three research questions</a:t>
            </a:r>
          </a:p>
        </p:txBody>
      </p:sp>
      <p:sp>
        <p:nvSpPr>
          <p:cNvPr id="4" name="">
            <a:extLst xmlns:a="http://schemas.openxmlformats.org/drawingml/2006/main">
              <a:ext uri="{FF2B5EF4-FFF2-40B4-BE49-F238E27FC236}">
                <a16:creationId xmlns:a16="http://schemas.microsoft.com/office/drawing/2014/main" id="{418EC450-1554-4F24-A282-0A5355D223D3}"/>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04 / 16</a:t>
            </a:r>
          </a:p>
        </p:txBody>
      </p:sp>
      <p:sp>
        <p:nvSpPr>
          <p:cNvPr id="5" name="">
            <a:extLst xmlns:a="http://schemas.openxmlformats.org/drawingml/2006/main">
              <a:ext uri="{FF2B5EF4-FFF2-40B4-BE49-F238E27FC236}">
                <a16:creationId xmlns:a16="http://schemas.microsoft.com/office/drawing/2014/main" id="{1E297532-573C-4DE0-82A1-6A1145F1877D}"/>
              </a:ext>
            </a:extLst>
          </p:cNvPr>
          <p:cNvSpPr>
            <a:spLocks xmlns:a="http://schemas.openxmlformats.org/drawingml/2006/main" noGrp="1"/>
          </p:cNvSpPr>
          <p:nvPr/>
        </p:nvSpPr>
        <p:spPr>
          <a:xfrm xmlns:a="http://schemas.openxmlformats.org/drawingml/2006/main">
            <a:off x="609600" y="17526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RQ1 · Quality and efficiency</a:t>
            </a:r>
          </a:p>
        </p:txBody>
      </p:sp>
      <p:sp>
        <p:nvSpPr>
          <p:cNvPr id="6" name="">
            <a:extLst xmlns:a="http://schemas.openxmlformats.org/drawingml/2006/main">
              <a:ext uri="{FF2B5EF4-FFF2-40B4-BE49-F238E27FC236}">
                <a16:creationId xmlns:a16="http://schemas.microsoft.com/office/drawing/2014/main" id="{C939FAEA-1ABE-44B1-BD92-9D65556E32F7}"/>
              </a:ext>
            </a:extLst>
          </p:cNvPr>
          <p:cNvSpPr>
            <a:spLocks xmlns:a="http://schemas.openxmlformats.org/drawingml/2006/main" noGrp="1"/>
          </p:cNvSpPr>
          <p:nvPr/>
        </p:nvSpPr>
        <p:spPr>
          <a:xfrm xmlns:a="http://schemas.openxmlformats.org/drawingml/2006/main">
            <a:off x="609600" y="2181225"/>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64786A"/>
                </a:solidFill>
                <a:latin typeface="Arial"/>
                <a:ea typeface="Arial"/>
                <a:cs typeface="Arial"/>
              </a:defRPr>
            </a:defPPr>
            <a:lvl1pPr>
              <a:defRPr sz="2025" b="0">
                <a:solidFill>
                  <a:srgbClr val="64786A"/>
                </a:solidFill>
                <a:latin typeface="Arial"/>
                <a:ea typeface="Arial"/>
                <a:cs typeface="Arial"/>
              </a:defRPr>
            </a:lvl1pPr>
            <a:lvl2pPr>
              <a:defRPr sz="2025" b="0">
                <a:solidFill>
                  <a:srgbClr val="64786A"/>
                </a:solidFill>
                <a:latin typeface="Arial"/>
                <a:ea typeface="Arial"/>
                <a:cs typeface="Arial"/>
              </a:defRPr>
            </a:lvl2pPr>
            <a:lvl3pPr>
              <a:defRPr sz="2025" b="0">
                <a:solidFill>
                  <a:srgbClr val="64786A"/>
                </a:solidFill>
                <a:latin typeface="Arial"/>
                <a:ea typeface="Arial"/>
                <a:cs typeface="Arial"/>
              </a:defRPr>
            </a:lvl3pPr>
            <a:lvl4pPr>
              <a:defRPr sz="2025" b="0">
                <a:solidFill>
                  <a:srgbClr val="64786A"/>
                </a:solidFill>
                <a:latin typeface="Arial"/>
                <a:ea typeface="Arial"/>
                <a:cs typeface="Arial"/>
              </a:defRPr>
            </a:lvl4pPr>
            <a:lvl5pPr>
              <a:defRPr sz="2025" b="0">
                <a:solidFill>
                  <a:srgbClr val="64786A"/>
                </a:solidFill>
                <a:latin typeface="Arial"/>
                <a:ea typeface="Arial"/>
                <a:cs typeface="Arial"/>
              </a:defRPr>
            </a:lvl5pPr>
            <a:lvl6pPr>
              <a:defRPr sz="2025" b="0">
                <a:solidFill>
                  <a:srgbClr val="64786A"/>
                </a:solidFill>
                <a:latin typeface="Arial"/>
                <a:ea typeface="Arial"/>
                <a:cs typeface="Arial"/>
              </a:defRPr>
            </a:lvl6pPr>
            <a:lvl7pPr>
              <a:defRPr sz="2025" b="0">
                <a:solidFill>
                  <a:srgbClr val="64786A"/>
                </a:solidFill>
                <a:latin typeface="Arial"/>
                <a:ea typeface="Arial"/>
                <a:cs typeface="Arial"/>
              </a:defRPr>
            </a:lvl7pPr>
            <a:lvl8pPr>
              <a:defRPr sz="2025" b="0">
                <a:solidFill>
                  <a:srgbClr val="64786A"/>
                </a:solidFill>
                <a:latin typeface="Arial"/>
                <a:ea typeface="Arial"/>
                <a:cs typeface="Arial"/>
              </a:defRPr>
            </a:lvl8pPr>
            <a:lvl9pPr>
              <a:defRPr sz="2025" b="0">
                <a:solidFill>
                  <a:srgbClr val="64786A"/>
                </a:solidFill>
                <a:latin typeface="Arial"/>
                <a:ea typeface="Arial"/>
                <a:cs typeface="Arial"/>
              </a:defRPr>
            </a:lvl9pPr>
          </a:lstStyle>
          <a:p xmlns:a="http://schemas.openxmlformats.org/drawingml/2006/main">
            <a:pPr>
              <a:defRPr sz="2025" b="0">
                <a:solidFill>
                  <a:srgbClr val="64786A"/>
                </a:solidFill>
                <a:latin typeface="Arial"/>
                <a:ea typeface="Arial"/>
                <a:cs typeface="Arial"/>
              </a:defRPr>
            </a:pPr>
            <a:r>
              <a:rPr sz="2025" b="0">
                <a:solidFill>
                  <a:srgbClr val="64786A"/>
                </a:solidFill>
                <a:latin typeface="Arial"/>
                <a:ea typeface="Arial"/>
                <a:cs typeface="Arial"/>
              </a:rPr>
              <a:t>How does quantized multilingual sentiment compare with VADER on English, and how does it generalize across languages?</a:t>
            </a:r>
          </a:p>
        </p:txBody>
      </p:sp>
      <p:sp>
        <p:nvSpPr>
          <p:cNvPr id="7" name="">
            <a:extLst xmlns:a="http://schemas.openxmlformats.org/drawingml/2006/main">
              <a:ext uri="{FF2B5EF4-FFF2-40B4-BE49-F238E27FC236}">
                <a16:creationId xmlns:a16="http://schemas.microsoft.com/office/drawing/2014/main" id="{EBEF4D8A-FC28-47B3-8A99-B4907444A1F5}"/>
              </a:ext>
            </a:extLst>
          </p:cNvPr>
          <p:cNvSpPr>
            <a:spLocks xmlns:a="http://schemas.openxmlformats.org/drawingml/2006/main" noGrp="1"/>
          </p:cNvSpPr>
          <p:nvPr/>
        </p:nvSpPr>
        <p:spPr>
          <a:xfrm xmlns:a="http://schemas.openxmlformats.org/drawingml/2006/main">
            <a:off x="609600" y="3190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RQ2 · Evidence support</a:t>
            </a:r>
          </a:p>
        </p:txBody>
      </p:sp>
      <p:sp>
        <p:nvSpPr>
          <p:cNvPr id="8" name="">
            <a:extLst xmlns:a="http://schemas.openxmlformats.org/drawingml/2006/main">
              <a:ext uri="{FF2B5EF4-FFF2-40B4-BE49-F238E27FC236}">
                <a16:creationId xmlns:a16="http://schemas.microsoft.com/office/drawing/2014/main" id="{02763746-B496-452B-9BB8-0CA6C5D9EBEF}"/>
              </a:ext>
            </a:extLst>
          </p:cNvPr>
          <p:cNvSpPr>
            <a:spLocks xmlns:a="http://schemas.openxmlformats.org/drawingml/2006/main" noGrp="1"/>
          </p:cNvSpPr>
          <p:nvPr/>
        </p:nvSpPr>
        <p:spPr>
          <a:xfrm xmlns:a="http://schemas.openxmlformats.org/drawingml/2006/main">
            <a:off x="609600" y="3619500"/>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64786A"/>
                </a:solidFill>
                <a:latin typeface="Arial"/>
                <a:ea typeface="Arial"/>
                <a:cs typeface="Arial"/>
              </a:defRPr>
            </a:defPPr>
            <a:lvl1pPr>
              <a:defRPr sz="2025" b="0">
                <a:solidFill>
                  <a:srgbClr val="64786A"/>
                </a:solidFill>
                <a:latin typeface="Arial"/>
                <a:ea typeface="Arial"/>
                <a:cs typeface="Arial"/>
              </a:defRPr>
            </a:lvl1pPr>
            <a:lvl2pPr>
              <a:defRPr sz="2025" b="0">
                <a:solidFill>
                  <a:srgbClr val="64786A"/>
                </a:solidFill>
                <a:latin typeface="Arial"/>
                <a:ea typeface="Arial"/>
                <a:cs typeface="Arial"/>
              </a:defRPr>
            </a:lvl2pPr>
            <a:lvl3pPr>
              <a:defRPr sz="2025" b="0">
                <a:solidFill>
                  <a:srgbClr val="64786A"/>
                </a:solidFill>
                <a:latin typeface="Arial"/>
                <a:ea typeface="Arial"/>
                <a:cs typeface="Arial"/>
              </a:defRPr>
            </a:lvl3pPr>
            <a:lvl4pPr>
              <a:defRPr sz="2025" b="0">
                <a:solidFill>
                  <a:srgbClr val="64786A"/>
                </a:solidFill>
                <a:latin typeface="Arial"/>
                <a:ea typeface="Arial"/>
                <a:cs typeface="Arial"/>
              </a:defRPr>
            </a:lvl4pPr>
            <a:lvl5pPr>
              <a:defRPr sz="2025" b="0">
                <a:solidFill>
                  <a:srgbClr val="64786A"/>
                </a:solidFill>
                <a:latin typeface="Arial"/>
                <a:ea typeface="Arial"/>
                <a:cs typeface="Arial"/>
              </a:defRPr>
            </a:lvl5pPr>
            <a:lvl6pPr>
              <a:defRPr sz="2025" b="0">
                <a:solidFill>
                  <a:srgbClr val="64786A"/>
                </a:solidFill>
                <a:latin typeface="Arial"/>
                <a:ea typeface="Arial"/>
                <a:cs typeface="Arial"/>
              </a:defRPr>
            </a:lvl6pPr>
            <a:lvl7pPr>
              <a:defRPr sz="2025" b="0">
                <a:solidFill>
                  <a:srgbClr val="64786A"/>
                </a:solidFill>
                <a:latin typeface="Arial"/>
                <a:ea typeface="Arial"/>
                <a:cs typeface="Arial"/>
              </a:defRPr>
            </a:lvl7pPr>
            <a:lvl8pPr>
              <a:defRPr sz="2025" b="0">
                <a:solidFill>
                  <a:srgbClr val="64786A"/>
                </a:solidFill>
                <a:latin typeface="Arial"/>
                <a:ea typeface="Arial"/>
                <a:cs typeface="Arial"/>
              </a:defRPr>
            </a:lvl8pPr>
            <a:lvl9pPr>
              <a:defRPr sz="2025" b="0">
                <a:solidFill>
                  <a:srgbClr val="64786A"/>
                </a:solidFill>
                <a:latin typeface="Arial"/>
                <a:ea typeface="Arial"/>
                <a:cs typeface="Arial"/>
              </a:defRPr>
            </a:lvl9pPr>
          </a:lstStyle>
          <a:p xmlns:a="http://schemas.openxmlformats.org/drawingml/2006/main">
            <a:pPr>
              <a:defRPr sz="2025" b="0">
                <a:solidFill>
                  <a:srgbClr val="64786A"/>
                </a:solidFill>
                <a:latin typeface="Arial"/>
                <a:ea typeface="Arial"/>
                <a:cs typeface="Arial"/>
              </a:defRPr>
            </a:pPr>
            <a:r>
              <a:rPr sz="2025" b="0">
                <a:solidFill>
                  <a:srgbClr val="64786A"/>
                </a:solidFill>
                <a:latin typeface="Arial"/>
                <a:ea typeface="Arial"/>
                <a:cs typeface="Arial"/>
              </a:rPr>
              <a:t>Does bounded, cited generation improve answer usefulness while keeping claims supported, compared with extractive answers?</a:t>
            </a:r>
          </a:p>
        </p:txBody>
      </p:sp>
      <p:sp>
        <p:nvSpPr>
          <p:cNvPr id="9" name="">
            <a:extLst xmlns:a="http://schemas.openxmlformats.org/drawingml/2006/main">
              <a:ext uri="{FF2B5EF4-FFF2-40B4-BE49-F238E27FC236}">
                <a16:creationId xmlns:a16="http://schemas.microsoft.com/office/drawing/2014/main" id="{FBA5F402-7306-41C1-90E3-5E4A2710DBF6}"/>
              </a:ext>
            </a:extLst>
          </p:cNvPr>
          <p:cNvSpPr>
            <a:spLocks xmlns:a="http://schemas.openxmlformats.org/drawingml/2006/main" noGrp="1"/>
          </p:cNvSpPr>
          <p:nvPr/>
        </p:nvSpPr>
        <p:spPr>
          <a:xfrm xmlns:a="http://schemas.openxmlformats.org/drawingml/2006/main">
            <a:off x="609600" y="46291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RQ3 · Human review</a:t>
            </a:r>
          </a:p>
        </p:txBody>
      </p:sp>
      <p:sp>
        <p:nvSpPr>
          <p:cNvPr id="10" name="">
            <a:extLst xmlns:a="http://schemas.openxmlformats.org/drawingml/2006/main">
              <a:ext uri="{FF2B5EF4-FFF2-40B4-BE49-F238E27FC236}">
                <a16:creationId xmlns:a16="http://schemas.microsoft.com/office/drawing/2014/main" id="{5976C854-E505-473E-BD9B-E7AA48B031B1}"/>
              </a:ext>
            </a:extLst>
          </p:cNvPr>
          <p:cNvSpPr>
            <a:spLocks xmlns:a="http://schemas.openxmlformats.org/drawingml/2006/main" noGrp="1"/>
          </p:cNvSpPr>
          <p:nvPr/>
        </p:nvSpPr>
        <p:spPr>
          <a:xfrm xmlns:a="http://schemas.openxmlformats.org/drawingml/2006/main">
            <a:off x="609600" y="5057775"/>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64786A"/>
                </a:solidFill>
                <a:latin typeface="Arial"/>
                <a:ea typeface="Arial"/>
                <a:cs typeface="Arial"/>
              </a:defRPr>
            </a:defPPr>
            <a:lvl1pPr>
              <a:defRPr sz="2025" b="0">
                <a:solidFill>
                  <a:srgbClr val="64786A"/>
                </a:solidFill>
                <a:latin typeface="Arial"/>
                <a:ea typeface="Arial"/>
                <a:cs typeface="Arial"/>
              </a:defRPr>
            </a:lvl1pPr>
            <a:lvl2pPr>
              <a:defRPr sz="2025" b="0">
                <a:solidFill>
                  <a:srgbClr val="64786A"/>
                </a:solidFill>
                <a:latin typeface="Arial"/>
                <a:ea typeface="Arial"/>
                <a:cs typeface="Arial"/>
              </a:defRPr>
            </a:lvl2pPr>
            <a:lvl3pPr>
              <a:defRPr sz="2025" b="0">
                <a:solidFill>
                  <a:srgbClr val="64786A"/>
                </a:solidFill>
                <a:latin typeface="Arial"/>
                <a:ea typeface="Arial"/>
                <a:cs typeface="Arial"/>
              </a:defRPr>
            </a:lvl3pPr>
            <a:lvl4pPr>
              <a:defRPr sz="2025" b="0">
                <a:solidFill>
                  <a:srgbClr val="64786A"/>
                </a:solidFill>
                <a:latin typeface="Arial"/>
                <a:ea typeface="Arial"/>
                <a:cs typeface="Arial"/>
              </a:defRPr>
            </a:lvl4pPr>
            <a:lvl5pPr>
              <a:defRPr sz="2025" b="0">
                <a:solidFill>
                  <a:srgbClr val="64786A"/>
                </a:solidFill>
                <a:latin typeface="Arial"/>
                <a:ea typeface="Arial"/>
                <a:cs typeface="Arial"/>
              </a:defRPr>
            </a:lvl5pPr>
            <a:lvl6pPr>
              <a:defRPr sz="2025" b="0">
                <a:solidFill>
                  <a:srgbClr val="64786A"/>
                </a:solidFill>
                <a:latin typeface="Arial"/>
                <a:ea typeface="Arial"/>
                <a:cs typeface="Arial"/>
              </a:defRPr>
            </a:lvl6pPr>
            <a:lvl7pPr>
              <a:defRPr sz="2025" b="0">
                <a:solidFill>
                  <a:srgbClr val="64786A"/>
                </a:solidFill>
                <a:latin typeface="Arial"/>
                <a:ea typeface="Arial"/>
                <a:cs typeface="Arial"/>
              </a:defRPr>
            </a:lvl7pPr>
            <a:lvl8pPr>
              <a:defRPr sz="2025" b="0">
                <a:solidFill>
                  <a:srgbClr val="64786A"/>
                </a:solidFill>
                <a:latin typeface="Arial"/>
                <a:ea typeface="Arial"/>
                <a:cs typeface="Arial"/>
              </a:defRPr>
            </a:lvl8pPr>
            <a:lvl9pPr>
              <a:defRPr sz="2025" b="0">
                <a:solidFill>
                  <a:srgbClr val="64786A"/>
                </a:solidFill>
                <a:latin typeface="Arial"/>
                <a:ea typeface="Arial"/>
                <a:cs typeface="Arial"/>
              </a:defRPr>
            </a:lvl9pPr>
          </a:lstStyle>
          <a:p xmlns:a="http://schemas.openxmlformats.org/drawingml/2006/main">
            <a:pPr>
              <a:defRPr sz="2025" b="0">
                <a:solidFill>
                  <a:srgbClr val="64786A"/>
                </a:solidFill>
                <a:latin typeface="Arial"/>
                <a:ea typeface="Arial"/>
                <a:cs typeface="Arial"/>
              </a:defRPr>
            </a:pPr>
            <a:r>
              <a:rPr sz="2025" b="0">
                <a:solidFill>
                  <a:srgbClr val="64786A"/>
                </a:solidFill>
                <a:latin typeface="Arial"/>
                <a:ea typeface="Arial"/>
                <a:cs typeface="Arial"/>
              </a:rPr>
              <a:t>Can persistent corrections reduce repeated errors and review time without breaking reproducibility?</a:t>
            </a:r>
          </a:p>
        </p:txBody>
      </p:sp>
    </p:spTree>
    <p:extLst>
      <p:ext uri="{BB962C8B-B14F-4D97-AF65-F5344CB8AC3E}">
        <p14:creationId xmlns:p14="http://schemas.microsoft.com/office/powerpoint/2010/main" val="1086097461"/>
      </p:ext>
    </p:extLst>
  </p:cSld>
</p:sld>
</file>

<file path=ppt/slides/slide5.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657E0AB-2418-44F3-B51A-5C212D55FAD1}"/>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TESTED COMPONENTS AND COMPARISON</a:t>
            </a:r>
          </a:p>
        </p:txBody>
      </p:sp>
      <p:sp>
        <p:nvSpPr>
          <p:cNvPr id="3" name="">
            <a:extLst xmlns:a="http://schemas.openxmlformats.org/drawingml/2006/main">
              <a:ext uri="{FF2B5EF4-FFF2-40B4-BE49-F238E27FC236}">
                <a16:creationId xmlns:a16="http://schemas.microsoft.com/office/drawing/2014/main" id="{3C0B737E-DC8C-4B7A-BB9A-3634D6D54565}"/>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Methods and why we chose them</a:t>
            </a:r>
          </a:p>
        </p:txBody>
      </p:sp>
      <p:sp>
        <p:nvSpPr>
          <p:cNvPr id="4" name="">
            <a:extLst xmlns:a="http://schemas.openxmlformats.org/drawingml/2006/main">
              <a:ext uri="{FF2B5EF4-FFF2-40B4-BE49-F238E27FC236}">
                <a16:creationId xmlns:a16="http://schemas.microsoft.com/office/drawing/2014/main" id="{A6D796BE-80B0-4C67-8163-5099ECC4EBED}"/>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05 / 16</a:t>
            </a:r>
          </a:p>
        </p:txBody>
      </p:sp>
      <p:graphicFrame>
        <p:nvGraphicFramePr>
          <p:cNvPr id="5" name="">
            <a:extLst xmlns:a="http://schemas.openxmlformats.org/drawingml/2006/main">
              <a:ext uri="{FF2B5EF4-FFF2-40B4-BE49-F238E27FC236}">
                <a16:creationId xmlns:a16="http://schemas.microsoft.com/office/drawing/2014/main" id="{3DBA3484-A449-4380-8406-BDB9EDB2B9B1}"/>
              </a:ext>
            </a:extLst>
          </p:cNvPr>
          <p:cNvGraphicFramePr/>
          <p:nvPr/>
        </p:nvGraphicFramePr>
        <p:xfrm>
          <a:off xmlns:a="http://schemas.openxmlformats.org/drawingml/2006/main" x="609600" y="1666875"/>
          <a:ext xmlns:a="http://schemas.openxmlformats.org/drawingml/2006/main" cx="10972800" cy="4000500"/>
        </p:xfrm>
        <a:graphic xmlns:a="http://schemas.openxmlformats.org/drawingml/2006/main">
          <a:graphicData uri="http://schemas.openxmlformats.org/drawingml/2006/table">
            <a:tbl>
              <a:tblPr/>
              <a:tblGrid>
                <a:gridCol w="2428875"/>
                <a:gridCol w="4619625"/>
                <a:gridCol w="3924300"/>
              </a:tblGrid>
              <a:tr h="800100">
                <a:tc>
                  <a:txBody>
                    <a:bodyPr/>
                    <a:lstStyle/>
                    <a:p>
                      <a:r>
                        <a:rPr sz="1575" b="1">
                          <a:solidFill>
                            <a:srgbClr val="FFFFFF"/>
                          </a:solidFill>
                          <a:latin typeface="Arial"/>
                          <a:ea typeface="Arial"/>
                          <a:cs typeface="Arial"/>
                        </a:rPr>
                        <a:t>Method</a:t>
                      </a:r>
                    </a:p>
                  </a:txBody>
                  <a:tcPr marL="91440" marR="91440" marT="45720" marB="45720" anchor="ctr">
                    <a:solidFill>
                      <a:srgbClr val="153A32"/>
                    </a:solidFill>
                  </a:tcPr>
                </a:tc>
                <a:tc>
                  <a:txBody>
                    <a:bodyPr/>
                    <a:lstStyle/>
                    <a:p>
                      <a:r>
                        <a:rPr sz="1575" b="1">
                          <a:solidFill>
                            <a:srgbClr val="FFFFFF"/>
                          </a:solidFill>
                          <a:latin typeface="Arial"/>
                          <a:ea typeface="Arial"/>
                          <a:cs typeface="Arial"/>
                        </a:rPr>
                        <a:t>Technical characteristics</a:t>
                      </a:r>
                    </a:p>
                  </a:txBody>
                  <a:tcPr marL="91440" marR="91440" marT="45720" marB="45720" anchor="ctr">
                    <a:solidFill>
                      <a:srgbClr val="153A32"/>
                    </a:solidFill>
                  </a:tcPr>
                </a:tc>
                <a:tc>
                  <a:txBody>
                    <a:bodyPr/>
                    <a:lstStyle/>
                    <a:p>
                      <a:r>
                        <a:rPr sz="1575" b="1">
                          <a:solidFill>
                            <a:srgbClr val="FFFFFF"/>
                          </a:solidFill>
                          <a:latin typeface="Arial"/>
                          <a:ea typeface="Arial"/>
                          <a:cs typeface="Arial"/>
                        </a:rPr>
                        <a:t>Reason / limitation</a:t>
                      </a:r>
                    </a:p>
                  </a:txBody>
                  <a:tcPr marL="91440" marR="91440" marT="45720" marB="45720" anchor="ctr">
                    <a:solidFill>
                      <a:srgbClr val="153A32"/>
                    </a:solidFill>
                  </a:tcPr>
                </a:tc>
              </a:tr>
              <a:tr h="800100">
                <a:tc>
                  <a:txBody>
                    <a:bodyPr/>
                    <a:lstStyle/>
                    <a:p>
                      <a:r>
                        <a:rPr sz="1575" b="0">
                          <a:solidFill>
                            <a:srgbClr val="213B33"/>
                          </a:solidFill>
                          <a:latin typeface="Arial"/>
                          <a:ea typeface="Arial"/>
                          <a:cs typeface="Arial"/>
                        </a:rPr>
                        <a:t>VADER + domain rules</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English lexicon; no neural weights</a:t>
                      </a:r>
                    </a:p>
                    <a:p>
                      <a:r>
                        <a:rPr sz="1575" b="0">
                          <a:solidFill>
                            <a:srgbClr val="213B33"/>
                          </a:solidFill>
                          <a:latin typeface="Arial"/>
                          <a:ea typeface="Arial"/>
                          <a:cs typeface="Arial"/>
                        </a:rPr>
                        <a:t>CPU; 121 MiB process RSS¹</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Fast, inspectable baseline</a:t>
                      </a:r>
                    </a:p>
                    <a:p>
                      <a:r>
                        <a:rPr sz="1575" b="0">
                          <a:solidFill>
                            <a:srgbClr val="213B33"/>
                          </a:solidFill>
                          <a:latin typeface="Arial"/>
                          <a:ea typeface="Arial"/>
                          <a:cs typeface="Arial"/>
                        </a:rPr>
                        <a:t>Rules miss context and languages</a:t>
                      </a:r>
                    </a:p>
                  </a:txBody>
                  <a:tcPr marL="91440" marR="91440" marT="45720" marB="45720" anchor="ctr">
                    <a:solidFill>
                      <a:srgbClr val="FFFFFF"/>
                    </a:solidFill>
                  </a:tcPr>
                </a:tc>
              </a:tr>
              <a:tr h="800100">
                <a:tc>
                  <a:txBody>
                    <a:bodyPr/>
                    <a:lstStyle/>
                    <a:p>
                      <a:r>
                        <a:rPr sz="1575" b="0">
                          <a:solidFill>
                            <a:srgbClr val="213B33"/>
                          </a:solidFill>
                          <a:latin typeface="Arial"/>
                          <a:ea typeface="Arial"/>
                          <a:cs typeface="Arial"/>
                        </a:rPr>
                        <a:t>XLM-R sentiment, Q8</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≈278M parameters; 12 layers</a:t>
                      </a:r>
                    </a:p>
                    <a:p>
                      <a:r>
                        <a:rPr sz="1575" b="0">
                          <a:solidFill>
                            <a:srgbClr val="213B33"/>
                          </a:solidFill>
                          <a:latin typeface="Arial"/>
                          <a:ea typeface="Arial"/>
                          <a:cs typeface="Arial"/>
                        </a:rPr>
                        <a:t>266.3 MiB ONNX; 592 MiB RSS¹</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8-language local inference</a:t>
                      </a:r>
                    </a:p>
                    <a:p>
                      <a:r>
                        <a:rPr sz="1575" b="0">
                          <a:solidFill>
                            <a:srgbClr val="213B33"/>
                          </a:solidFill>
                          <a:latin typeface="Arial"/>
                          <a:ea typeface="Arial"/>
                          <a:cs typeface="Arial"/>
                        </a:rPr>
                        <a:t>256-token truncation; calibration unknown</a:t>
                      </a:r>
                    </a:p>
                  </a:txBody>
                  <a:tcPr marL="91440" marR="91440" marT="45720" marB="45720" anchor="ctr">
                    <a:solidFill>
                      <a:srgbClr val="EBF0E4"/>
                    </a:solidFill>
                  </a:tcPr>
                </a:tc>
              </a:tr>
              <a:tr h="800100">
                <a:tc>
                  <a:txBody>
                    <a:bodyPr/>
                    <a:lstStyle/>
                    <a:p>
                      <a:r>
                        <a:rPr sz="1575" b="0">
                          <a:solidFill>
                            <a:srgbClr val="213B33"/>
                          </a:solidFill>
                          <a:latin typeface="Arial"/>
                          <a:ea typeface="Arial"/>
                          <a:cs typeface="Arial"/>
                        </a:rPr>
                        <a:t>TF-IDF + K-means</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≤2,000 features; 1–2 grams</a:t>
                      </a:r>
                    </a:p>
                    <a:p>
                      <a:r>
                        <a:rPr sz="1575" b="0">
                          <a:solidFill>
                            <a:srgbClr val="213B33"/>
                          </a:solidFill>
                          <a:latin typeface="Arial"/>
                          <a:ea typeface="Arial"/>
                          <a:cs typeface="Arial"/>
                        </a:rPr>
                        <a:t>≤5 clusters; seed 42; n_init=5</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Transparent topic exploration</a:t>
                      </a:r>
                    </a:p>
                    <a:p>
                      <a:r>
                        <a:rPr sz="1575" b="0">
                          <a:solidFill>
                            <a:srgbClr val="213B33"/>
                          </a:solidFill>
                          <a:latin typeface="Arial"/>
                          <a:ea typeface="Arial"/>
                          <a:cs typeface="Arial"/>
                        </a:rPr>
                        <a:t>English stopwords; weak cross-language grouping</a:t>
                      </a:r>
                    </a:p>
                  </a:txBody>
                  <a:tcPr marL="91440" marR="91440" marT="45720" marB="45720" anchor="ctr">
                    <a:solidFill>
                      <a:srgbClr val="FFFFFF"/>
                    </a:solidFill>
                  </a:tcPr>
                </a:tc>
              </a:tr>
              <a:tr h="800100">
                <a:tc>
                  <a:txBody>
                    <a:bodyPr/>
                    <a:lstStyle/>
                    <a:p>
                      <a:r>
                        <a:rPr sz="1575" b="0">
                          <a:solidFill>
                            <a:srgbClr val="213B33"/>
                          </a:solidFill>
                          <a:latin typeface="Arial"/>
                          <a:ea typeface="Arial"/>
                          <a:cs typeface="Arial"/>
                        </a:rPr>
                        <a:t>Extractive / hosted Groq</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Same ≤5 excerpts; ≤2,000 chars each</a:t>
                      </a:r>
                    </a:p>
                    <a:p>
                      <a:r>
                        <a:rPr sz="1575" b="0">
                          <a:solidFill>
                            <a:srgbClr val="213B33"/>
                          </a:solidFill>
                          <a:latin typeface="Arial"/>
                          <a:ea typeface="Arial"/>
                          <a:cs typeface="Arial"/>
                        </a:rPr>
                        <a:t>Groq model: openai/gpt-oss-20b</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Compare direct evidence and synthesis</a:t>
                      </a:r>
                    </a:p>
                    <a:p>
                      <a:r>
                        <a:rPr sz="1575" b="0">
                          <a:solidFill>
                            <a:srgbClr val="213B33"/>
                          </a:solidFill>
                          <a:latin typeface="Arial"/>
                          <a:ea typeface="Arial"/>
                          <a:cs typeface="Arial"/>
                        </a:rPr>
                        <a:t>Generated claims can be unsupported</a:t>
                      </a:r>
                    </a:p>
                  </a:txBody>
                  <a:tcPr marL="91440" marR="91440" marT="45720" marB="45720" anchor="ctr">
                    <a:solidFill>
                      <a:srgbClr val="EBF0E4"/>
                    </a:solidFill>
                  </a:tcPr>
                </a:tc>
              </a:tr>
            </a:tbl>
          </a:graphicData>
        </a:graphic>
      </p:graphicFrame>
      <p:sp>
        <p:nvSpPr>
          <p:cNvPr id="6" name="">
            <a:extLst xmlns:a="http://schemas.openxmlformats.org/drawingml/2006/main">
              <a:ext uri="{FF2B5EF4-FFF2-40B4-BE49-F238E27FC236}">
                <a16:creationId xmlns:a16="http://schemas.microsoft.com/office/drawing/2014/main" id="{4FC952BE-1CF0-4ABB-A03E-B19CE425D8CA}"/>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¹ Measured on this laptop; process RSS is a snapshot, not a minimum RAM requirement.</a:t>
            </a:r>
          </a:p>
        </p:txBody>
      </p:sp>
    </p:spTree>
    <p:extLst>
      <p:ext uri="{BB962C8B-B14F-4D97-AF65-F5344CB8AC3E}">
        <p14:creationId xmlns:p14="http://schemas.microsoft.com/office/powerpoint/2010/main" val="1663852771"/>
      </p:ext>
    </p:extLst>
  </p:cSld>
</p:sld>
</file>

<file path=ppt/slides/slide6.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3BDE210-4E7F-43B2-A308-BDDDF5614822}"/>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HARDWARE AND SOFTWARE</a:t>
            </a:r>
          </a:p>
        </p:txBody>
      </p:sp>
      <p:sp>
        <p:nvSpPr>
          <p:cNvPr id="3" name="">
            <a:extLst xmlns:a="http://schemas.openxmlformats.org/drawingml/2006/main">
              <a:ext uri="{FF2B5EF4-FFF2-40B4-BE49-F238E27FC236}">
                <a16:creationId xmlns:a16="http://schemas.microsoft.com/office/drawing/2014/main" id="{7BB08F2C-62BA-474D-BBBA-577B9A335B65}"/>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Experimental setup and reproducibility</a:t>
            </a:r>
          </a:p>
        </p:txBody>
      </p:sp>
      <p:sp>
        <p:nvSpPr>
          <p:cNvPr id="4" name="">
            <a:extLst xmlns:a="http://schemas.openxmlformats.org/drawingml/2006/main">
              <a:ext uri="{FF2B5EF4-FFF2-40B4-BE49-F238E27FC236}">
                <a16:creationId xmlns:a16="http://schemas.microsoft.com/office/drawing/2014/main" id="{06B3E7D6-85B1-4122-B43B-1EF15CEB2E76}"/>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06 / 16</a:t>
            </a:r>
          </a:p>
        </p:txBody>
      </p:sp>
      <p:sp>
        <p:nvSpPr>
          <p:cNvPr id="5" name="">
            <a:extLst xmlns:a="http://schemas.openxmlformats.org/drawingml/2006/main">
              <a:ext uri="{FF2B5EF4-FFF2-40B4-BE49-F238E27FC236}">
                <a16:creationId xmlns:a16="http://schemas.microsoft.com/office/drawing/2014/main" id="{08EBD95A-6B25-4663-95B3-881F7096E4C2}"/>
              </a:ext>
            </a:extLst>
          </p:cNvPr>
          <p:cNvSpPr>
            <a:spLocks xmlns:a="http://schemas.openxmlformats.org/drawingml/2006/main" noGrp="1"/>
          </p:cNvSpPr>
          <p:nvPr/>
        </p:nvSpPr>
        <p:spPr>
          <a:xfrm xmlns:a="http://schemas.openxmlformats.org/drawingml/2006/main">
            <a:off x="609600" y="17621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Actual test host</a:t>
            </a:r>
          </a:p>
        </p:txBody>
      </p:sp>
      <p:sp>
        <p:nvSpPr>
          <p:cNvPr id="6" name="">
            <a:extLst xmlns:a="http://schemas.openxmlformats.org/drawingml/2006/main">
              <a:ext uri="{FF2B5EF4-FFF2-40B4-BE49-F238E27FC236}">
                <a16:creationId xmlns:a16="http://schemas.microsoft.com/office/drawing/2014/main" id="{F1DAAEB6-7402-4CE2-A9EB-7FC46F9994DB}"/>
              </a:ext>
            </a:extLst>
          </p:cNvPr>
          <p:cNvSpPr>
            <a:spLocks xmlns:a="http://schemas.openxmlformats.org/drawingml/2006/main" noGrp="1"/>
          </p:cNvSpPr>
          <p:nvPr/>
        </p:nvSpPr>
        <p:spPr>
          <a:xfrm xmlns:a="http://schemas.openxmlformats.org/drawingml/2006/main">
            <a:off x="609600" y="221932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Windows; Intel CPU, 8 logical processors</a:t>
            </a:r>
          </a:p>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15.77 GiB RAM; CPU inference, no GPU</a:t>
            </a:r>
          </a:p>
        </p:txBody>
      </p:sp>
      <p:sp>
        <p:nvSpPr>
          <p:cNvPr id="7" name="">
            <a:extLst xmlns:a="http://schemas.openxmlformats.org/drawingml/2006/main">
              <a:ext uri="{FF2B5EF4-FFF2-40B4-BE49-F238E27FC236}">
                <a16:creationId xmlns:a16="http://schemas.microsoft.com/office/drawing/2014/main" id="{5923AFC2-B290-47ED-81A7-C17DFB30D4CE}"/>
              </a:ext>
            </a:extLst>
          </p:cNvPr>
          <p:cNvSpPr>
            <a:spLocks xmlns:a="http://schemas.openxmlformats.org/drawingml/2006/main" noGrp="1"/>
          </p:cNvSpPr>
          <p:nvPr/>
        </p:nvSpPr>
        <p:spPr>
          <a:xfrm xmlns:a="http://schemas.openxmlformats.org/drawingml/2006/main">
            <a:off x="6705600" y="176212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Controlled inference</a:t>
            </a:r>
          </a:p>
        </p:txBody>
      </p:sp>
      <p:sp>
        <p:nvSpPr>
          <p:cNvPr id="8" name="">
            <a:extLst xmlns:a="http://schemas.openxmlformats.org/drawingml/2006/main">
              <a:ext uri="{FF2B5EF4-FFF2-40B4-BE49-F238E27FC236}">
                <a16:creationId xmlns:a16="http://schemas.microsoft.com/office/drawing/2014/main" id="{0016113F-9BF7-455F-AB6A-58FFD385C654}"/>
              </a:ext>
            </a:extLst>
          </p:cNvPr>
          <p:cNvSpPr>
            <a:spLocks xmlns:a="http://schemas.openxmlformats.org/drawingml/2006/main" noGrp="1"/>
          </p:cNvSpPr>
          <p:nvPr/>
        </p:nvSpPr>
        <p:spPr>
          <a:xfrm xmlns:a="http://schemas.openxmlformats.org/drawingml/2006/main">
            <a:off x="6705600" y="221932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Batch 1; 256-token maximum</a:t>
            </a:r>
          </a:p>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ONNX threads: 2 intra-op, 1 inter-op</a:t>
            </a:r>
          </a:p>
        </p:txBody>
      </p:sp>
      <p:sp>
        <p:nvSpPr>
          <p:cNvPr id="9" name="">
            <a:extLst xmlns:a="http://schemas.openxmlformats.org/drawingml/2006/main">
              <a:ext uri="{FF2B5EF4-FFF2-40B4-BE49-F238E27FC236}">
                <a16:creationId xmlns:a16="http://schemas.microsoft.com/office/drawing/2014/main" id="{35252D88-1ABB-4CE2-89AE-147F08598544}"/>
              </a:ext>
            </a:extLst>
          </p:cNvPr>
          <p:cNvSpPr>
            <a:spLocks xmlns:a="http://schemas.openxmlformats.org/drawingml/2006/main" noGrp="1"/>
          </p:cNvSpPr>
          <p:nvPr/>
        </p:nvSpPr>
        <p:spPr>
          <a:xfrm xmlns:a="http://schemas.openxmlformats.org/drawingml/2006/main">
            <a:off x="609600" y="37242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Reproducibility controls</a:t>
            </a:r>
          </a:p>
        </p:txBody>
      </p:sp>
      <p:sp>
        <p:nvSpPr>
          <p:cNvPr id="10" name="">
            <a:extLst xmlns:a="http://schemas.openxmlformats.org/drawingml/2006/main">
              <a:ext uri="{FF2B5EF4-FFF2-40B4-BE49-F238E27FC236}">
                <a16:creationId xmlns:a16="http://schemas.microsoft.com/office/drawing/2014/main" id="{FF8C7BEB-A009-4BE9-B09F-E513832E8500}"/>
              </a:ext>
            </a:extLst>
          </p:cNvPr>
          <p:cNvSpPr>
            <a:spLocks xmlns:a="http://schemas.openxmlformats.org/drawingml/2006/main" noGrp="1"/>
          </p:cNvSpPr>
          <p:nvPr/>
        </p:nvSpPr>
        <p:spPr>
          <a:xfrm xmlns:a="http://schemas.openxmlformats.org/drawingml/2006/main">
            <a:off x="609600" y="418147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Pinned model revision + SHA-256</a:t>
            </a:r>
          </a:p>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Fixed prompts, seeds and artifact versions</a:t>
            </a:r>
          </a:p>
        </p:txBody>
      </p:sp>
      <p:sp>
        <p:nvSpPr>
          <p:cNvPr id="11" name="">
            <a:extLst xmlns:a="http://schemas.openxmlformats.org/drawingml/2006/main">
              <a:ext uri="{FF2B5EF4-FFF2-40B4-BE49-F238E27FC236}">
                <a16:creationId xmlns:a16="http://schemas.microsoft.com/office/drawing/2014/main" id="{445C5FD2-06D2-4F74-86AF-72D39175D250}"/>
              </a:ext>
            </a:extLst>
          </p:cNvPr>
          <p:cNvSpPr>
            <a:spLocks xmlns:a="http://schemas.openxmlformats.org/drawingml/2006/main" noGrp="1"/>
          </p:cNvSpPr>
          <p:nvPr/>
        </p:nvSpPr>
        <p:spPr>
          <a:xfrm xmlns:a="http://schemas.openxmlformats.org/drawingml/2006/main">
            <a:off x="6705600" y="37242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System boundary</a:t>
            </a:r>
          </a:p>
        </p:txBody>
      </p:sp>
      <p:sp>
        <p:nvSpPr>
          <p:cNvPr id="12" name="">
            <a:extLst xmlns:a="http://schemas.openxmlformats.org/drawingml/2006/main">
              <a:ext uri="{FF2B5EF4-FFF2-40B4-BE49-F238E27FC236}">
                <a16:creationId xmlns:a16="http://schemas.microsoft.com/office/drawing/2014/main" id="{160456D1-439D-4EAA-A3E5-E69B9A133B61}"/>
              </a:ext>
            </a:extLst>
          </p:cNvPr>
          <p:cNvSpPr>
            <a:spLocks xmlns:a="http://schemas.openxmlformats.org/drawingml/2006/main" noGrp="1"/>
          </p:cNvSpPr>
          <p:nvPr/>
        </p:nvSpPr>
        <p:spPr>
          <a:xfrm xmlns:a="http://schemas.openxmlformats.org/drawingml/2006/main">
            <a:off x="6705600" y="418147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FastAPI + SQLAlchemy; SQLite locally</a:t>
            </a:r>
          </a:p>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Groq is an external, optional service</a:t>
            </a:r>
          </a:p>
        </p:txBody>
      </p:sp>
      <p:sp>
        <p:nvSpPr>
          <p:cNvPr id="13" name="">
            <a:extLst xmlns:a="http://schemas.openxmlformats.org/drawingml/2006/main">
              <a:ext uri="{FF2B5EF4-FFF2-40B4-BE49-F238E27FC236}">
                <a16:creationId xmlns:a16="http://schemas.microsoft.com/office/drawing/2014/main" id="{30D4FE5C-29FA-4AC0-A978-CABF91774FD1}"/>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Model assets: 282.6 MiB total. Inference cost is measured separately from application load.</a:t>
            </a:r>
          </a:p>
        </p:txBody>
      </p:sp>
    </p:spTree>
    <p:extLst>
      <p:ext uri="{BB962C8B-B14F-4D97-AF65-F5344CB8AC3E}">
        <p14:creationId xmlns:p14="http://schemas.microsoft.com/office/powerpoint/2010/main" val="910076202"/>
      </p:ext>
    </p:extLst>
  </p:cSld>
</p:sld>
</file>

<file path=ppt/slides/slide7.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206D6CC-C84C-479D-8F3A-1864BDDF9D89}"/>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DATASETS AND LIMITATIONS</a:t>
            </a:r>
          </a:p>
        </p:txBody>
      </p:sp>
      <p:sp>
        <p:nvSpPr>
          <p:cNvPr id="3" name="">
            <a:extLst xmlns:a="http://schemas.openxmlformats.org/drawingml/2006/main">
              <a:ext uri="{FF2B5EF4-FFF2-40B4-BE49-F238E27FC236}">
                <a16:creationId xmlns:a16="http://schemas.microsoft.com/office/drawing/2014/main" id="{EA4C5A06-5C86-4556-907F-F0837890DF10}"/>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Evaluation data: available and planned</a:t>
            </a:r>
          </a:p>
        </p:txBody>
      </p:sp>
      <p:sp>
        <p:nvSpPr>
          <p:cNvPr id="4" name="">
            <a:extLst xmlns:a="http://schemas.openxmlformats.org/drawingml/2006/main">
              <a:ext uri="{FF2B5EF4-FFF2-40B4-BE49-F238E27FC236}">
                <a16:creationId xmlns:a16="http://schemas.microsoft.com/office/drawing/2014/main" id="{4C9EC976-B7B0-4D74-B34A-F89DD9A7F6B7}"/>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07 / 16</a:t>
            </a:r>
          </a:p>
        </p:txBody>
      </p:sp>
      <p:graphicFrame>
        <p:nvGraphicFramePr>
          <p:cNvPr id="5" name="">
            <a:extLst xmlns:a="http://schemas.openxmlformats.org/drawingml/2006/main">
              <a:ext uri="{FF2B5EF4-FFF2-40B4-BE49-F238E27FC236}">
                <a16:creationId xmlns:a16="http://schemas.microsoft.com/office/drawing/2014/main" id="{23325C20-19C3-408E-8F5F-BD7B6518761E}"/>
              </a:ext>
            </a:extLst>
          </p:cNvPr>
          <p:cNvGraphicFramePr/>
          <p:nvPr/>
        </p:nvGraphicFramePr>
        <p:xfrm>
          <a:off xmlns:a="http://schemas.openxmlformats.org/drawingml/2006/main" x="609600" y="1695450"/>
          <a:ext xmlns:a="http://schemas.openxmlformats.org/drawingml/2006/main" cx="10972800" cy="3933825"/>
        </p:xfrm>
        <a:graphic xmlns:a="http://schemas.openxmlformats.org/drawingml/2006/main">
          <a:graphicData uri="http://schemas.openxmlformats.org/drawingml/2006/table">
            <a:tbl>
              <a:tblPr/>
              <a:tblGrid>
                <a:gridCol w="2428875"/>
                <a:gridCol w="4095750"/>
                <a:gridCol w="4448175"/>
              </a:tblGrid>
              <a:tr h="983456">
                <a:tc>
                  <a:txBody>
                    <a:bodyPr/>
                    <a:lstStyle/>
                    <a:p>
                      <a:r>
                        <a:rPr sz="1650" b="1">
                          <a:solidFill>
                            <a:srgbClr val="FFFFFF"/>
                          </a:solidFill>
                          <a:latin typeface="Arial"/>
                          <a:ea typeface="Arial"/>
                          <a:cs typeface="Arial"/>
                        </a:rPr>
                        <a:t>Dataset / status</a:t>
                      </a:r>
                    </a:p>
                  </a:txBody>
                  <a:tcPr marL="91440" marR="91440" marT="45720" marB="45720" anchor="ctr">
                    <a:solidFill>
                      <a:srgbClr val="153A32"/>
                    </a:solidFill>
                  </a:tcPr>
                </a:tc>
                <a:tc>
                  <a:txBody>
                    <a:bodyPr/>
                    <a:lstStyle/>
                    <a:p>
                      <a:r>
                        <a:rPr sz="1650" b="1">
                          <a:solidFill>
                            <a:srgbClr val="FFFFFF"/>
                          </a:solidFill>
                          <a:latin typeface="Arial"/>
                          <a:ea typeface="Arial"/>
                          <a:cs typeface="Arial"/>
                        </a:rPr>
                        <a:t>Characteristics and purpose</a:t>
                      </a:r>
                    </a:p>
                  </a:txBody>
                  <a:tcPr marL="91440" marR="91440" marT="45720" marB="45720" anchor="ctr">
                    <a:solidFill>
                      <a:srgbClr val="153A32"/>
                    </a:solidFill>
                  </a:tcPr>
                </a:tc>
                <a:tc>
                  <a:txBody>
                    <a:bodyPr/>
                    <a:lstStyle/>
                    <a:p>
                      <a:r>
                        <a:rPr sz="1650" b="1">
                          <a:solidFill>
                            <a:srgbClr val="FFFFFF"/>
                          </a:solidFill>
                          <a:latin typeface="Arial"/>
                          <a:ea typeface="Arial"/>
                          <a:cs typeface="Arial"/>
                        </a:rPr>
                        <a:t>Limitations / control</a:t>
                      </a:r>
                    </a:p>
                  </a:txBody>
                  <a:tcPr marL="91440" marR="91440" marT="45720" marB="45720" anchor="ctr">
                    <a:solidFill>
                      <a:srgbClr val="153A32"/>
                    </a:solidFill>
                  </a:tcPr>
                </a:tc>
              </a:tr>
              <a:tr h="983456">
                <a:tc>
                  <a:txBody>
                    <a:bodyPr/>
                    <a:lstStyle/>
                    <a:p>
                      <a:r>
                        <a:rPr sz="1650" b="0">
                          <a:solidFill>
                            <a:srgbClr val="213B33"/>
                          </a:solidFill>
                          <a:latin typeface="Arial"/>
                          <a:ea typeface="Arial"/>
                          <a:cs typeface="Arial"/>
                        </a:rPr>
                        <a:t>Synthetic demo · USED</a:t>
                      </a:r>
                    </a:p>
                  </a:txBody>
                  <a:tcPr marL="91440" marR="91440" marT="45720" marB="45720" anchor="ctr">
                    <a:solidFill>
                      <a:srgbClr val="FFFFFF"/>
                    </a:solidFill>
                  </a:tcPr>
                </a:tc>
                <a:tc>
                  <a:txBody>
                    <a:bodyPr/>
                    <a:lstStyle/>
                    <a:p>
                      <a:r>
                        <a:rPr sz="1650" b="0">
                          <a:solidFill>
                            <a:srgbClr val="213B33"/>
                          </a:solidFill>
                          <a:latin typeface="Arial"/>
                          <a:ea typeface="Arial"/>
                          <a:cs typeface="Arial"/>
                        </a:rPr>
                        <a:t>12 posts; walkthrough</a:t>
                      </a:r>
                    </a:p>
                    <a:p>
                      <a:r>
                        <a:rPr sz="1650" b="0">
                          <a:solidFill>
                            <a:srgbClr val="213B33"/>
                          </a:solidFill>
                          <a:latin typeface="Arial"/>
                          <a:ea typeface="Arial"/>
                          <a:cs typeface="Arial"/>
                        </a:rPr>
                        <a:t>8 separate model smoke examples</a:t>
                      </a:r>
                    </a:p>
                  </a:txBody>
                  <a:tcPr marL="91440" marR="91440" marT="45720" marB="45720" anchor="ctr">
                    <a:solidFill>
                      <a:srgbClr val="FFFFFF"/>
                    </a:solidFill>
                  </a:tcPr>
                </a:tc>
                <a:tc>
                  <a:txBody>
                    <a:bodyPr/>
                    <a:lstStyle/>
                    <a:p>
                      <a:r>
                        <a:rPr sz="1650" b="0">
                          <a:solidFill>
                            <a:srgbClr val="213B33"/>
                          </a:solidFill>
                          <a:latin typeface="Arial"/>
                          <a:ea typeface="Arial"/>
                          <a:cs typeface="Arial"/>
                        </a:rPr>
                        <a:t>Tiny, hand-written, easy cases</a:t>
                      </a:r>
                    </a:p>
                    <a:p>
                      <a:r>
                        <a:rPr sz="1650" b="0">
                          <a:solidFill>
                            <a:srgbClr val="213B33"/>
                          </a:solidFill>
                          <a:latin typeface="Arial"/>
                          <a:ea typeface="Arial"/>
                          <a:cs typeface="Arial"/>
                        </a:rPr>
                        <a:t>No representative accuracy claim</a:t>
                      </a:r>
                    </a:p>
                  </a:txBody>
                  <a:tcPr marL="91440" marR="91440" marT="45720" marB="45720" anchor="ctr">
                    <a:solidFill>
                      <a:srgbClr val="FFFFFF"/>
                    </a:solidFill>
                  </a:tcPr>
                </a:tc>
              </a:tr>
              <a:tr h="983456">
                <a:tc>
                  <a:txBody>
                    <a:bodyPr/>
                    <a:lstStyle/>
                    <a:p>
                      <a:r>
                        <a:rPr sz="1650" b="0">
                          <a:solidFill>
                            <a:srgbClr val="213B33"/>
                          </a:solidFill>
                          <a:latin typeface="Arial"/>
                          <a:ea typeface="Arial"/>
                          <a:cs typeface="Arial"/>
                        </a:rPr>
                        <a:t>UMSAB · PLANNED</a:t>
                      </a:r>
                    </a:p>
                  </a:txBody>
                  <a:tcPr marL="91440" marR="91440" marT="45720" marB="45720" anchor="ctr">
                    <a:solidFill>
                      <a:srgbClr val="EBF0E4"/>
                    </a:solidFill>
                  </a:tcPr>
                </a:tc>
                <a:tc>
                  <a:txBody>
                    <a:bodyPr/>
                    <a:lstStyle/>
                    <a:p>
                      <a:r>
                        <a:rPr sz="1650" b="0">
                          <a:solidFill>
                            <a:srgbClr val="213B33"/>
                          </a:solidFill>
                          <a:latin typeface="Arial"/>
                          <a:ea typeface="Arial"/>
                          <a:cs typeface="Arial"/>
                        </a:rPr>
                        <a:t>8 languages; 3 sentiment classes</a:t>
                      </a:r>
                    </a:p>
                    <a:p>
                      <a:r>
                        <a:rPr sz="1650" b="0">
                          <a:solidFill>
                            <a:srgbClr val="213B33"/>
                          </a:solidFill>
                          <a:latin typeface="Arial"/>
                          <a:ea typeface="Arial"/>
                          <a:cs typeface="Arial"/>
                        </a:rPr>
                        <a:t>Published test: 870 / language</a:t>
                      </a:r>
                    </a:p>
                  </a:txBody>
                  <a:tcPr marL="91440" marR="91440" marT="45720" marB="45720" anchor="ctr">
                    <a:solidFill>
                      <a:srgbClr val="EBF0E4"/>
                    </a:solidFill>
                  </a:tcPr>
                </a:tc>
                <a:tc>
                  <a:txBody>
                    <a:bodyPr/>
                    <a:lstStyle/>
                    <a:p>
                      <a:r>
                        <a:rPr sz="1650" b="0">
                          <a:solidFill>
                            <a:srgbClr val="213B33"/>
                          </a:solidFill>
                          <a:latin typeface="Arial"/>
                          <a:ea typeface="Arial"/>
                          <a:cs typeface="Arial"/>
                        </a:rPr>
                        <a:t>Historical Twitter domain; possible overlap</a:t>
                      </a:r>
                    </a:p>
                    <a:p>
                      <a:r>
                        <a:rPr sz="1650" b="0">
                          <a:solidFill>
                            <a:srgbClr val="213B33"/>
                          </a:solidFill>
                          <a:latin typeface="Arial"/>
                          <a:ea typeface="Arial"/>
                          <a:cs typeface="Arial"/>
                        </a:rPr>
                        <a:t>Audit model training and official splits</a:t>
                      </a:r>
                    </a:p>
                  </a:txBody>
                  <a:tcPr marL="91440" marR="91440" marT="45720" marB="45720" anchor="ctr">
                    <a:solidFill>
                      <a:srgbClr val="EBF0E4"/>
                    </a:solidFill>
                  </a:tcPr>
                </a:tc>
              </a:tr>
              <a:tr h="983456">
                <a:tc>
                  <a:txBody>
                    <a:bodyPr/>
                    <a:lstStyle/>
                    <a:p>
                      <a:r>
                        <a:rPr sz="1650" b="0">
                          <a:solidFill>
                            <a:srgbClr val="213B33"/>
                          </a:solidFill>
                          <a:latin typeface="Arial"/>
                          <a:ea typeface="Arial"/>
                          <a:cs typeface="Arial"/>
                        </a:rPr>
                        <a:t>Support feedback · PLANNED</a:t>
                      </a:r>
                    </a:p>
                  </a:txBody>
                  <a:tcPr marL="91440" marR="91440" marT="45720" marB="45720" anchor="ctr">
                    <a:solidFill>
                      <a:srgbClr val="FFFFFF"/>
                    </a:solidFill>
                  </a:tcPr>
                </a:tc>
                <a:tc>
                  <a:txBody>
                    <a:bodyPr/>
                    <a:lstStyle/>
                    <a:p>
                      <a:r>
                        <a:rPr sz="1650" b="0">
                          <a:solidFill>
                            <a:srgbClr val="213B33"/>
                          </a:solidFill>
                          <a:latin typeface="Arial"/>
                          <a:ea typeface="Arial"/>
                          <a:cs typeface="Arial"/>
                        </a:rPr>
                        <a:t>Target 600 posts: ar / fr / en</a:t>
                      </a:r>
                    </a:p>
                    <a:p>
                      <a:r>
                        <a:rPr sz="1650" b="0">
                          <a:solidFill>
                            <a:srgbClr val="213B33"/>
                          </a:solidFill>
                          <a:latin typeface="Arial"/>
                          <a:ea typeface="Arial"/>
                          <a:cs typeface="Arial"/>
                        </a:rPr>
                        <a:t>Target 60 questions + gold evidence</a:t>
                      </a:r>
                    </a:p>
                  </a:txBody>
                  <a:tcPr marL="91440" marR="91440" marT="45720" marB="45720" anchor="ctr">
                    <a:solidFill>
                      <a:srgbClr val="FFFFFF"/>
                    </a:solidFill>
                  </a:tcPr>
                </a:tc>
                <a:tc>
                  <a:txBody>
                    <a:bodyPr/>
                    <a:lstStyle/>
                    <a:p>
                      <a:r>
                        <a:rPr sz="1650" b="0">
                          <a:solidFill>
                            <a:srgbClr val="213B33"/>
                          </a:solidFill>
                          <a:latin typeface="Arial"/>
                          <a:ea typeface="Arial"/>
                          <a:cs typeface="Arial"/>
                        </a:rPr>
                        <a:t>Collection and annotation pending</a:t>
                      </a:r>
                    </a:p>
                    <a:p>
                      <a:r>
                        <a:rPr sz="1650" b="0">
                          <a:solidFill>
                            <a:srgbClr val="213B33"/>
                          </a:solidFill>
                          <a:latin typeface="Arial"/>
                          <a:ea typeface="Arial"/>
                          <a:cs typeface="Arial"/>
                        </a:rPr>
                        <a:t>20 questions deliberately unanswerable</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5D5C87D2-2D2C-4220-90F4-30958BC884A1}"/>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Why both? A standard benchmark enables comparison; fresh support data tests domain transfer.</a:t>
            </a:r>
          </a:p>
        </p:txBody>
      </p:sp>
    </p:spTree>
    <p:extLst>
      <p:ext uri="{BB962C8B-B14F-4D97-AF65-F5344CB8AC3E}">
        <p14:creationId xmlns:p14="http://schemas.microsoft.com/office/powerpoint/2010/main" val="25007399"/>
      </p:ext>
    </p:extLst>
  </p:cSld>
</p:sld>
</file>

<file path=ppt/slides/slide8.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2BD3A0D-F57F-4C6F-A434-8B9D20F516BC}"/>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PROPOSED EXPERIMENTAL DESIGN</a:t>
            </a:r>
          </a:p>
        </p:txBody>
      </p:sp>
      <p:sp>
        <p:nvSpPr>
          <p:cNvPr id="3" name="">
            <a:extLst xmlns:a="http://schemas.openxmlformats.org/drawingml/2006/main">
              <a:ext uri="{FF2B5EF4-FFF2-40B4-BE49-F238E27FC236}">
                <a16:creationId xmlns:a16="http://schemas.microsoft.com/office/drawing/2014/main" id="{2B5F7AE7-CD76-43EF-9049-B068260298FC}"/>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Protocol, controls and ablations</a:t>
            </a:r>
          </a:p>
        </p:txBody>
      </p:sp>
      <p:sp>
        <p:nvSpPr>
          <p:cNvPr id="4" name="">
            <a:extLst xmlns:a="http://schemas.openxmlformats.org/drawingml/2006/main">
              <a:ext uri="{FF2B5EF4-FFF2-40B4-BE49-F238E27FC236}">
                <a16:creationId xmlns:a16="http://schemas.microsoft.com/office/drawing/2014/main" id="{9AA48A92-44C5-4B62-B148-239AB4A9A2ED}"/>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08 / 16</a:t>
            </a:r>
          </a:p>
        </p:txBody>
      </p:sp>
      <p:sp>
        <p:nvSpPr>
          <p:cNvPr id="5" name="">
            <a:extLst xmlns:a="http://schemas.openxmlformats.org/drawingml/2006/main">
              <a:ext uri="{FF2B5EF4-FFF2-40B4-BE49-F238E27FC236}">
                <a16:creationId xmlns:a16="http://schemas.microsoft.com/office/drawing/2014/main" id="{AA6E5B56-22D4-47B7-96C0-970D0F502E54}"/>
              </a:ext>
            </a:extLst>
          </p:cNvPr>
          <p:cNvSpPr>
            <a:spLocks xmlns:a="http://schemas.openxmlformats.org/drawingml/2006/main" noGrp="1"/>
          </p:cNvSpPr>
          <p:nvPr/>
        </p:nvSpPr>
        <p:spPr>
          <a:xfrm xmlns:a="http://schemas.openxmlformats.org/drawingml/2006/main">
            <a:off x="609600" y="1695450"/>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153A32"/>
                </a:solidFill>
                <a:latin typeface="Arial"/>
                <a:ea typeface="Arial"/>
                <a:cs typeface="Arial"/>
              </a:defRPr>
            </a:defPPr>
            <a:lvl1pPr>
              <a:defRPr sz="2025" b="1">
                <a:solidFill>
                  <a:srgbClr val="153A32"/>
                </a:solidFill>
                <a:latin typeface="Arial"/>
                <a:ea typeface="Arial"/>
                <a:cs typeface="Arial"/>
              </a:defRPr>
            </a:lvl1pPr>
            <a:lvl2pPr>
              <a:defRPr sz="2025" b="1">
                <a:solidFill>
                  <a:srgbClr val="153A32"/>
                </a:solidFill>
                <a:latin typeface="Arial"/>
                <a:ea typeface="Arial"/>
                <a:cs typeface="Arial"/>
              </a:defRPr>
            </a:lvl2pPr>
            <a:lvl3pPr>
              <a:defRPr sz="2025" b="1">
                <a:solidFill>
                  <a:srgbClr val="153A32"/>
                </a:solidFill>
                <a:latin typeface="Arial"/>
                <a:ea typeface="Arial"/>
                <a:cs typeface="Arial"/>
              </a:defRPr>
            </a:lvl3pPr>
            <a:lvl4pPr>
              <a:defRPr sz="2025" b="1">
                <a:solidFill>
                  <a:srgbClr val="153A32"/>
                </a:solidFill>
                <a:latin typeface="Arial"/>
                <a:ea typeface="Arial"/>
                <a:cs typeface="Arial"/>
              </a:defRPr>
            </a:lvl4pPr>
            <a:lvl5pPr>
              <a:defRPr sz="2025" b="1">
                <a:solidFill>
                  <a:srgbClr val="153A32"/>
                </a:solidFill>
                <a:latin typeface="Arial"/>
                <a:ea typeface="Arial"/>
                <a:cs typeface="Arial"/>
              </a:defRPr>
            </a:lvl5pPr>
            <a:lvl6pPr>
              <a:defRPr sz="2025" b="1">
                <a:solidFill>
                  <a:srgbClr val="153A32"/>
                </a:solidFill>
                <a:latin typeface="Arial"/>
                <a:ea typeface="Arial"/>
                <a:cs typeface="Arial"/>
              </a:defRPr>
            </a:lvl6pPr>
            <a:lvl7pPr>
              <a:defRPr sz="2025" b="1">
                <a:solidFill>
                  <a:srgbClr val="153A32"/>
                </a:solidFill>
                <a:latin typeface="Arial"/>
                <a:ea typeface="Arial"/>
                <a:cs typeface="Arial"/>
              </a:defRPr>
            </a:lvl7pPr>
            <a:lvl8pPr>
              <a:defRPr sz="2025" b="1">
                <a:solidFill>
                  <a:srgbClr val="153A32"/>
                </a:solidFill>
                <a:latin typeface="Arial"/>
                <a:ea typeface="Arial"/>
                <a:cs typeface="Arial"/>
              </a:defRPr>
            </a:lvl8pPr>
            <a:lvl9pPr>
              <a:defRPr sz="2025" b="1">
                <a:solidFill>
                  <a:srgbClr val="153A32"/>
                </a:solidFill>
                <a:latin typeface="Arial"/>
                <a:ea typeface="Arial"/>
                <a:cs typeface="Arial"/>
              </a:defRPr>
            </a:lvl9pPr>
          </a:lstStyle>
          <a:p xmlns:a="http://schemas.openxmlformats.org/drawingml/2006/main">
            <a:pPr>
              <a:defRPr sz="2025" b="1">
                <a:solidFill>
                  <a:srgbClr val="153A32"/>
                </a:solidFill>
                <a:latin typeface="Arial"/>
                <a:ea typeface="Arial"/>
                <a:cs typeface="Arial"/>
              </a:defRPr>
            </a:pPr>
            <a:r>
              <a:rPr sz="2025" b="1">
                <a:solidFill>
                  <a:srgbClr val="153A32"/>
                </a:solidFill>
                <a:latin typeface="Arial"/>
                <a:ea typeface="Arial"/>
                <a:cs typeface="Arial"/>
              </a:rPr>
              <a:t>Labels and leakage</a:t>
            </a:r>
          </a:p>
        </p:txBody>
      </p:sp>
      <p:sp>
        <p:nvSpPr>
          <p:cNvPr id="6" name="">
            <a:extLst xmlns:a="http://schemas.openxmlformats.org/drawingml/2006/main">
              <a:ext uri="{FF2B5EF4-FFF2-40B4-BE49-F238E27FC236}">
                <a16:creationId xmlns:a16="http://schemas.microsoft.com/office/drawing/2014/main" id="{528B88DC-9742-41BD-B299-1714C844B162}"/>
              </a:ext>
            </a:extLst>
          </p:cNvPr>
          <p:cNvSpPr>
            <a:spLocks xmlns:a="http://schemas.openxmlformats.org/drawingml/2006/main" noGrp="1"/>
          </p:cNvSpPr>
          <p:nvPr/>
        </p:nvSpPr>
        <p:spPr>
          <a:xfrm xmlns:a="http://schemas.openxmlformats.org/drawingml/2006/main">
            <a:off x="4095750" y="1695450"/>
            <a:ext cx="7334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Two independent annotators; adjudication and agreement. Deduplicate; split by conversation and time.</a:t>
            </a:r>
          </a:p>
        </p:txBody>
      </p:sp>
      <p:sp>
        <p:nvSpPr>
          <p:cNvPr id="7" name="">
            <a:extLst xmlns:a="http://schemas.openxmlformats.org/drawingml/2006/main">
              <a:ext uri="{FF2B5EF4-FFF2-40B4-BE49-F238E27FC236}">
                <a16:creationId xmlns:a16="http://schemas.microsoft.com/office/drawing/2014/main" id="{90AAEBC6-3399-45EF-A3BA-65D0B244E6EB}"/>
              </a:ext>
            </a:extLst>
          </p:cNvPr>
          <p:cNvSpPr>
            <a:spLocks xmlns:a="http://schemas.openxmlformats.org/drawingml/2006/main" noGrp="1"/>
          </p:cNvSpPr>
          <p:nvPr/>
        </p:nvSpPr>
        <p:spPr>
          <a:xfrm xmlns:a="http://schemas.openxmlformats.org/drawingml/2006/main">
            <a:off x="609600" y="2752725"/>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153A32"/>
                </a:solidFill>
                <a:latin typeface="Arial"/>
                <a:ea typeface="Arial"/>
                <a:cs typeface="Arial"/>
              </a:defRPr>
            </a:defPPr>
            <a:lvl1pPr>
              <a:defRPr sz="2025" b="1">
                <a:solidFill>
                  <a:srgbClr val="153A32"/>
                </a:solidFill>
                <a:latin typeface="Arial"/>
                <a:ea typeface="Arial"/>
                <a:cs typeface="Arial"/>
              </a:defRPr>
            </a:lvl1pPr>
            <a:lvl2pPr>
              <a:defRPr sz="2025" b="1">
                <a:solidFill>
                  <a:srgbClr val="153A32"/>
                </a:solidFill>
                <a:latin typeface="Arial"/>
                <a:ea typeface="Arial"/>
                <a:cs typeface="Arial"/>
              </a:defRPr>
            </a:lvl2pPr>
            <a:lvl3pPr>
              <a:defRPr sz="2025" b="1">
                <a:solidFill>
                  <a:srgbClr val="153A32"/>
                </a:solidFill>
                <a:latin typeface="Arial"/>
                <a:ea typeface="Arial"/>
                <a:cs typeface="Arial"/>
              </a:defRPr>
            </a:lvl3pPr>
            <a:lvl4pPr>
              <a:defRPr sz="2025" b="1">
                <a:solidFill>
                  <a:srgbClr val="153A32"/>
                </a:solidFill>
                <a:latin typeface="Arial"/>
                <a:ea typeface="Arial"/>
                <a:cs typeface="Arial"/>
              </a:defRPr>
            </a:lvl4pPr>
            <a:lvl5pPr>
              <a:defRPr sz="2025" b="1">
                <a:solidFill>
                  <a:srgbClr val="153A32"/>
                </a:solidFill>
                <a:latin typeface="Arial"/>
                <a:ea typeface="Arial"/>
                <a:cs typeface="Arial"/>
              </a:defRPr>
            </a:lvl5pPr>
            <a:lvl6pPr>
              <a:defRPr sz="2025" b="1">
                <a:solidFill>
                  <a:srgbClr val="153A32"/>
                </a:solidFill>
                <a:latin typeface="Arial"/>
                <a:ea typeface="Arial"/>
                <a:cs typeface="Arial"/>
              </a:defRPr>
            </a:lvl6pPr>
            <a:lvl7pPr>
              <a:defRPr sz="2025" b="1">
                <a:solidFill>
                  <a:srgbClr val="153A32"/>
                </a:solidFill>
                <a:latin typeface="Arial"/>
                <a:ea typeface="Arial"/>
                <a:cs typeface="Arial"/>
              </a:defRPr>
            </a:lvl7pPr>
            <a:lvl8pPr>
              <a:defRPr sz="2025" b="1">
                <a:solidFill>
                  <a:srgbClr val="153A32"/>
                </a:solidFill>
                <a:latin typeface="Arial"/>
                <a:ea typeface="Arial"/>
                <a:cs typeface="Arial"/>
              </a:defRPr>
            </a:lvl8pPr>
            <a:lvl9pPr>
              <a:defRPr sz="2025" b="1">
                <a:solidFill>
                  <a:srgbClr val="153A32"/>
                </a:solidFill>
                <a:latin typeface="Arial"/>
                <a:ea typeface="Arial"/>
                <a:cs typeface="Arial"/>
              </a:defRPr>
            </a:lvl9pPr>
          </a:lstStyle>
          <a:p xmlns:a="http://schemas.openxmlformats.org/drawingml/2006/main">
            <a:pPr>
              <a:defRPr sz="2025" b="1">
                <a:solidFill>
                  <a:srgbClr val="153A32"/>
                </a:solidFill>
                <a:latin typeface="Arial"/>
                <a:ea typeface="Arial"/>
                <a:cs typeface="Arial"/>
              </a:defRPr>
            </a:pPr>
            <a:r>
              <a:rPr sz="2025" b="1">
                <a:solidFill>
                  <a:srgbClr val="153A32"/>
                </a:solidFill>
                <a:latin typeface="Arial"/>
                <a:ea typeface="Arial"/>
                <a:cs typeface="Arial"/>
              </a:rPr>
              <a:t>Fair comparison</a:t>
            </a:r>
          </a:p>
        </p:txBody>
      </p:sp>
      <p:sp>
        <p:nvSpPr>
          <p:cNvPr id="8" name="">
            <a:extLst xmlns:a="http://schemas.openxmlformats.org/drawingml/2006/main">
              <a:ext uri="{FF2B5EF4-FFF2-40B4-BE49-F238E27FC236}">
                <a16:creationId xmlns:a16="http://schemas.microsoft.com/office/drawing/2014/main" id="{28D1A0DA-9FED-4227-A925-7342847D02F4}"/>
              </a:ext>
            </a:extLst>
          </p:cNvPr>
          <p:cNvSpPr>
            <a:spLocks xmlns:a="http://schemas.openxmlformats.org/drawingml/2006/main" noGrp="1"/>
          </p:cNvSpPr>
          <p:nvPr/>
        </p:nvSpPr>
        <p:spPr>
          <a:xfrm xmlns:a="http://schemas.openxmlformats.org/drawingml/2006/main">
            <a:off x="4095750" y="2752725"/>
            <a:ext cx="7334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VADER vs Q8 on English only; Q8 per language. Freeze prompts and rules before final scoring.</a:t>
            </a:r>
          </a:p>
        </p:txBody>
      </p:sp>
      <p:sp>
        <p:nvSpPr>
          <p:cNvPr id="9" name="">
            <a:extLst xmlns:a="http://schemas.openxmlformats.org/drawingml/2006/main">
              <a:ext uri="{FF2B5EF4-FFF2-40B4-BE49-F238E27FC236}">
                <a16:creationId xmlns:a16="http://schemas.microsoft.com/office/drawing/2014/main" id="{07EC5467-7409-42D7-AD81-E7FF56A6F194}"/>
              </a:ext>
            </a:extLst>
          </p:cNvPr>
          <p:cNvSpPr>
            <a:spLocks xmlns:a="http://schemas.openxmlformats.org/drawingml/2006/main" noGrp="1"/>
          </p:cNvSpPr>
          <p:nvPr/>
        </p:nvSpPr>
        <p:spPr>
          <a:xfrm xmlns:a="http://schemas.openxmlformats.org/drawingml/2006/main">
            <a:off x="609600" y="3810000"/>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153A32"/>
                </a:solidFill>
                <a:latin typeface="Arial"/>
                <a:ea typeface="Arial"/>
                <a:cs typeface="Arial"/>
              </a:defRPr>
            </a:defPPr>
            <a:lvl1pPr>
              <a:defRPr sz="2025" b="1">
                <a:solidFill>
                  <a:srgbClr val="153A32"/>
                </a:solidFill>
                <a:latin typeface="Arial"/>
                <a:ea typeface="Arial"/>
                <a:cs typeface="Arial"/>
              </a:defRPr>
            </a:lvl1pPr>
            <a:lvl2pPr>
              <a:defRPr sz="2025" b="1">
                <a:solidFill>
                  <a:srgbClr val="153A32"/>
                </a:solidFill>
                <a:latin typeface="Arial"/>
                <a:ea typeface="Arial"/>
                <a:cs typeface="Arial"/>
              </a:defRPr>
            </a:lvl2pPr>
            <a:lvl3pPr>
              <a:defRPr sz="2025" b="1">
                <a:solidFill>
                  <a:srgbClr val="153A32"/>
                </a:solidFill>
                <a:latin typeface="Arial"/>
                <a:ea typeface="Arial"/>
                <a:cs typeface="Arial"/>
              </a:defRPr>
            </a:lvl3pPr>
            <a:lvl4pPr>
              <a:defRPr sz="2025" b="1">
                <a:solidFill>
                  <a:srgbClr val="153A32"/>
                </a:solidFill>
                <a:latin typeface="Arial"/>
                <a:ea typeface="Arial"/>
                <a:cs typeface="Arial"/>
              </a:defRPr>
            </a:lvl4pPr>
            <a:lvl5pPr>
              <a:defRPr sz="2025" b="1">
                <a:solidFill>
                  <a:srgbClr val="153A32"/>
                </a:solidFill>
                <a:latin typeface="Arial"/>
                <a:ea typeface="Arial"/>
                <a:cs typeface="Arial"/>
              </a:defRPr>
            </a:lvl5pPr>
            <a:lvl6pPr>
              <a:defRPr sz="2025" b="1">
                <a:solidFill>
                  <a:srgbClr val="153A32"/>
                </a:solidFill>
                <a:latin typeface="Arial"/>
                <a:ea typeface="Arial"/>
                <a:cs typeface="Arial"/>
              </a:defRPr>
            </a:lvl6pPr>
            <a:lvl7pPr>
              <a:defRPr sz="2025" b="1">
                <a:solidFill>
                  <a:srgbClr val="153A32"/>
                </a:solidFill>
                <a:latin typeface="Arial"/>
                <a:ea typeface="Arial"/>
                <a:cs typeface="Arial"/>
              </a:defRPr>
            </a:lvl7pPr>
            <a:lvl8pPr>
              <a:defRPr sz="2025" b="1">
                <a:solidFill>
                  <a:srgbClr val="153A32"/>
                </a:solidFill>
                <a:latin typeface="Arial"/>
                <a:ea typeface="Arial"/>
                <a:cs typeface="Arial"/>
              </a:defRPr>
            </a:lvl8pPr>
            <a:lvl9pPr>
              <a:defRPr sz="2025" b="1">
                <a:solidFill>
                  <a:srgbClr val="153A32"/>
                </a:solidFill>
                <a:latin typeface="Arial"/>
                <a:ea typeface="Arial"/>
                <a:cs typeface="Arial"/>
              </a:defRPr>
            </a:lvl9pPr>
          </a:lstStyle>
          <a:p xmlns:a="http://schemas.openxmlformats.org/drawingml/2006/main">
            <a:pPr>
              <a:defRPr sz="2025" b="1">
                <a:solidFill>
                  <a:srgbClr val="153A32"/>
                </a:solidFill>
                <a:latin typeface="Arial"/>
                <a:ea typeface="Arial"/>
                <a:cs typeface="Arial"/>
              </a:defRPr>
            </a:pPr>
            <a:r>
              <a:rPr sz="2025" b="1">
                <a:solidFill>
                  <a:srgbClr val="153A32"/>
                </a:solidFill>
                <a:latin typeface="Arial"/>
                <a:ea typeface="Arial"/>
                <a:cs typeface="Arial"/>
              </a:rPr>
              <a:t>Evidence ablations</a:t>
            </a:r>
          </a:p>
        </p:txBody>
      </p:sp>
      <p:sp>
        <p:nvSpPr>
          <p:cNvPr id="10" name="">
            <a:extLst xmlns:a="http://schemas.openxmlformats.org/drawingml/2006/main">
              <a:ext uri="{FF2B5EF4-FFF2-40B4-BE49-F238E27FC236}">
                <a16:creationId xmlns:a16="http://schemas.microsoft.com/office/drawing/2014/main" id="{53DA9B94-FEFF-43BC-B2F0-274DFD38BB44}"/>
              </a:ext>
            </a:extLst>
          </p:cNvPr>
          <p:cNvSpPr>
            <a:spLocks xmlns:a="http://schemas.openxmlformats.org/drawingml/2006/main" noGrp="1"/>
          </p:cNvSpPr>
          <p:nvPr/>
        </p:nvSpPr>
        <p:spPr>
          <a:xfrm xmlns:a="http://schemas.openxmlformats.org/drawingml/2006/main">
            <a:off x="4095750" y="3810000"/>
            <a:ext cx="7334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Extractive vs Groq with identical retrieved posts. Add oracle-evidence and no-evidence controls.</a:t>
            </a:r>
          </a:p>
        </p:txBody>
      </p:sp>
      <p:sp>
        <p:nvSpPr>
          <p:cNvPr id="11" name="">
            <a:extLst xmlns:a="http://schemas.openxmlformats.org/drawingml/2006/main">
              <a:ext uri="{FF2B5EF4-FFF2-40B4-BE49-F238E27FC236}">
                <a16:creationId xmlns:a16="http://schemas.microsoft.com/office/drawing/2014/main" id="{56C71B18-3F9D-4046-96E9-812731857CEE}"/>
              </a:ext>
            </a:extLst>
          </p:cNvPr>
          <p:cNvSpPr>
            <a:spLocks xmlns:a="http://schemas.openxmlformats.org/drawingml/2006/main" noGrp="1"/>
          </p:cNvSpPr>
          <p:nvPr/>
        </p:nvSpPr>
        <p:spPr>
          <a:xfrm xmlns:a="http://schemas.openxmlformats.org/drawingml/2006/main">
            <a:off x="609600" y="4867275"/>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153A32"/>
                </a:solidFill>
                <a:latin typeface="Arial"/>
                <a:ea typeface="Arial"/>
                <a:cs typeface="Arial"/>
              </a:defRPr>
            </a:defPPr>
            <a:lvl1pPr>
              <a:defRPr sz="2025" b="1">
                <a:solidFill>
                  <a:srgbClr val="153A32"/>
                </a:solidFill>
                <a:latin typeface="Arial"/>
                <a:ea typeface="Arial"/>
                <a:cs typeface="Arial"/>
              </a:defRPr>
            </a:lvl1pPr>
            <a:lvl2pPr>
              <a:defRPr sz="2025" b="1">
                <a:solidFill>
                  <a:srgbClr val="153A32"/>
                </a:solidFill>
                <a:latin typeface="Arial"/>
                <a:ea typeface="Arial"/>
                <a:cs typeface="Arial"/>
              </a:defRPr>
            </a:lvl2pPr>
            <a:lvl3pPr>
              <a:defRPr sz="2025" b="1">
                <a:solidFill>
                  <a:srgbClr val="153A32"/>
                </a:solidFill>
                <a:latin typeface="Arial"/>
                <a:ea typeface="Arial"/>
                <a:cs typeface="Arial"/>
              </a:defRPr>
            </a:lvl3pPr>
            <a:lvl4pPr>
              <a:defRPr sz="2025" b="1">
                <a:solidFill>
                  <a:srgbClr val="153A32"/>
                </a:solidFill>
                <a:latin typeface="Arial"/>
                <a:ea typeface="Arial"/>
                <a:cs typeface="Arial"/>
              </a:defRPr>
            </a:lvl4pPr>
            <a:lvl5pPr>
              <a:defRPr sz="2025" b="1">
                <a:solidFill>
                  <a:srgbClr val="153A32"/>
                </a:solidFill>
                <a:latin typeface="Arial"/>
                <a:ea typeface="Arial"/>
                <a:cs typeface="Arial"/>
              </a:defRPr>
            </a:lvl5pPr>
            <a:lvl6pPr>
              <a:defRPr sz="2025" b="1">
                <a:solidFill>
                  <a:srgbClr val="153A32"/>
                </a:solidFill>
                <a:latin typeface="Arial"/>
                <a:ea typeface="Arial"/>
                <a:cs typeface="Arial"/>
              </a:defRPr>
            </a:lvl6pPr>
            <a:lvl7pPr>
              <a:defRPr sz="2025" b="1">
                <a:solidFill>
                  <a:srgbClr val="153A32"/>
                </a:solidFill>
                <a:latin typeface="Arial"/>
                <a:ea typeface="Arial"/>
                <a:cs typeface="Arial"/>
              </a:defRPr>
            </a:lvl7pPr>
            <a:lvl8pPr>
              <a:defRPr sz="2025" b="1">
                <a:solidFill>
                  <a:srgbClr val="153A32"/>
                </a:solidFill>
                <a:latin typeface="Arial"/>
                <a:ea typeface="Arial"/>
                <a:cs typeface="Arial"/>
              </a:defRPr>
            </a:lvl8pPr>
            <a:lvl9pPr>
              <a:defRPr sz="2025" b="1">
                <a:solidFill>
                  <a:srgbClr val="153A32"/>
                </a:solidFill>
                <a:latin typeface="Arial"/>
                <a:ea typeface="Arial"/>
                <a:cs typeface="Arial"/>
              </a:defRPr>
            </a:lvl9pPr>
          </a:lstStyle>
          <a:p xmlns:a="http://schemas.openxmlformats.org/drawingml/2006/main">
            <a:pPr>
              <a:defRPr sz="2025" b="1">
                <a:solidFill>
                  <a:srgbClr val="153A32"/>
                </a:solidFill>
                <a:latin typeface="Arial"/>
                <a:ea typeface="Arial"/>
                <a:cs typeface="Arial"/>
              </a:defRPr>
            </a:pPr>
            <a:r>
              <a:rPr sz="2025" b="1">
                <a:solidFill>
                  <a:srgbClr val="153A32"/>
                </a:solidFill>
                <a:latin typeface="Arial"/>
                <a:ea typeface="Arial"/>
                <a:cs typeface="Arial"/>
              </a:rPr>
              <a:t>Reviewer pilot</a:t>
            </a:r>
          </a:p>
        </p:txBody>
      </p:sp>
      <p:sp>
        <p:nvSpPr>
          <p:cNvPr id="12" name="">
            <a:extLst xmlns:a="http://schemas.openxmlformats.org/drawingml/2006/main">
              <a:ext uri="{FF2B5EF4-FFF2-40B4-BE49-F238E27FC236}">
                <a16:creationId xmlns:a16="http://schemas.microsoft.com/office/drawing/2014/main" id="{A5BCE8C6-F051-4BED-BB9B-75E6FAF0DB37}"/>
              </a:ext>
            </a:extLst>
          </p:cNvPr>
          <p:cNvSpPr>
            <a:spLocks xmlns:a="http://schemas.openxmlformats.org/drawingml/2006/main" noGrp="1"/>
          </p:cNvSpPr>
          <p:nvPr/>
        </p:nvSpPr>
        <p:spPr>
          <a:xfrm xmlns:a="http://schemas.openxmlformats.org/drawingml/2006/main">
            <a:off x="4095750" y="4867275"/>
            <a:ext cx="7334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Target 6 volunteers × 12 cases; counterbalance conditions. Report uncertainty and pilot limitations.</a:t>
            </a:r>
          </a:p>
        </p:txBody>
      </p:sp>
    </p:spTree>
    <p:extLst>
      <p:ext uri="{BB962C8B-B14F-4D97-AF65-F5344CB8AC3E}">
        <p14:creationId xmlns:p14="http://schemas.microsoft.com/office/powerpoint/2010/main" val="317985575"/>
      </p:ext>
    </p:extLst>
  </p:cSld>
</p:sld>
</file>

<file path=ppt/slides/slide9.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9A7FC87-9DCB-45C4-BFC1-E60E3A752189}"/>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EVALUATION CRITERIA</a:t>
            </a:r>
          </a:p>
        </p:txBody>
      </p:sp>
      <p:sp>
        <p:nvSpPr>
          <p:cNvPr id="3" name="">
            <a:extLst xmlns:a="http://schemas.openxmlformats.org/drawingml/2006/main">
              <a:ext uri="{FF2B5EF4-FFF2-40B4-BE49-F238E27FC236}">
                <a16:creationId xmlns:a16="http://schemas.microsoft.com/office/drawing/2014/main" id="{F64E663C-9C6D-465F-B4CA-ABEE322FE4BA}"/>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Metrics matched to the research questions</a:t>
            </a:r>
          </a:p>
        </p:txBody>
      </p:sp>
      <p:sp>
        <p:nvSpPr>
          <p:cNvPr id="4" name="">
            <a:extLst xmlns:a="http://schemas.openxmlformats.org/drawingml/2006/main">
              <a:ext uri="{FF2B5EF4-FFF2-40B4-BE49-F238E27FC236}">
                <a16:creationId xmlns:a16="http://schemas.microsoft.com/office/drawing/2014/main" id="{58E63E0F-265D-4D73-B29C-51869D89AC97}"/>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09 / 16</a:t>
            </a:r>
          </a:p>
        </p:txBody>
      </p:sp>
      <p:graphicFrame>
        <p:nvGraphicFramePr>
          <p:cNvPr id="5" name="">
            <a:extLst xmlns:a="http://schemas.openxmlformats.org/drawingml/2006/main">
              <a:ext uri="{FF2B5EF4-FFF2-40B4-BE49-F238E27FC236}">
                <a16:creationId xmlns:a16="http://schemas.microsoft.com/office/drawing/2014/main" id="{AC8081BA-DF45-45F4-B8F1-FDC067BE1C8A}"/>
              </a:ext>
            </a:extLst>
          </p:cNvPr>
          <p:cNvGraphicFramePr/>
          <p:nvPr/>
        </p:nvGraphicFramePr>
        <p:xfrm>
          <a:off xmlns:a="http://schemas.openxmlformats.org/drawingml/2006/main" x="609600" y="1695450"/>
          <a:ext xmlns:a="http://schemas.openxmlformats.org/drawingml/2006/main" cx="10972800" cy="4000500"/>
        </p:xfrm>
        <a:graphic xmlns:a="http://schemas.openxmlformats.org/drawingml/2006/main">
          <a:graphicData uri="http://schemas.openxmlformats.org/drawingml/2006/table">
            <a:tbl>
              <a:tblPr/>
              <a:tblGrid>
                <a:gridCol w="2238375"/>
                <a:gridCol w="4953000"/>
                <a:gridCol w="3781425"/>
              </a:tblGrid>
              <a:tr h="800100">
                <a:tc>
                  <a:txBody>
                    <a:bodyPr/>
                    <a:lstStyle/>
                    <a:p>
                      <a:r>
                        <a:rPr sz="1575" b="1">
                          <a:solidFill>
                            <a:srgbClr val="FFFFFF"/>
                          </a:solidFill>
                          <a:latin typeface="Arial"/>
                          <a:ea typeface="Arial"/>
                          <a:cs typeface="Arial"/>
                        </a:rPr>
                        <a:t>Question</a:t>
                      </a:r>
                    </a:p>
                  </a:txBody>
                  <a:tcPr marL="91440" marR="91440" marT="45720" marB="45720" anchor="ctr">
                    <a:solidFill>
                      <a:srgbClr val="153A32"/>
                    </a:solidFill>
                  </a:tcPr>
                </a:tc>
                <a:tc>
                  <a:txBody>
                    <a:bodyPr/>
                    <a:lstStyle/>
                    <a:p>
                      <a:r>
                        <a:rPr sz="1575" b="1">
                          <a:solidFill>
                            <a:srgbClr val="FFFFFF"/>
                          </a:solidFill>
                          <a:latin typeface="Arial"/>
                          <a:ea typeface="Arial"/>
                          <a:cs typeface="Arial"/>
                        </a:rPr>
                        <a:t>Primary measures</a:t>
                      </a:r>
                    </a:p>
                  </a:txBody>
                  <a:tcPr marL="91440" marR="91440" marT="45720" marB="45720" anchor="ctr">
                    <a:solidFill>
                      <a:srgbClr val="153A32"/>
                    </a:solidFill>
                  </a:tcPr>
                </a:tc>
                <a:tc>
                  <a:txBody>
                    <a:bodyPr/>
                    <a:lstStyle/>
                    <a:p>
                      <a:r>
                        <a:rPr sz="1575" b="1">
                          <a:solidFill>
                            <a:srgbClr val="FFFFFF"/>
                          </a:solidFill>
                          <a:latin typeface="Arial"/>
                          <a:ea typeface="Arial"/>
                          <a:cs typeface="Arial"/>
                        </a:rPr>
                        <a:t>Why these measures</a:t>
                      </a:r>
                    </a:p>
                  </a:txBody>
                  <a:tcPr marL="91440" marR="91440" marT="45720" marB="45720" anchor="ctr">
                    <a:solidFill>
                      <a:srgbClr val="153A32"/>
                    </a:solidFill>
                  </a:tcPr>
                </a:tc>
              </a:tr>
              <a:tr h="800100">
                <a:tc>
                  <a:txBody>
                    <a:bodyPr/>
                    <a:lstStyle/>
                    <a:p>
                      <a:r>
                        <a:rPr sz="1575" b="0">
                          <a:solidFill>
                            <a:srgbClr val="213B33"/>
                          </a:solidFill>
                          <a:latin typeface="Arial"/>
                          <a:ea typeface="Arial"/>
                          <a:cs typeface="Arial"/>
                        </a:rPr>
                        <a:t>RQ1 · Sentiment</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Macro-F1 + per-class recall</a:t>
                      </a:r>
                    </a:p>
                    <a:p>
                      <a:r>
                        <a:rPr sz="1575" b="0">
                          <a:solidFill>
                            <a:srgbClr val="213B33"/>
                          </a:solidFill>
                          <a:latin typeface="Arial"/>
                          <a:ea typeface="Arial"/>
                          <a:cs typeface="Arial"/>
                        </a:rPr>
                        <a:t>Per-language coverage; Brier score</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Handle imbalance, missed complaints</a:t>
                      </a:r>
                    </a:p>
                    <a:p>
                      <a:r>
                        <a:rPr sz="1575" b="0">
                          <a:solidFill>
                            <a:srgbClr val="213B33"/>
                          </a:solidFill>
                          <a:latin typeface="Arial"/>
                          <a:ea typeface="Arial"/>
                          <a:cs typeface="Arial"/>
                        </a:rPr>
                        <a:t>and unreliable confidence</a:t>
                      </a:r>
                    </a:p>
                  </a:txBody>
                  <a:tcPr marL="91440" marR="91440" marT="45720" marB="45720" anchor="ctr">
                    <a:solidFill>
                      <a:srgbClr val="FFFFFF"/>
                    </a:solidFill>
                  </a:tcPr>
                </a:tc>
              </a:tr>
              <a:tr h="800100">
                <a:tc>
                  <a:txBody>
                    <a:bodyPr/>
                    <a:lstStyle/>
                    <a:p>
                      <a:r>
                        <a:rPr sz="1575" b="0">
                          <a:solidFill>
                            <a:srgbClr val="213B33"/>
                          </a:solidFill>
                          <a:latin typeface="Arial"/>
                          <a:ea typeface="Arial"/>
                          <a:cs typeface="Arial"/>
                        </a:rPr>
                        <a:t>RQ2 · Cited answers</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Recall@5; citation precision / completeness</a:t>
                      </a:r>
                    </a:p>
                    <a:p>
                      <a:r>
                        <a:rPr sz="1575" b="0">
                          <a:solidFill>
                            <a:srgbClr val="213B33"/>
                          </a:solidFill>
                          <a:latin typeface="Arial"/>
                          <a:ea typeface="Arial"/>
                          <a:cs typeface="Arial"/>
                        </a:rPr>
                        <a:t>Unsupported claims; usefulness (1–5)</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Separate retrieval, factual support</a:t>
                      </a:r>
                    </a:p>
                    <a:p>
                      <a:r>
                        <a:rPr sz="1575" b="0">
                          <a:solidFill>
                            <a:srgbClr val="213B33"/>
                          </a:solidFill>
                          <a:latin typeface="Arial"/>
                          <a:ea typeface="Arial"/>
                          <a:cs typeface="Arial"/>
                        </a:rPr>
                        <a:t>and practical answer value</a:t>
                      </a:r>
                    </a:p>
                  </a:txBody>
                  <a:tcPr marL="91440" marR="91440" marT="45720" marB="45720" anchor="ctr">
                    <a:solidFill>
                      <a:srgbClr val="EBF0E4"/>
                    </a:solidFill>
                  </a:tcPr>
                </a:tc>
              </a:tr>
              <a:tr h="800100">
                <a:tc>
                  <a:txBody>
                    <a:bodyPr/>
                    <a:lstStyle/>
                    <a:p>
                      <a:r>
                        <a:rPr sz="1575" b="0">
                          <a:solidFill>
                            <a:srgbClr val="213B33"/>
                          </a:solidFill>
                          <a:latin typeface="Arial"/>
                          <a:ea typeface="Arial"/>
                          <a:cs typeface="Arial"/>
                        </a:rPr>
                        <a:t>RQ3 · Human review</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Time per case; residual errors</a:t>
                      </a:r>
                    </a:p>
                    <a:p>
                      <a:r>
                        <a:rPr sz="1575" b="0">
                          <a:solidFill>
                            <a:srgbClr val="213B33"/>
                          </a:solidFill>
                          <a:latin typeface="Arial"/>
                          <a:ea typeface="Arial"/>
                          <a:cs typeface="Arial"/>
                        </a:rPr>
                        <a:t>Correction retention after reanalysis</a:t>
                      </a:r>
                    </a:p>
                  </a:txBody>
                  <a:tcPr marL="91440" marR="91440" marT="45720" marB="45720" anchor="ctr">
                    <a:solidFill>
                      <a:srgbClr val="FFFFFF"/>
                    </a:solidFill>
                  </a:tcPr>
                </a:tc>
                <a:tc>
                  <a:txBody>
                    <a:bodyPr/>
                    <a:lstStyle/>
                    <a:p>
                      <a:r>
                        <a:rPr sz="1575" b="0">
                          <a:solidFill>
                            <a:srgbClr val="213B33"/>
                          </a:solidFill>
                          <a:latin typeface="Arial"/>
                          <a:ea typeface="Arial"/>
                          <a:cs typeface="Arial"/>
                        </a:rPr>
                        <a:t>Assess reviewer effort and whether</a:t>
                      </a:r>
                    </a:p>
                    <a:p>
                      <a:r>
                        <a:rPr sz="1575" b="0">
                          <a:solidFill>
                            <a:srgbClr val="213B33"/>
                          </a:solidFill>
                          <a:latin typeface="Arial"/>
                          <a:ea typeface="Arial"/>
                          <a:cs typeface="Arial"/>
                        </a:rPr>
                        <a:t>corrections remain effective</a:t>
                      </a:r>
                    </a:p>
                  </a:txBody>
                  <a:tcPr marL="91440" marR="91440" marT="45720" marB="45720" anchor="ctr">
                    <a:solidFill>
                      <a:srgbClr val="FFFFFF"/>
                    </a:solidFill>
                  </a:tcPr>
                </a:tc>
              </a:tr>
              <a:tr h="800100">
                <a:tc>
                  <a:txBody>
                    <a:bodyPr/>
                    <a:lstStyle/>
                    <a:p>
                      <a:r>
                        <a:rPr sz="1575" b="0">
                          <a:solidFill>
                            <a:srgbClr val="213B33"/>
                          </a:solidFill>
                          <a:latin typeface="Arial"/>
                          <a:ea typeface="Arial"/>
                          <a:cs typeface="Arial"/>
                        </a:rPr>
                        <a:t>Cost / robustness</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Median / p95 latency; peak RSS</a:t>
                      </a:r>
                    </a:p>
                    <a:p>
                      <a:r>
                        <a:rPr sz="1575" b="0">
                          <a:solidFill>
                            <a:srgbClr val="213B33"/>
                          </a:solidFill>
                          <a:latin typeface="Arial"/>
                          <a:ea typeface="Arial"/>
                          <a:cs typeface="Arial"/>
                        </a:rPr>
                        <a:t>Abstention on unanswerable queries</a:t>
                      </a:r>
                    </a:p>
                  </a:txBody>
                  <a:tcPr marL="91440" marR="91440" marT="45720" marB="45720" anchor="ctr">
                    <a:solidFill>
                      <a:srgbClr val="EBF0E4"/>
                    </a:solidFill>
                  </a:tcPr>
                </a:tc>
                <a:tc>
                  <a:txBody>
                    <a:bodyPr/>
                    <a:lstStyle/>
                    <a:p>
                      <a:r>
                        <a:rPr sz="1575" b="0">
                          <a:solidFill>
                            <a:srgbClr val="213B33"/>
                          </a:solidFill>
                          <a:latin typeface="Arial"/>
                          <a:ea typeface="Arial"/>
                          <a:cs typeface="Arial"/>
                        </a:rPr>
                        <a:t>Expose resource and failure trade-offs</a:t>
                      </a:r>
                    </a:p>
                    <a:p>
                      <a:r>
                        <a:rPr sz="1575" b="0">
                          <a:solidFill>
                            <a:srgbClr val="213B33"/>
                          </a:solidFill>
                          <a:latin typeface="Arial"/>
                          <a:ea typeface="Arial"/>
                          <a:cs typeface="Arial"/>
                        </a:rPr>
                        <a:t>Report paired 95% bootstrap intervals</a:t>
                      </a:r>
                    </a:p>
                  </a:txBody>
                  <a:tcPr marL="91440" marR="91440" marT="45720" marB="45720" anchor="ctr">
                    <a:solidFill>
                      <a:srgbClr val="EBF0E4"/>
                    </a:solidFill>
                  </a:tcPr>
                </a:tc>
              </a:tr>
            </a:tbl>
          </a:graphicData>
        </a:graphic>
      </p:graphicFrame>
      <p:sp>
        <p:nvSpPr>
          <p:cNvPr id="6" name="">
            <a:extLst xmlns:a="http://schemas.openxmlformats.org/drawingml/2006/main">
              <a:ext uri="{FF2B5EF4-FFF2-40B4-BE49-F238E27FC236}">
                <a16:creationId xmlns:a16="http://schemas.microsoft.com/office/drawing/2014/main" id="{4EF86A89-28B3-445D-881C-EBAA5C7DE051}"/>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Definitions and annotation protocol are in the speaker notes. No single metric proves reliability.</a:t>
            </a:r>
          </a:p>
        </p:txBody>
      </p:sp>
    </p:spTree>
    <p:extLst>
      <p:ext uri="{BB962C8B-B14F-4D97-AF65-F5344CB8AC3E}">
        <p14:creationId xmlns:p14="http://schemas.microsoft.com/office/powerpoint/2010/main" val="1005891152"/>
      </p:ext>
    </p:extLst>
  </p:cSld>
</p:sld>
</file>

<file path=ppt/slides/slide10.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9639AB8-6A8C-4E25-9FF6-649E84B06550}"/>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IMPLEMENTED PROTOTYPE</a:t>
            </a:r>
          </a:p>
        </p:txBody>
      </p:sp>
      <p:sp>
        <p:nvSpPr>
          <p:cNvPr id="3" name="">
            <a:extLst xmlns:a="http://schemas.openxmlformats.org/drawingml/2006/main">
              <a:ext uri="{FF2B5EF4-FFF2-40B4-BE49-F238E27FC236}">
                <a16:creationId xmlns:a16="http://schemas.microsoft.com/office/drawing/2014/main" id="{3867FDE5-B45E-4132-8804-7191629FAA0C}"/>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Prototype: from feedback to evidence</a:t>
            </a:r>
          </a:p>
        </p:txBody>
      </p:sp>
      <p:sp>
        <p:nvSpPr>
          <p:cNvPr id="4" name="">
            <a:extLst xmlns:a="http://schemas.openxmlformats.org/drawingml/2006/main">
              <a:ext uri="{FF2B5EF4-FFF2-40B4-BE49-F238E27FC236}">
                <a16:creationId xmlns:a16="http://schemas.microsoft.com/office/drawing/2014/main" id="{94C152FE-69F1-4F0E-BD3C-82A4F1AF17D9}"/>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10 / 16</a:t>
            </a:r>
          </a:p>
        </p:txBody>
      </p:sp>
      <p:pic>
        <p:nvPicPr>
          <p:cNvPr id="5" name="">
            <a:extLst xmlns:a="http://schemas.openxmlformats.org/drawingml/2006/main">
              <a:ext uri="{FF2B5EF4-FFF2-40B4-BE49-F238E27FC236}">
                <a16:creationId xmlns:a16="http://schemas.microsoft.com/office/drawing/2014/main" id="{B9D200DB-009A-40E3-84FB-D1D8B5138762}"/>
              </a:ext>
            </a:extLst>
          </p:cNvPr>
          <p:cNvPicPr>
            <a:picLocks xmlns:a="http://schemas.openxmlformats.org/drawingml/2006/main" noChangeAspect="1"/>
          </p:cNvPicPr>
          <p:nvPr/>
        </p:nvPicPr>
        <p:blipFill>
          <a:blip xmlns:r="http://schemas.openxmlformats.org/officeDocument/2006/relationships" xmlns:a="http://schemas.openxmlformats.org/drawingml/2006/main" r:embed="R4f35b7b06b24453e"/>
          <a:stretch xmlns:a="http://schemas.openxmlformats.org/drawingml/2006/main"/>
        </p:blipFill>
        <p:spPr>
          <a:xfrm xmlns:a="http://schemas.openxmlformats.org/drawingml/2006/main">
            <a:off x="1084233" y="1562100"/>
            <a:ext cx="4784783" cy="4476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4593246-37D0-4A03-9F35-C362549F28CE}"/>
              </a:ext>
            </a:extLst>
          </p:cNvPr>
          <p:cNvSpPr>
            <a:spLocks xmlns:a="http://schemas.openxmlformats.org/drawingml/2006/main" noGrp="1"/>
          </p:cNvSpPr>
          <p:nvPr/>
        </p:nvSpPr>
        <p:spPr>
          <a:xfrm xmlns:a="http://schemas.openxmlformats.org/drawingml/2006/main">
            <a:off x="6896100" y="1762125"/>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Collect and analyze</a:t>
            </a:r>
          </a:p>
        </p:txBody>
      </p:sp>
      <p:sp>
        <p:nvSpPr>
          <p:cNvPr id="7" name="">
            <a:extLst xmlns:a="http://schemas.openxmlformats.org/drawingml/2006/main">
              <a:ext uri="{FF2B5EF4-FFF2-40B4-BE49-F238E27FC236}">
                <a16:creationId xmlns:a16="http://schemas.microsoft.com/office/drawing/2014/main" id="{74AFFAD6-2AC9-4624-9315-2C16D7AD5FF1}"/>
              </a:ext>
            </a:extLst>
          </p:cNvPr>
          <p:cNvSpPr>
            <a:spLocks xmlns:a="http://schemas.openxmlformats.org/drawingml/2006/main" noGrp="1"/>
          </p:cNvSpPr>
          <p:nvPr/>
        </p:nvSpPr>
        <p:spPr>
          <a:xfrm xmlns:a="http://schemas.openxmlformats.org/drawingml/2006/main">
            <a:off x="6896100" y="2219325"/>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CSV imports; optional connectors; local sentiment and statistical topic exploration.</a:t>
            </a:r>
          </a:p>
        </p:txBody>
      </p:sp>
      <p:sp>
        <p:nvSpPr>
          <p:cNvPr id="8" name="">
            <a:extLst xmlns:a="http://schemas.openxmlformats.org/drawingml/2006/main">
              <a:ext uri="{FF2B5EF4-FFF2-40B4-BE49-F238E27FC236}">
                <a16:creationId xmlns:a16="http://schemas.microsoft.com/office/drawing/2014/main" id="{CA975674-EB74-4BE4-B388-8C68AB4FA002}"/>
              </a:ext>
            </a:extLst>
          </p:cNvPr>
          <p:cNvSpPr>
            <a:spLocks xmlns:a="http://schemas.openxmlformats.org/drawingml/2006/main" noGrp="1"/>
          </p:cNvSpPr>
          <p:nvPr/>
        </p:nvSpPr>
        <p:spPr>
          <a:xfrm xmlns:a="http://schemas.openxmlformats.org/drawingml/2006/main">
            <a:off x="6896100" y="3143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Explore and compare</a:t>
            </a:r>
          </a:p>
        </p:txBody>
      </p:sp>
      <p:sp>
        <p:nvSpPr>
          <p:cNvPr id="9" name="">
            <a:extLst xmlns:a="http://schemas.openxmlformats.org/drawingml/2006/main">
              <a:ext uri="{FF2B5EF4-FFF2-40B4-BE49-F238E27FC236}">
                <a16:creationId xmlns:a16="http://schemas.microsoft.com/office/drawing/2014/main" id="{6EBA3197-7B9E-4BE2-9D56-033550C0FFD2}"/>
              </a:ext>
            </a:extLst>
          </p:cNvPr>
          <p:cNvSpPr>
            <a:spLocks xmlns:a="http://schemas.openxmlformats.org/drawingml/2006/main" noGrp="1"/>
          </p:cNvSpPr>
          <p:nvPr/>
        </p:nvSpPr>
        <p:spPr>
          <a:xfrm xmlns:a="http://schemas.openxmlformats.org/drawingml/2006/main">
            <a:off x="6896100" y="3600450"/>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Filter source, date and sentiment. Inspect original conversations.</a:t>
            </a:r>
          </a:p>
        </p:txBody>
      </p:sp>
      <p:sp>
        <p:nvSpPr>
          <p:cNvPr id="10" name="">
            <a:extLst xmlns:a="http://schemas.openxmlformats.org/drawingml/2006/main">
              <a:ext uri="{FF2B5EF4-FFF2-40B4-BE49-F238E27FC236}">
                <a16:creationId xmlns:a16="http://schemas.microsoft.com/office/drawing/2014/main" id="{4E4AA1A8-268F-4F2B-89EF-73EE0D892AD2}"/>
              </a:ext>
            </a:extLst>
          </p:cNvPr>
          <p:cNvSpPr>
            <a:spLocks xmlns:a="http://schemas.openxmlformats.org/drawingml/2006/main" noGrp="1"/>
          </p:cNvSpPr>
          <p:nvPr/>
        </p:nvSpPr>
        <p:spPr>
          <a:xfrm xmlns:a="http://schemas.openxmlformats.org/drawingml/2006/main">
            <a:off x="6896100" y="4524375"/>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Act and preserve</a:t>
            </a:r>
          </a:p>
        </p:txBody>
      </p:sp>
      <p:sp>
        <p:nvSpPr>
          <p:cNvPr id="11" name="">
            <a:extLst xmlns:a="http://schemas.openxmlformats.org/drawingml/2006/main">
              <a:ext uri="{FF2B5EF4-FFF2-40B4-BE49-F238E27FC236}">
                <a16:creationId xmlns:a16="http://schemas.microsoft.com/office/drawing/2014/main" id="{B067C104-6B46-4DC0-98E0-99DC7BC99A96}"/>
              </a:ext>
            </a:extLst>
          </p:cNvPr>
          <p:cNvSpPr>
            <a:spLocks xmlns:a="http://schemas.openxmlformats.org/drawingml/2006/main" noGrp="1"/>
          </p:cNvSpPr>
          <p:nvPr/>
        </p:nvSpPr>
        <p:spPr>
          <a:xfrm xmlns:a="http://schemas.openxmlformats.org/drawingml/2006/main">
            <a:off x="6896100" y="4981575"/>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Assign issues; store corrections, notes and audit history.</a:t>
            </a:r>
          </a:p>
        </p:txBody>
      </p:sp>
      <p:sp>
        <p:nvSpPr>
          <p:cNvPr id="12" name="">
            <a:extLst xmlns:a="http://schemas.openxmlformats.org/drawingml/2006/main">
              <a:ext uri="{FF2B5EF4-FFF2-40B4-BE49-F238E27FC236}">
                <a16:creationId xmlns:a16="http://schemas.microsoft.com/office/drawing/2014/main" id="{527F5981-F12A-45CD-917E-D446A15119CE}"/>
              </a:ext>
            </a:extLst>
          </p:cNvPr>
          <p:cNvSpPr>
            <a:spLocks xmlns:a="http://schemas.openxmlformats.org/drawingml/2006/main" noGrp="1"/>
          </p:cNvSpPr>
          <p:nvPr/>
        </p:nvSpPr>
        <p:spPr>
          <a:xfrm xmlns:a="http://schemas.openxmlformats.org/drawingml/2006/main">
            <a:off x="609600" y="6153150"/>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Tree>
    <p:extLst>
      <p:ext uri="{BB962C8B-B14F-4D97-AF65-F5344CB8AC3E}">
        <p14:creationId xmlns:p14="http://schemas.microsoft.com/office/powerpoint/2010/main" val="1901940655"/>
      </p:ext>
    </p:extLst>
  </p:cSld>
</p:sld>
</file>

<file path=ppt/slides/slide11.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E04AE1C-E493-42A5-9A4C-AA7A7C479534}"/>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IMPLEMENTED PROTOTYPE</a:t>
            </a:r>
          </a:p>
        </p:txBody>
      </p:sp>
      <p:sp>
        <p:nvSpPr>
          <p:cNvPr id="3" name="">
            <a:extLst xmlns:a="http://schemas.openxmlformats.org/drawingml/2006/main">
              <a:ext uri="{FF2B5EF4-FFF2-40B4-BE49-F238E27FC236}">
                <a16:creationId xmlns:a16="http://schemas.microsoft.com/office/drawing/2014/main" id="{CDB78169-96CE-4435-8468-D00CEADEF29D}"/>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Prototype: cited research with human checks</a:t>
            </a:r>
          </a:p>
        </p:txBody>
      </p:sp>
      <p:sp>
        <p:nvSpPr>
          <p:cNvPr id="4" name="">
            <a:extLst xmlns:a="http://schemas.openxmlformats.org/drawingml/2006/main">
              <a:ext uri="{FF2B5EF4-FFF2-40B4-BE49-F238E27FC236}">
                <a16:creationId xmlns:a16="http://schemas.microsoft.com/office/drawing/2014/main" id="{BC72555C-B10F-451C-B11D-6E6B1E6AC036}"/>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11 / 16</a:t>
            </a:r>
          </a:p>
        </p:txBody>
      </p:sp>
      <p:pic>
        <p:nvPicPr>
          <p:cNvPr id="5" name="">
            <a:extLst xmlns:a="http://schemas.openxmlformats.org/drawingml/2006/main">
              <a:ext uri="{FF2B5EF4-FFF2-40B4-BE49-F238E27FC236}">
                <a16:creationId xmlns:a16="http://schemas.microsoft.com/office/drawing/2014/main" id="{F5AC2B81-ED94-4C6F-AD2E-D87499CB2E9B}"/>
              </a:ext>
            </a:extLst>
          </p:cNvPr>
          <p:cNvPicPr>
            <a:picLocks xmlns:a="http://schemas.openxmlformats.org/drawingml/2006/main" noChangeAspect="1"/>
          </p:cNvPicPr>
          <p:nvPr/>
        </p:nvPicPr>
        <p:blipFill>
          <a:blip xmlns:r="http://schemas.openxmlformats.org/officeDocument/2006/relationships" xmlns:a="http://schemas.openxmlformats.org/drawingml/2006/main" r:embed="Rd68973edb4af4499"/>
          <a:stretch xmlns:a="http://schemas.openxmlformats.org/drawingml/2006/main"/>
        </p:blipFill>
        <p:spPr>
          <a:xfrm xmlns:a="http://schemas.openxmlformats.org/drawingml/2006/main">
            <a:off x="1084233" y="1562100"/>
            <a:ext cx="4784783" cy="4476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A3EFFC7-9D32-4D31-AA23-ADEE4B3CDF84}"/>
              </a:ext>
            </a:extLst>
          </p:cNvPr>
          <p:cNvSpPr>
            <a:spLocks xmlns:a="http://schemas.openxmlformats.org/drawingml/2006/main" noGrp="1"/>
          </p:cNvSpPr>
          <p:nvPr/>
        </p:nvSpPr>
        <p:spPr>
          <a:xfrm xmlns:a="http://schemas.openxmlformats.org/drawingml/2006/main">
            <a:off x="6896100" y="1762125"/>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Bounded evidence</a:t>
            </a:r>
          </a:p>
        </p:txBody>
      </p:sp>
      <p:sp>
        <p:nvSpPr>
          <p:cNvPr id="7" name="">
            <a:extLst xmlns:a="http://schemas.openxmlformats.org/drawingml/2006/main">
              <a:ext uri="{FF2B5EF4-FFF2-40B4-BE49-F238E27FC236}">
                <a16:creationId xmlns:a16="http://schemas.microsoft.com/office/drawing/2014/main" id="{CC26D403-57C5-4BDA-8A08-519E0130E32D}"/>
              </a:ext>
            </a:extLst>
          </p:cNvPr>
          <p:cNvSpPr>
            <a:spLocks xmlns:a="http://schemas.openxmlformats.org/drawingml/2006/main" noGrp="1"/>
          </p:cNvSpPr>
          <p:nvPr/>
        </p:nvSpPr>
        <p:spPr>
          <a:xfrm xmlns:a="http://schemas.openxmlformats.org/drawingml/2006/main">
            <a:off x="6896100" y="2219325"/>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Retrieve up to five excerpts from the selected workspace.</a:t>
            </a:r>
          </a:p>
        </p:txBody>
      </p:sp>
      <p:sp>
        <p:nvSpPr>
          <p:cNvPr id="8" name="">
            <a:extLst xmlns:a="http://schemas.openxmlformats.org/drawingml/2006/main">
              <a:ext uri="{FF2B5EF4-FFF2-40B4-BE49-F238E27FC236}">
                <a16:creationId xmlns:a16="http://schemas.microsoft.com/office/drawing/2014/main" id="{2D8C4EF1-1B5D-4313-A57B-B94BD64503D2}"/>
              </a:ext>
            </a:extLst>
          </p:cNvPr>
          <p:cNvSpPr>
            <a:spLocks xmlns:a="http://schemas.openxmlformats.org/drawingml/2006/main" noGrp="1"/>
          </p:cNvSpPr>
          <p:nvPr/>
        </p:nvSpPr>
        <p:spPr>
          <a:xfrm xmlns:a="http://schemas.openxmlformats.org/drawingml/2006/main">
            <a:off x="6896100" y="3143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Optional generation</a:t>
            </a:r>
          </a:p>
        </p:txBody>
      </p:sp>
      <p:sp>
        <p:nvSpPr>
          <p:cNvPr id="9" name="">
            <a:extLst xmlns:a="http://schemas.openxmlformats.org/drawingml/2006/main">
              <a:ext uri="{FF2B5EF4-FFF2-40B4-BE49-F238E27FC236}">
                <a16:creationId xmlns:a16="http://schemas.microsoft.com/office/drawing/2014/main" id="{39D39EF8-EBF2-4178-8118-30AD962ED9FF}"/>
              </a:ext>
            </a:extLst>
          </p:cNvPr>
          <p:cNvSpPr>
            <a:spLocks xmlns:a="http://schemas.openxmlformats.org/drawingml/2006/main" noGrp="1"/>
          </p:cNvSpPr>
          <p:nvPr/>
        </p:nvSpPr>
        <p:spPr>
          <a:xfrm xmlns:a="http://schemas.openxmlformats.org/drawingml/2006/main">
            <a:off x="6896100" y="3600450"/>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Groq synthesizes a structured answer with source IDs.</a:t>
            </a:r>
          </a:p>
        </p:txBody>
      </p:sp>
      <p:sp>
        <p:nvSpPr>
          <p:cNvPr id="10" name="">
            <a:extLst xmlns:a="http://schemas.openxmlformats.org/drawingml/2006/main">
              <a:ext uri="{FF2B5EF4-FFF2-40B4-BE49-F238E27FC236}">
                <a16:creationId xmlns:a16="http://schemas.microsoft.com/office/drawing/2014/main" id="{08361E74-15A8-4E03-A376-615881715F43}"/>
              </a:ext>
            </a:extLst>
          </p:cNvPr>
          <p:cNvSpPr>
            <a:spLocks xmlns:a="http://schemas.openxmlformats.org/drawingml/2006/main" noGrp="1"/>
          </p:cNvSpPr>
          <p:nvPr/>
        </p:nvSpPr>
        <p:spPr>
          <a:xfrm xmlns:a="http://schemas.openxmlformats.org/drawingml/2006/main">
            <a:off x="6896100" y="4524375"/>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Human verification</a:t>
            </a:r>
          </a:p>
        </p:txBody>
      </p:sp>
      <p:sp>
        <p:nvSpPr>
          <p:cNvPr id="11" name="">
            <a:extLst xmlns:a="http://schemas.openxmlformats.org/drawingml/2006/main">
              <a:ext uri="{FF2B5EF4-FFF2-40B4-BE49-F238E27FC236}">
                <a16:creationId xmlns:a16="http://schemas.microsoft.com/office/drawing/2014/main" id="{66D260A5-5569-4741-8CD6-4420B282ED3F}"/>
              </a:ext>
            </a:extLst>
          </p:cNvPr>
          <p:cNvSpPr>
            <a:spLocks xmlns:a="http://schemas.openxmlformats.org/drawingml/2006/main" noGrp="1"/>
          </p:cNvSpPr>
          <p:nvPr/>
        </p:nvSpPr>
        <p:spPr>
          <a:xfrm xmlns:a="http://schemas.openxmlformats.org/drawingml/2006/main">
            <a:off x="6896100" y="4981575"/>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ID validity is checked; claim support must still be evaluated.</a:t>
            </a:r>
          </a:p>
        </p:txBody>
      </p:sp>
      <p:sp>
        <p:nvSpPr>
          <p:cNvPr id="12" name="">
            <a:extLst xmlns:a="http://schemas.openxmlformats.org/drawingml/2006/main">
              <a:ext uri="{FF2B5EF4-FFF2-40B4-BE49-F238E27FC236}">
                <a16:creationId xmlns:a16="http://schemas.microsoft.com/office/drawing/2014/main" id="{8B04F027-ECE8-43ED-B064-E66156740809}"/>
              </a:ext>
            </a:extLst>
          </p:cNvPr>
          <p:cNvSpPr>
            <a:spLocks xmlns:a="http://schemas.openxmlformats.org/drawingml/2006/main" noGrp="1"/>
          </p:cNvSpPr>
          <p:nvPr/>
        </p:nvSpPr>
        <p:spPr>
          <a:xfrm xmlns:a="http://schemas.openxmlformats.org/drawingml/2006/main">
            <a:off x="609600" y="6153150"/>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Tree>
    <p:extLst>
      <p:ext uri="{BB962C8B-B14F-4D97-AF65-F5344CB8AC3E}">
        <p14:creationId xmlns:p14="http://schemas.microsoft.com/office/powerpoint/2010/main" val="399171770"/>
      </p:ext>
    </p:extLst>
  </p:cSld>
</p:sld>
</file>

<file path=ppt/slides/slide12.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6167979-1107-416C-9DF0-A9A0664750B3}"/>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OBSERVED RESULTS</a:t>
            </a:r>
          </a:p>
        </p:txBody>
      </p:sp>
      <p:sp>
        <p:nvSpPr>
          <p:cNvPr id="3" name="">
            <a:extLst xmlns:a="http://schemas.openxmlformats.org/drawingml/2006/main">
              <a:ext uri="{FF2B5EF4-FFF2-40B4-BE49-F238E27FC236}">
                <a16:creationId xmlns:a16="http://schemas.microsoft.com/office/drawing/2014/main" id="{46316C0B-11B2-4C27-8585-F8263791975B}"/>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Preliminary evidence: engineering and cost</a:t>
            </a:r>
          </a:p>
        </p:txBody>
      </p:sp>
      <p:sp>
        <p:nvSpPr>
          <p:cNvPr id="4" name="">
            <a:extLst xmlns:a="http://schemas.openxmlformats.org/drawingml/2006/main">
              <a:ext uri="{FF2B5EF4-FFF2-40B4-BE49-F238E27FC236}">
                <a16:creationId xmlns:a16="http://schemas.microsoft.com/office/drawing/2014/main" id="{41104FC1-FBDB-4C8F-8E98-D3E230E84AA8}"/>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12 / 16</a:t>
            </a:r>
          </a:p>
        </p:txBody>
      </p:sp>
      <p:graphicFrame>
        <p:nvGraphicFramePr>
          <p:cNvPr id="5" name="">
            <a:extLst xmlns:a="http://schemas.openxmlformats.org/drawingml/2006/main">
              <a:ext uri="{FF2B5EF4-FFF2-40B4-BE49-F238E27FC236}">
                <a16:creationId xmlns:a16="http://schemas.microsoft.com/office/drawing/2014/main" id="{A9E3F368-1E1B-4B16-A66B-7564A1B399F8}"/>
              </a:ext>
            </a:extLst>
          </p:cNvPr>
          <p:cNvGraphicFramePr/>
          <p:nvPr/>
        </p:nvGraphicFramePr>
        <p:xfrm>
          <a:off xmlns:a="http://schemas.openxmlformats.org/drawingml/2006/main" x="609600" y="1714500"/>
          <a:ext xmlns:a="http://schemas.openxmlformats.org/drawingml/2006/main" cx="10972800" cy="2305050"/>
        </p:xfrm>
        <a:graphic xmlns:a="http://schemas.openxmlformats.org/drawingml/2006/main">
          <a:graphicData uri="http://schemas.openxmlformats.org/drawingml/2006/table">
            <a:tbl>
              <a:tblPr/>
              <a:tblGrid>
                <a:gridCol w="4000500"/>
                <a:gridCol w="3714750"/>
                <a:gridCol w="3257550"/>
              </a:tblGrid>
              <a:tr h="768350">
                <a:tc>
                  <a:txBody>
                    <a:bodyPr/>
                    <a:lstStyle/>
                    <a:p>
                      <a:r>
                        <a:rPr sz="1875" b="1">
                          <a:solidFill>
                            <a:srgbClr val="FFFFFF"/>
                          </a:solidFill>
                          <a:latin typeface="Arial"/>
                          <a:ea typeface="Arial"/>
                          <a:cs typeface="Arial"/>
                        </a:rPr>
                        <a:t>Measured local process</a:t>
                      </a:r>
                    </a:p>
                  </a:txBody>
                  <a:tcPr marL="91440" marR="91440" marT="45720" marB="45720" anchor="ctr">
                    <a:solidFill>
                      <a:srgbClr val="153A32"/>
                    </a:solidFill>
                  </a:tcPr>
                </a:tc>
                <a:tc>
                  <a:txBody>
                    <a:bodyPr/>
                    <a:lstStyle/>
                    <a:p>
                      <a:r>
                        <a:rPr sz="1875" b="1">
                          <a:solidFill>
                            <a:srgbClr val="FFFFFF"/>
                          </a:solidFill>
                          <a:latin typeface="Arial"/>
                          <a:ea typeface="Arial"/>
                          <a:cs typeface="Arial"/>
                        </a:rPr>
                        <a:t>Median / p95 per call</a:t>
                      </a:r>
                    </a:p>
                  </a:txBody>
                  <a:tcPr marL="91440" marR="91440" marT="45720" marB="45720" anchor="ctr">
                    <a:solidFill>
                      <a:srgbClr val="153A32"/>
                    </a:solidFill>
                  </a:tcPr>
                </a:tc>
                <a:tc>
                  <a:txBody>
                    <a:bodyPr/>
                    <a:lstStyle/>
                    <a:p>
                      <a:r>
                        <a:rPr sz="1875" b="1">
                          <a:solidFill>
                            <a:srgbClr val="FFFFFF"/>
                          </a:solidFill>
                          <a:latin typeface="Arial"/>
                          <a:ea typeface="Arial"/>
                          <a:cs typeface="Arial"/>
                        </a:rPr>
                        <a:t>Peak process RSS</a:t>
                      </a:r>
                    </a:p>
                  </a:txBody>
                  <a:tcPr marL="91440" marR="91440" marT="45720" marB="45720" anchor="ctr">
                    <a:solidFill>
                      <a:srgbClr val="153A32"/>
                    </a:solidFill>
                  </a:tcPr>
                </a:tc>
              </a:tr>
              <a:tr h="768350">
                <a:tc>
                  <a:txBody>
                    <a:bodyPr/>
                    <a:lstStyle/>
                    <a:p>
                      <a:r>
                        <a:rPr sz="1875" b="0">
                          <a:solidFill>
                            <a:srgbClr val="213B33"/>
                          </a:solidFill>
                          <a:latin typeface="Arial"/>
                          <a:ea typeface="Arial"/>
                          <a:cs typeface="Arial"/>
                        </a:rPr>
                        <a:t>VADER + domain rules</a:t>
                      </a:r>
                    </a:p>
                  </a:txBody>
                  <a:tcPr marL="91440" marR="91440" marT="45720" marB="45720" anchor="ctr">
                    <a:solidFill>
                      <a:srgbClr val="FFFFFF"/>
                    </a:solidFill>
                  </a:tcPr>
                </a:tc>
                <a:tc>
                  <a:txBody>
                    <a:bodyPr/>
                    <a:lstStyle/>
                    <a:p>
                      <a:r>
                        <a:rPr sz="1875" b="0">
                          <a:solidFill>
                            <a:srgbClr val="213B33"/>
                          </a:solidFill>
                          <a:latin typeface="Arial"/>
                          <a:ea typeface="Arial"/>
                          <a:cs typeface="Arial"/>
                        </a:rPr>
                        <a:t>0.04 / 0.04 ms</a:t>
                      </a:r>
                    </a:p>
                  </a:txBody>
                  <a:tcPr marL="91440" marR="91440" marT="45720" marB="45720" anchor="ctr">
                    <a:solidFill>
                      <a:srgbClr val="FFFFFF"/>
                    </a:solidFill>
                  </a:tcPr>
                </a:tc>
                <a:tc>
                  <a:txBody>
                    <a:bodyPr/>
                    <a:lstStyle/>
                    <a:p>
                      <a:r>
                        <a:rPr sz="1875" b="0">
                          <a:solidFill>
                            <a:srgbClr val="213B33"/>
                          </a:solidFill>
                          <a:latin typeface="Arial"/>
                          <a:ea typeface="Arial"/>
                          <a:cs typeface="Arial"/>
                        </a:rPr>
                        <a:t>121.0 MiB</a:t>
                      </a:r>
                    </a:p>
                  </a:txBody>
                  <a:tcPr marL="91440" marR="91440" marT="45720" marB="45720" anchor="ctr">
                    <a:solidFill>
                      <a:srgbClr val="FFFFFF"/>
                    </a:solidFill>
                  </a:tcPr>
                </a:tc>
              </a:tr>
              <a:tr h="768350">
                <a:tc>
                  <a:txBody>
                    <a:bodyPr/>
                    <a:lstStyle/>
                    <a:p>
                      <a:r>
                        <a:rPr sz="1875" b="0">
                          <a:solidFill>
                            <a:srgbClr val="213B33"/>
                          </a:solidFill>
                          <a:latin typeface="Arial"/>
                          <a:ea typeface="Arial"/>
                          <a:cs typeface="Arial"/>
                        </a:rPr>
                        <a:t>Quantized ONNX sentiment</a:t>
                      </a:r>
                    </a:p>
                  </a:txBody>
                  <a:tcPr marL="91440" marR="91440" marT="45720" marB="45720" anchor="ctr">
                    <a:solidFill>
                      <a:srgbClr val="EBF0E4"/>
                    </a:solidFill>
                  </a:tcPr>
                </a:tc>
                <a:tc>
                  <a:txBody>
                    <a:bodyPr/>
                    <a:lstStyle/>
                    <a:p>
                      <a:r>
                        <a:rPr sz="1875" b="0">
                          <a:solidFill>
                            <a:srgbClr val="213B33"/>
                          </a:solidFill>
                          <a:latin typeface="Arial"/>
                          <a:ea typeface="Arial"/>
                          <a:cs typeface="Arial"/>
                        </a:rPr>
                        <a:t>8.24 / 12.39 ms</a:t>
                      </a:r>
                    </a:p>
                  </a:txBody>
                  <a:tcPr marL="91440" marR="91440" marT="45720" marB="45720" anchor="ctr">
                    <a:solidFill>
                      <a:srgbClr val="EBF0E4"/>
                    </a:solidFill>
                  </a:tcPr>
                </a:tc>
                <a:tc>
                  <a:txBody>
                    <a:bodyPr/>
                    <a:lstStyle/>
                    <a:p>
                      <a:r>
                        <a:rPr sz="1875" b="0">
                          <a:solidFill>
                            <a:srgbClr val="213B33"/>
                          </a:solidFill>
                          <a:latin typeface="Arial"/>
                          <a:ea typeface="Arial"/>
                          <a:cs typeface="Arial"/>
                        </a:rPr>
                        <a:t>761.8 MiB</a:t>
                      </a:r>
                    </a:p>
                  </a:txBody>
                  <a:tcPr marL="91440" marR="91440" marT="45720" marB="45720" anchor="ctr">
                    <a:solidFill>
                      <a:srgbClr val="EBF0E4"/>
                    </a:solidFill>
                  </a:tcPr>
                </a:tc>
              </a:tr>
            </a:tbl>
          </a:graphicData>
        </a:graphic>
      </p:graphicFrame>
      <p:sp>
        <p:nvSpPr>
          <p:cNvPr id="6" name="">
            <a:extLst xmlns:a="http://schemas.openxmlformats.org/drawingml/2006/main">
              <a:ext uri="{FF2B5EF4-FFF2-40B4-BE49-F238E27FC236}">
                <a16:creationId xmlns:a16="http://schemas.microsoft.com/office/drawing/2014/main" id="{A611E3C4-0086-4404-A827-9CB78AC345BA}"/>
              </a:ext>
            </a:extLst>
          </p:cNvPr>
          <p:cNvSpPr>
            <a:spLocks xmlns:a="http://schemas.openxmlformats.org/drawingml/2006/main" noGrp="1"/>
          </p:cNvSpPr>
          <p:nvPr/>
        </p:nvSpPr>
        <p:spPr>
          <a:xfrm xmlns:a="http://schemas.openxmlformats.org/drawingml/2006/main">
            <a:off x="609600" y="43624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3A32"/>
                </a:solidFill>
                <a:latin typeface="Arial"/>
                <a:ea typeface="Arial"/>
                <a:cs typeface="Arial"/>
              </a:defRPr>
            </a:defPPr>
            <a:lvl1pPr>
              <a:defRPr sz="3225" b="1">
                <a:solidFill>
                  <a:srgbClr val="153A32"/>
                </a:solidFill>
                <a:latin typeface="Arial"/>
                <a:ea typeface="Arial"/>
                <a:cs typeface="Arial"/>
              </a:defRPr>
            </a:lvl1pPr>
            <a:lvl2pPr>
              <a:defRPr sz="3225" b="1">
                <a:solidFill>
                  <a:srgbClr val="153A32"/>
                </a:solidFill>
                <a:latin typeface="Arial"/>
                <a:ea typeface="Arial"/>
                <a:cs typeface="Arial"/>
              </a:defRPr>
            </a:lvl2pPr>
            <a:lvl3pPr>
              <a:defRPr sz="3225" b="1">
                <a:solidFill>
                  <a:srgbClr val="153A32"/>
                </a:solidFill>
                <a:latin typeface="Arial"/>
                <a:ea typeface="Arial"/>
                <a:cs typeface="Arial"/>
              </a:defRPr>
            </a:lvl3pPr>
            <a:lvl4pPr>
              <a:defRPr sz="3225" b="1">
                <a:solidFill>
                  <a:srgbClr val="153A32"/>
                </a:solidFill>
                <a:latin typeface="Arial"/>
                <a:ea typeface="Arial"/>
                <a:cs typeface="Arial"/>
              </a:defRPr>
            </a:lvl4pPr>
            <a:lvl5pPr>
              <a:defRPr sz="3225" b="1">
                <a:solidFill>
                  <a:srgbClr val="153A32"/>
                </a:solidFill>
                <a:latin typeface="Arial"/>
                <a:ea typeface="Arial"/>
                <a:cs typeface="Arial"/>
              </a:defRPr>
            </a:lvl5pPr>
            <a:lvl6pPr>
              <a:defRPr sz="3225" b="1">
                <a:solidFill>
                  <a:srgbClr val="153A32"/>
                </a:solidFill>
                <a:latin typeface="Arial"/>
                <a:ea typeface="Arial"/>
                <a:cs typeface="Arial"/>
              </a:defRPr>
            </a:lvl6pPr>
            <a:lvl7pPr>
              <a:defRPr sz="3225" b="1">
                <a:solidFill>
                  <a:srgbClr val="153A32"/>
                </a:solidFill>
                <a:latin typeface="Arial"/>
                <a:ea typeface="Arial"/>
                <a:cs typeface="Arial"/>
              </a:defRPr>
            </a:lvl7pPr>
            <a:lvl8pPr>
              <a:defRPr sz="3225" b="1">
                <a:solidFill>
                  <a:srgbClr val="153A32"/>
                </a:solidFill>
                <a:latin typeface="Arial"/>
                <a:ea typeface="Arial"/>
                <a:cs typeface="Arial"/>
              </a:defRPr>
            </a:lvl8pPr>
            <a:lvl9pPr>
              <a:defRPr sz="3225" b="1">
                <a:solidFill>
                  <a:srgbClr val="153A32"/>
                </a:solidFill>
                <a:latin typeface="Arial"/>
                <a:ea typeface="Arial"/>
                <a:cs typeface="Arial"/>
              </a:defRPr>
            </a:lvl9pPr>
          </a:lstStyle>
          <a:p xmlns:a="http://schemas.openxmlformats.org/drawingml/2006/main">
            <a:pPr>
              <a:defRPr sz="3225" b="1">
                <a:solidFill>
                  <a:srgbClr val="153A32"/>
                </a:solidFill>
                <a:latin typeface="Arial"/>
                <a:ea typeface="Arial"/>
                <a:cs typeface="Arial"/>
              </a:defRPr>
            </a:pPr>
            <a:r>
              <a:rPr sz="3225" b="1">
                <a:solidFill>
                  <a:srgbClr val="153A32"/>
                </a:solidFill>
                <a:latin typeface="Arial"/>
                <a:ea typeface="Arial"/>
                <a:cs typeface="Arial"/>
              </a:rPr>
              <a:t>40 tests passed</a:t>
            </a:r>
          </a:p>
        </p:txBody>
      </p:sp>
      <p:sp>
        <p:nvSpPr>
          <p:cNvPr id="7" name="">
            <a:extLst xmlns:a="http://schemas.openxmlformats.org/drawingml/2006/main">
              <a:ext uri="{FF2B5EF4-FFF2-40B4-BE49-F238E27FC236}">
                <a16:creationId xmlns:a16="http://schemas.microsoft.com/office/drawing/2014/main" id="{08FA4BE7-7E67-4AEF-86D6-F8741BA44958}"/>
              </a:ext>
            </a:extLst>
          </p:cNvPr>
          <p:cNvSpPr>
            <a:spLocks xmlns:a="http://schemas.openxmlformats.org/drawingml/2006/main" noGrp="1"/>
          </p:cNvSpPr>
          <p:nvPr/>
        </p:nvSpPr>
        <p:spPr>
          <a:xfrm xmlns:a="http://schemas.openxmlformats.org/drawingml/2006/main">
            <a:off x="6705600" y="436245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3A32"/>
                </a:solidFill>
                <a:latin typeface="Arial"/>
                <a:ea typeface="Arial"/>
                <a:cs typeface="Arial"/>
              </a:defRPr>
            </a:defPPr>
            <a:lvl1pPr>
              <a:defRPr sz="3225" b="1">
                <a:solidFill>
                  <a:srgbClr val="153A32"/>
                </a:solidFill>
                <a:latin typeface="Arial"/>
                <a:ea typeface="Arial"/>
                <a:cs typeface="Arial"/>
              </a:defRPr>
            </a:lvl1pPr>
            <a:lvl2pPr>
              <a:defRPr sz="3225" b="1">
                <a:solidFill>
                  <a:srgbClr val="153A32"/>
                </a:solidFill>
                <a:latin typeface="Arial"/>
                <a:ea typeface="Arial"/>
                <a:cs typeface="Arial"/>
              </a:defRPr>
            </a:lvl2pPr>
            <a:lvl3pPr>
              <a:defRPr sz="3225" b="1">
                <a:solidFill>
                  <a:srgbClr val="153A32"/>
                </a:solidFill>
                <a:latin typeface="Arial"/>
                <a:ea typeface="Arial"/>
                <a:cs typeface="Arial"/>
              </a:defRPr>
            </a:lvl3pPr>
            <a:lvl4pPr>
              <a:defRPr sz="3225" b="1">
                <a:solidFill>
                  <a:srgbClr val="153A32"/>
                </a:solidFill>
                <a:latin typeface="Arial"/>
                <a:ea typeface="Arial"/>
                <a:cs typeface="Arial"/>
              </a:defRPr>
            </a:lvl4pPr>
            <a:lvl5pPr>
              <a:defRPr sz="3225" b="1">
                <a:solidFill>
                  <a:srgbClr val="153A32"/>
                </a:solidFill>
                <a:latin typeface="Arial"/>
                <a:ea typeface="Arial"/>
                <a:cs typeface="Arial"/>
              </a:defRPr>
            </a:lvl5pPr>
            <a:lvl6pPr>
              <a:defRPr sz="3225" b="1">
                <a:solidFill>
                  <a:srgbClr val="153A32"/>
                </a:solidFill>
                <a:latin typeface="Arial"/>
                <a:ea typeface="Arial"/>
                <a:cs typeface="Arial"/>
              </a:defRPr>
            </a:lvl6pPr>
            <a:lvl7pPr>
              <a:defRPr sz="3225" b="1">
                <a:solidFill>
                  <a:srgbClr val="153A32"/>
                </a:solidFill>
                <a:latin typeface="Arial"/>
                <a:ea typeface="Arial"/>
                <a:cs typeface="Arial"/>
              </a:defRPr>
            </a:lvl7pPr>
            <a:lvl8pPr>
              <a:defRPr sz="3225" b="1">
                <a:solidFill>
                  <a:srgbClr val="153A32"/>
                </a:solidFill>
                <a:latin typeface="Arial"/>
                <a:ea typeface="Arial"/>
                <a:cs typeface="Arial"/>
              </a:defRPr>
            </a:lvl8pPr>
            <a:lvl9pPr>
              <a:defRPr sz="3225" b="1">
                <a:solidFill>
                  <a:srgbClr val="153A32"/>
                </a:solidFill>
                <a:latin typeface="Arial"/>
                <a:ea typeface="Arial"/>
                <a:cs typeface="Arial"/>
              </a:defRPr>
            </a:lvl9pPr>
          </a:lstStyle>
          <a:p xmlns:a="http://schemas.openxmlformats.org/drawingml/2006/main">
            <a:pPr>
              <a:defRPr sz="3225" b="1">
                <a:solidFill>
                  <a:srgbClr val="153A32"/>
                </a:solidFill>
                <a:latin typeface="Arial"/>
                <a:ea typeface="Arial"/>
                <a:cs typeface="Arial"/>
              </a:defRPr>
            </a:pPr>
            <a:r>
              <a:rPr sz="3225" b="1">
                <a:solidFill>
                  <a:srgbClr val="153A32"/>
                </a:solidFill>
                <a:latin typeface="Arial"/>
                <a:ea typeface="Arial"/>
                <a:cs typeface="Arial"/>
              </a:rPr>
              <a:t>3 CI jobs passed</a:t>
            </a:r>
          </a:p>
        </p:txBody>
      </p:sp>
      <p:sp>
        <p:nvSpPr>
          <p:cNvPr id="8" name="">
            <a:extLst xmlns:a="http://schemas.openxmlformats.org/drawingml/2006/main">
              <a:ext uri="{FF2B5EF4-FFF2-40B4-BE49-F238E27FC236}">
                <a16:creationId xmlns:a16="http://schemas.microsoft.com/office/drawing/2014/main" id="{30BFB214-5899-4E4E-8101-71E2AA985BDC}"/>
              </a:ext>
            </a:extLst>
          </p:cNvPr>
          <p:cNvSpPr>
            <a:spLocks xmlns:a="http://schemas.openxmlformats.org/drawingml/2006/main" noGrp="1"/>
          </p:cNvSpPr>
          <p:nvPr/>
        </p:nvSpPr>
        <p:spPr>
          <a:xfrm xmlns:a="http://schemas.openxmlformats.org/drawingml/2006/main">
            <a:off x="609600" y="50577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One optional model test skipped in that run.</a:t>
            </a:r>
          </a:p>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Separate multilingual and Groq smoke checks passed.</a:t>
            </a:r>
          </a:p>
        </p:txBody>
      </p:sp>
      <p:sp>
        <p:nvSpPr>
          <p:cNvPr id="9" name="">
            <a:extLst xmlns:a="http://schemas.openxmlformats.org/drawingml/2006/main">
              <a:ext uri="{FF2B5EF4-FFF2-40B4-BE49-F238E27FC236}">
                <a16:creationId xmlns:a16="http://schemas.microsoft.com/office/drawing/2014/main" id="{17F9F2D8-3C27-4515-A7C7-7754C1BD4ADE}"/>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30 repeats of one short input. Accuracy, citation support and user benefit remain unmeasured.</a:t>
            </a:r>
          </a:p>
        </p:txBody>
      </p:sp>
    </p:spTree>
    <p:extLst>
      <p:ext uri="{BB962C8B-B14F-4D97-AF65-F5344CB8AC3E}">
        <p14:creationId xmlns:p14="http://schemas.microsoft.com/office/powerpoint/2010/main" val="1794175767"/>
      </p:ext>
    </p:extLst>
  </p:cSld>
</p:sld>
</file>

<file path=ppt/slides/slide13.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FA1FE8B-0E24-4395-BA39-36F0DBA99E7D}"/>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LIMITATIONS</a:t>
            </a:r>
          </a:p>
        </p:txBody>
      </p:sp>
      <p:sp>
        <p:nvSpPr>
          <p:cNvPr id="3" name="">
            <a:extLst xmlns:a="http://schemas.openxmlformats.org/drawingml/2006/main">
              <a:ext uri="{FF2B5EF4-FFF2-40B4-BE49-F238E27FC236}">
                <a16:creationId xmlns:a16="http://schemas.microsoft.com/office/drawing/2014/main" id="{B99914A1-9F92-48C0-8E74-81DB8644DB91}"/>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Threats to validity and planned safeguards</a:t>
            </a:r>
          </a:p>
        </p:txBody>
      </p:sp>
      <p:sp>
        <p:nvSpPr>
          <p:cNvPr id="4" name="">
            <a:extLst xmlns:a="http://schemas.openxmlformats.org/drawingml/2006/main">
              <a:ext uri="{FF2B5EF4-FFF2-40B4-BE49-F238E27FC236}">
                <a16:creationId xmlns:a16="http://schemas.microsoft.com/office/drawing/2014/main" id="{AF53EB05-5857-4DF0-92DE-E83E562D1198}"/>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13 / 16</a:t>
            </a:r>
          </a:p>
        </p:txBody>
      </p:sp>
      <p:sp>
        <p:nvSpPr>
          <p:cNvPr id="5" name="">
            <a:extLst xmlns:a="http://schemas.openxmlformats.org/drawingml/2006/main">
              <a:ext uri="{FF2B5EF4-FFF2-40B4-BE49-F238E27FC236}">
                <a16:creationId xmlns:a16="http://schemas.microsoft.com/office/drawing/2014/main" id="{0C0618A1-C57A-43D3-9730-DF8A4CA9698D}"/>
              </a:ext>
            </a:extLst>
          </p:cNvPr>
          <p:cNvSpPr>
            <a:spLocks xmlns:a="http://schemas.openxmlformats.org/drawingml/2006/main" noGrp="1"/>
          </p:cNvSpPr>
          <p:nvPr/>
        </p:nvSpPr>
        <p:spPr>
          <a:xfrm xmlns:a="http://schemas.openxmlformats.org/drawingml/2006/main">
            <a:off x="609600" y="17430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Data and model validity</a:t>
            </a:r>
          </a:p>
        </p:txBody>
      </p:sp>
      <p:sp>
        <p:nvSpPr>
          <p:cNvPr id="6" name="">
            <a:extLst xmlns:a="http://schemas.openxmlformats.org/drawingml/2006/main">
              <a:ext uri="{FF2B5EF4-FFF2-40B4-BE49-F238E27FC236}">
                <a16:creationId xmlns:a16="http://schemas.microsoft.com/office/drawing/2014/main" id="{BD60BA4C-C1A1-4687-BE95-A78C127B0A61}"/>
              </a:ext>
            </a:extLst>
          </p:cNvPr>
          <p:cNvSpPr>
            <a:spLocks xmlns:a="http://schemas.openxmlformats.org/drawingml/2006/main" noGrp="1"/>
          </p:cNvSpPr>
          <p:nvPr/>
        </p:nvSpPr>
        <p:spPr>
          <a:xfrm xmlns:a="http://schemas.openxmlformats.org/drawingml/2006/main">
            <a:off x="609600" y="220027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Domain shift, dialects, sarcasm and short text. Add fresh labels and report failures by subgroup.</a:t>
            </a:r>
          </a:p>
        </p:txBody>
      </p:sp>
      <p:sp>
        <p:nvSpPr>
          <p:cNvPr id="7" name="">
            <a:extLst xmlns:a="http://schemas.openxmlformats.org/drawingml/2006/main">
              <a:ext uri="{FF2B5EF4-FFF2-40B4-BE49-F238E27FC236}">
                <a16:creationId xmlns:a16="http://schemas.microsoft.com/office/drawing/2014/main" id="{5A512A2F-9E36-4ABC-8CD2-461740BF606A}"/>
              </a:ext>
            </a:extLst>
          </p:cNvPr>
          <p:cNvSpPr>
            <a:spLocks xmlns:a="http://schemas.openxmlformats.org/drawingml/2006/main" noGrp="1"/>
          </p:cNvSpPr>
          <p:nvPr/>
        </p:nvSpPr>
        <p:spPr>
          <a:xfrm xmlns:a="http://schemas.openxmlformats.org/drawingml/2006/main">
            <a:off x="6705600" y="17430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Evidence and annotation</a:t>
            </a:r>
          </a:p>
        </p:txBody>
      </p:sp>
      <p:sp>
        <p:nvSpPr>
          <p:cNvPr id="8" name="">
            <a:extLst xmlns:a="http://schemas.openxmlformats.org/drawingml/2006/main">
              <a:ext uri="{FF2B5EF4-FFF2-40B4-BE49-F238E27FC236}">
                <a16:creationId xmlns:a16="http://schemas.microsoft.com/office/drawing/2014/main" id="{7C12D97A-F26D-4B60-89C1-8A7878A35A15}"/>
              </a:ext>
            </a:extLst>
          </p:cNvPr>
          <p:cNvSpPr>
            <a:spLocks xmlns:a="http://schemas.openxmlformats.org/drawingml/2006/main" noGrp="1"/>
          </p:cNvSpPr>
          <p:nvPr/>
        </p:nvSpPr>
        <p:spPr>
          <a:xfrm xmlns:a="http://schemas.openxmlformats.org/drawingml/2006/main">
            <a:off x="6705600" y="220027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Citations can point to irrelevant text. Use blinded human support judgments and agreement.</a:t>
            </a:r>
          </a:p>
        </p:txBody>
      </p:sp>
      <p:sp>
        <p:nvSpPr>
          <p:cNvPr id="9" name="">
            <a:extLst xmlns:a="http://schemas.openxmlformats.org/drawingml/2006/main">
              <a:ext uri="{FF2B5EF4-FFF2-40B4-BE49-F238E27FC236}">
                <a16:creationId xmlns:a16="http://schemas.microsoft.com/office/drawing/2014/main" id="{A492D5E7-543B-465B-B54A-ECE9FEB2CD7E}"/>
              </a:ext>
            </a:extLst>
          </p:cNvPr>
          <p:cNvSpPr>
            <a:spLocks xmlns:a="http://schemas.openxmlformats.org/drawingml/2006/main" noGrp="1"/>
          </p:cNvSpPr>
          <p:nvPr/>
        </p:nvSpPr>
        <p:spPr>
          <a:xfrm xmlns:a="http://schemas.openxmlformats.org/drawingml/2006/main">
            <a:off x="609600" y="37623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Reproducibility</a:t>
            </a:r>
          </a:p>
        </p:txBody>
      </p:sp>
      <p:sp>
        <p:nvSpPr>
          <p:cNvPr id="10" name="">
            <a:extLst xmlns:a="http://schemas.openxmlformats.org/drawingml/2006/main">
              <a:ext uri="{FF2B5EF4-FFF2-40B4-BE49-F238E27FC236}">
                <a16:creationId xmlns:a16="http://schemas.microsoft.com/office/drawing/2014/main" id="{12AFFCD7-C27F-487E-9E3A-9C27FC19B507}"/>
              </a:ext>
            </a:extLst>
          </p:cNvPr>
          <p:cNvSpPr>
            <a:spLocks xmlns:a="http://schemas.openxmlformats.org/drawingml/2006/main" noGrp="1"/>
          </p:cNvSpPr>
          <p:nvPr/>
        </p:nvSpPr>
        <p:spPr>
          <a:xfrm xmlns:a="http://schemas.openxmlformats.org/drawingml/2006/main">
            <a:off x="609600" y="421957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Freeze local artifacts; log hosted model IDs and dates. Repeat on more input lengths and machines.</a:t>
            </a:r>
          </a:p>
        </p:txBody>
      </p:sp>
      <p:sp>
        <p:nvSpPr>
          <p:cNvPr id="11" name="">
            <a:extLst xmlns:a="http://schemas.openxmlformats.org/drawingml/2006/main">
              <a:ext uri="{FF2B5EF4-FFF2-40B4-BE49-F238E27FC236}">
                <a16:creationId xmlns:a16="http://schemas.microsoft.com/office/drawing/2014/main" id="{2095C40D-CC03-44CE-B053-C7E72223F3E4}"/>
              </a:ext>
            </a:extLst>
          </p:cNvPr>
          <p:cNvSpPr>
            <a:spLocks xmlns:a="http://schemas.openxmlformats.org/drawingml/2006/main" noGrp="1"/>
          </p:cNvSpPr>
          <p:nvPr/>
        </p:nvSpPr>
        <p:spPr>
          <a:xfrm xmlns:a="http://schemas.openxmlformats.org/drawingml/2006/main">
            <a:off x="6705600" y="3762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53A32"/>
                </a:solidFill>
                <a:latin typeface="Arial"/>
                <a:ea typeface="Arial"/>
                <a:cs typeface="Arial"/>
              </a:defRPr>
            </a:defPPr>
            <a:lvl1pPr>
              <a:defRPr sz="2100" b="1">
                <a:solidFill>
                  <a:srgbClr val="153A32"/>
                </a:solidFill>
                <a:latin typeface="Arial"/>
                <a:ea typeface="Arial"/>
                <a:cs typeface="Arial"/>
              </a:defRPr>
            </a:lvl1pPr>
            <a:lvl2pPr>
              <a:defRPr sz="2100" b="1">
                <a:solidFill>
                  <a:srgbClr val="153A32"/>
                </a:solidFill>
                <a:latin typeface="Arial"/>
                <a:ea typeface="Arial"/>
                <a:cs typeface="Arial"/>
              </a:defRPr>
            </a:lvl2pPr>
            <a:lvl3pPr>
              <a:defRPr sz="2100" b="1">
                <a:solidFill>
                  <a:srgbClr val="153A32"/>
                </a:solidFill>
                <a:latin typeface="Arial"/>
                <a:ea typeface="Arial"/>
                <a:cs typeface="Arial"/>
              </a:defRPr>
            </a:lvl3pPr>
            <a:lvl4pPr>
              <a:defRPr sz="2100" b="1">
                <a:solidFill>
                  <a:srgbClr val="153A32"/>
                </a:solidFill>
                <a:latin typeface="Arial"/>
                <a:ea typeface="Arial"/>
                <a:cs typeface="Arial"/>
              </a:defRPr>
            </a:lvl4pPr>
            <a:lvl5pPr>
              <a:defRPr sz="2100" b="1">
                <a:solidFill>
                  <a:srgbClr val="153A32"/>
                </a:solidFill>
                <a:latin typeface="Arial"/>
                <a:ea typeface="Arial"/>
                <a:cs typeface="Arial"/>
              </a:defRPr>
            </a:lvl5pPr>
            <a:lvl6pPr>
              <a:defRPr sz="2100" b="1">
                <a:solidFill>
                  <a:srgbClr val="153A32"/>
                </a:solidFill>
                <a:latin typeface="Arial"/>
                <a:ea typeface="Arial"/>
                <a:cs typeface="Arial"/>
              </a:defRPr>
            </a:lvl6pPr>
            <a:lvl7pPr>
              <a:defRPr sz="2100" b="1">
                <a:solidFill>
                  <a:srgbClr val="153A32"/>
                </a:solidFill>
                <a:latin typeface="Arial"/>
                <a:ea typeface="Arial"/>
                <a:cs typeface="Arial"/>
              </a:defRPr>
            </a:lvl7pPr>
            <a:lvl8pPr>
              <a:defRPr sz="2100" b="1">
                <a:solidFill>
                  <a:srgbClr val="153A32"/>
                </a:solidFill>
                <a:latin typeface="Arial"/>
                <a:ea typeface="Arial"/>
                <a:cs typeface="Arial"/>
              </a:defRPr>
            </a:lvl8pPr>
            <a:lvl9pPr>
              <a:defRPr sz="2100" b="1">
                <a:solidFill>
                  <a:srgbClr val="153A32"/>
                </a:solidFill>
                <a:latin typeface="Arial"/>
                <a:ea typeface="Arial"/>
                <a:cs typeface="Arial"/>
              </a:defRPr>
            </a:lvl9pPr>
          </a:lstStyle>
          <a:p xmlns:a="http://schemas.openxmlformats.org/drawingml/2006/main">
            <a:pPr>
              <a:defRPr sz="2100" b="1">
                <a:solidFill>
                  <a:srgbClr val="153A32"/>
                </a:solidFill>
                <a:latin typeface="Arial"/>
                <a:ea typeface="Arial"/>
                <a:cs typeface="Arial"/>
              </a:defRPr>
            </a:pPr>
            <a:r>
              <a:rPr sz="2100" b="1">
                <a:solidFill>
                  <a:srgbClr val="153A32"/>
                </a:solidFill>
                <a:latin typeface="Arial"/>
                <a:ea typeface="Arial"/>
                <a:cs typeface="Arial"/>
              </a:rPr>
              <a:t>Scope and privacy</a:t>
            </a:r>
          </a:p>
        </p:txBody>
      </p:sp>
      <p:sp>
        <p:nvSpPr>
          <p:cNvPr id="12" name="">
            <a:extLst xmlns:a="http://schemas.openxmlformats.org/drawingml/2006/main">
              <a:ext uri="{FF2B5EF4-FFF2-40B4-BE49-F238E27FC236}">
                <a16:creationId xmlns:a16="http://schemas.microsoft.com/office/drawing/2014/main" id="{19B14199-56BD-4EAC-9620-321D4EFEDA32}"/>
              </a:ext>
            </a:extLst>
          </p:cNvPr>
          <p:cNvSpPr>
            <a:spLocks xmlns:a="http://schemas.openxmlformats.org/drawingml/2006/main" noGrp="1"/>
          </p:cNvSpPr>
          <p:nvPr/>
        </p:nvSpPr>
        <p:spPr>
          <a:xfrm xmlns:a="http://schemas.openxmlformats.org/drawingml/2006/main">
            <a:off x="6705600" y="421957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Single-process local prototype; 5,000 posts/workspace. Minimize personal data in hosted excerpts.</a:t>
            </a:r>
          </a:p>
        </p:txBody>
      </p:sp>
    </p:spTree>
    <p:extLst>
      <p:ext uri="{BB962C8B-B14F-4D97-AF65-F5344CB8AC3E}">
        <p14:creationId xmlns:p14="http://schemas.microsoft.com/office/powerpoint/2010/main" val="1300123999"/>
      </p:ext>
    </p:extLst>
  </p:cSld>
</p:sld>
</file>

<file path=ppt/slides/slide14.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2CCFAE5-ABFE-45F9-A509-46470FBCC873}"/>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CONCLUSION</a:t>
            </a:r>
          </a:p>
        </p:txBody>
      </p:sp>
      <p:sp>
        <p:nvSpPr>
          <p:cNvPr id="3" name="">
            <a:extLst xmlns:a="http://schemas.openxmlformats.org/drawingml/2006/main">
              <a:ext uri="{FF2B5EF4-FFF2-40B4-BE49-F238E27FC236}">
                <a16:creationId xmlns:a16="http://schemas.microsoft.com/office/drawing/2014/main" id="{CC4BFD7F-5F33-4224-9A26-BF2994B55F88}"/>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Expected contribution and next steps</a:t>
            </a:r>
          </a:p>
        </p:txBody>
      </p:sp>
      <p:sp>
        <p:nvSpPr>
          <p:cNvPr id="4" name="">
            <a:extLst xmlns:a="http://schemas.openxmlformats.org/drawingml/2006/main">
              <a:ext uri="{FF2B5EF4-FFF2-40B4-BE49-F238E27FC236}">
                <a16:creationId xmlns:a16="http://schemas.microsoft.com/office/drawing/2014/main" id="{FD095BEA-9928-42A7-AE53-33E01BE363AC}"/>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14 / 16</a:t>
            </a:r>
          </a:p>
        </p:txBody>
      </p:sp>
      <p:sp>
        <p:nvSpPr>
          <p:cNvPr id="5" name="">
            <a:extLst xmlns:a="http://schemas.openxmlformats.org/drawingml/2006/main">
              <a:ext uri="{FF2B5EF4-FFF2-40B4-BE49-F238E27FC236}">
                <a16:creationId xmlns:a16="http://schemas.microsoft.com/office/drawing/2014/main" id="{437F9E3A-6E52-492A-AFF6-6FF01CBC4622}"/>
              </a:ext>
            </a:extLst>
          </p:cNvPr>
          <p:cNvSpPr>
            <a:spLocks xmlns:a="http://schemas.openxmlformats.org/drawingml/2006/main" noGrp="1"/>
          </p:cNvSpPr>
          <p:nvPr/>
        </p:nvSpPr>
        <p:spPr>
          <a:xfrm xmlns:a="http://schemas.openxmlformats.org/drawingml/2006/main">
            <a:off x="609600" y="1762125"/>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An evaluated workflow for multilingual feedback</a:t>
            </a:r>
          </a:p>
        </p:txBody>
      </p:sp>
      <p:sp>
        <p:nvSpPr>
          <p:cNvPr id="6" name="">
            <a:extLst xmlns:a="http://schemas.openxmlformats.org/drawingml/2006/main">
              <a:ext uri="{FF2B5EF4-FFF2-40B4-BE49-F238E27FC236}">
                <a16:creationId xmlns:a16="http://schemas.microsoft.com/office/drawing/2014/main" id="{163F19E4-B6EF-4C98-AC07-40B4FDDB1800}"/>
              </a:ext>
            </a:extLst>
          </p:cNvPr>
          <p:cNvSpPr>
            <a:spLocks xmlns:a="http://schemas.openxmlformats.org/drawingml/2006/main" noGrp="1"/>
          </p:cNvSpPr>
          <p:nvPr/>
        </p:nvSpPr>
        <p:spPr>
          <a:xfrm xmlns:a="http://schemas.openxmlformats.org/drawingml/2006/main">
            <a:off x="609600" y="294322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64786A"/>
                </a:solidFill>
                <a:latin typeface="Arial"/>
                <a:ea typeface="Arial"/>
                <a:cs typeface="Arial"/>
              </a:defRPr>
            </a:defPPr>
            <a:lvl1pPr>
              <a:defRPr sz="2400" b="0">
                <a:solidFill>
                  <a:srgbClr val="64786A"/>
                </a:solidFill>
                <a:latin typeface="Arial"/>
                <a:ea typeface="Arial"/>
                <a:cs typeface="Arial"/>
              </a:defRPr>
            </a:lvl1pPr>
            <a:lvl2pPr>
              <a:defRPr sz="2400" b="0">
                <a:solidFill>
                  <a:srgbClr val="64786A"/>
                </a:solidFill>
                <a:latin typeface="Arial"/>
                <a:ea typeface="Arial"/>
                <a:cs typeface="Arial"/>
              </a:defRPr>
            </a:lvl2pPr>
            <a:lvl3pPr>
              <a:defRPr sz="2400" b="0">
                <a:solidFill>
                  <a:srgbClr val="64786A"/>
                </a:solidFill>
                <a:latin typeface="Arial"/>
                <a:ea typeface="Arial"/>
                <a:cs typeface="Arial"/>
              </a:defRPr>
            </a:lvl3pPr>
            <a:lvl4pPr>
              <a:defRPr sz="2400" b="0">
                <a:solidFill>
                  <a:srgbClr val="64786A"/>
                </a:solidFill>
                <a:latin typeface="Arial"/>
                <a:ea typeface="Arial"/>
                <a:cs typeface="Arial"/>
              </a:defRPr>
            </a:lvl4pPr>
            <a:lvl5pPr>
              <a:defRPr sz="2400" b="0">
                <a:solidFill>
                  <a:srgbClr val="64786A"/>
                </a:solidFill>
                <a:latin typeface="Arial"/>
                <a:ea typeface="Arial"/>
                <a:cs typeface="Arial"/>
              </a:defRPr>
            </a:lvl5pPr>
            <a:lvl6pPr>
              <a:defRPr sz="2400" b="0">
                <a:solidFill>
                  <a:srgbClr val="64786A"/>
                </a:solidFill>
                <a:latin typeface="Arial"/>
                <a:ea typeface="Arial"/>
                <a:cs typeface="Arial"/>
              </a:defRPr>
            </a:lvl6pPr>
            <a:lvl7pPr>
              <a:defRPr sz="2400" b="0">
                <a:solidFill>
                  <a:srgbClr val="64786A"/>
                </a:solidFill>
                <a:latin typeface="Arial"/>
                <a:ea typeface="Arial"/>
                <a:cs typeface="Arial"/>
              </a:defRPr>
            </a:lvl7pPr>
            <a:lvl8pPr>
              <a:defRPr sz="2400" b="0">
                <a:solidFill>
                  <a:srgbClr val="64786A"/>
                </a:solidFill>
                <a:latin typeface="Arial"/>
                <a:ea typeface="Arial"/>
                <a:cs typeface="Arial"/>
              </a:defRPr>
            </a:lvl8pPr>
            <a:lvl9pPr>
              <a:defRPr sz="2400" b="0">
                <a:solidFill>
                  <a:srgbClr val="64786A"/>
                </a:solidFill>
                <a:latin typeface="Arial"/>
                <a:ea typeface="Arial"/>
                <a:cs typeface="Arial"/>
              </a:defRPr>
            </a:lvl9pPr>
          </a:lstStyle>
          <a:p xmlns:a="http://schemas.openxmlformats.org/drawingml/2006/main">
            <a:pPr>
              <a:defRPr sz="2400" b="0">
                <a:solidFill>
                  <a:srgbClr val="64786A"/>
                </a:solidFill>
                <a:latin typeface="Arial"/>
                <a:ea typeface="Arial"/>
                <a:cs typeface="Arial"/>
              </a:defRPr>
            </a:pPr>
            <a:r>
              <a:rPr sz="2400" b="0">
                <a:solidFill>
                  <a:srgbClr val="64786A"/>
                </a:solidFill>
                <a:latin typeface="Arial"/>
                <a:ea typeface="Arial"/>
                <a:cs typeface="Arial"/>
              </a:rPr>
              <a:t>Local sentiment, traceable research answers and persistent human corrections in one reproducible setting.</a:t>
            </a:r>
          </a:p>
        </p:txBody>
      </p:sp>
      <p:sp>
        <p:nvSpPr>
          <p:cNvPr id="7" name="">
            <a:extLst xmlns:a="http://schemas.openxmlformats.org/drawingml/2006/main">
              <a:ext uri="{FF2B5EF4-FFF2-40B4-BE49-F238E27FC236}">
                <a16:creationId xmlns:a16="http://schemas.microsoft.com/office/drawing/2014/main" id="{122AC199-2B9B-4A27-BE41-B90840EFB8BA}"/>
              </a:ext>
            </a:extLst>
          </p:cNvPr>
          <p:cNvSpPr>
            <a:spLocks xmlns:a="http://schemas.openxmlformats.org/drawingml/2006/main" noGrp="1"/>
          </p:cNvSpPr>
          <p:nvPr/>
        </p:nvSpPr>
        <p:spPr>
          <a:xfrm xmlns:a="http://schemas.openxmlformats.org/drawingml/2006/main">
            <a:off x="609600" y="4238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Expected novelty: evidence about the integration and its trade-offs.</a:t>
            </a:r>
          </a:p>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No new language-model architecture or superiority claim.</a:t>
            </a:r>
          </a:p>
        </p:txBody>
      </p:sp>
      <p:sp>
        <p:nvSpPr>
          <p:cNvPr id="8" name="">
            <a:extLst xmlns:a="http://schemas.openxmlformats.org/drawingml/2006/main">
              <a:ext uri="{FF2B5EF4-FFF2-40B4-BE49-F238E27FC236}">
                <a16:creationId xmlns:a16="http://schemas.microsoft.com/office/drawing/2014/main" id="{31892ABB-0370-4E2D-9551-936EA3F8B6F0}"/>
              </a:ext>
            </a:extLst>
          </p:cNvPr>
          <p:cNvSpPr>
            <a:spLocks xmlns:a="http://schemas.openxmlformats.org/drawingml/2006/main" noGrp="1"/>
          </p:cNvSpPr>
          <p:nvPr/>
        </p:nvSpPr>
        <p:spPr>
          <a:xfrm xmlns:a="http://schemas.openxmlformats.org/drawingml/2006/main">
            <a:off x="609600" y="6019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64786A"/>
                </a:solidFill>
                <a:latin typeface="Arial"/>
                <a:ea typeface="Arial"/>
                <a:cs typeface="Arial"/>
              </a:defRPr>
            </a:defPPr>
            <a:lvl1pPr>
              <a:defRPr sz="1350" b="0">
                <a:solidFill>
                  <a:srgbClr val="64786A"/>
                </a:solidFill>
                <a:latin typeface="Arial"/>
                <a:ea typeface="Arial"/>
                <a:cs typeface="Arial"/>
              </a:defRPr>
            </a:lvl1pPr>
            <a:lvl2pPr>
              <a:defRPr sz="1350" b="0">
                <a:solidFill>
                  <a:srgbClr val="64786A"/>
                </a:solidFill>
                <a:latin typeface="Arial"/>
                <a:ea typeface="Arial"/>
                <a:cs typeface="Arial"/>
              </a:defRPr>
            </a:lvl2pPr>
            <a:lvl3pPr>
              <a:defRPr sz="1350" b="0">
                <a:solidFill>
                  <a:srgbClr val="64786A"/>
                </a:solidFill>
                <a:latin typeface="Arial"/>
                <a:ea typeface="Arial"/>
                <a:cs typeface="Arial"/>
              </a:defRPr>
            </a:lvl3pPr>
            <a:lvl4pPr>
              <a:defRPr sz="1350" b="0">
                <a:solidFill>
                  <a:srgbClr val="64786A"/>
                </a:solidFill>
                <a:latin typeface="Arial"/>
                <a:ea typeface="Arial"/>
                <a:cs typeface="Arial"/>
              </a:defRPr>
            </a:lvl4pPr>
            <a:lvl5pPr>
              <a:defRPr sz="1350" b="0">
                <a:solidFill>
                  <a:srgbClr val="64786A"/>
                </a:solidFill>
                <a:latin typeface="Arial"/>
                <a:ea typeface="Arial"/>
                <a:cs typeface="Arial"/>
              </a:defRPr>
            </a:lvl5pPr>
            <a:lvl6pPr>
              <a:defRPr sz="1350" b="0">
                <a:solidFill>
                  <a:srgbClr val="64786A"/>
                </a:solidFill>
                <a:latin typeface="Arial"/>
                <a:ea typeface="Arial"/>
                <a:cs typeface="Arial"/>
              </a:defRPr>
            </a:lvl6pPr>
            <a:lvl7pPr>
              <a:defRPr sz="1350" b="0">
                <a:solidFill>
                  <a:srgbClr val="64786A"/>
                </a:solidFill>
                <a:latin typeface="Arial"/>
                <a:ea typeface="Arial"/>
                <a:cs typeface="Arial"/>
              </a:defRPr>
            </a:lvl7pPr>
            <a:lvl8pPr>
              <a:defRPr sz="1350" b="0">
                <a:solidFill>
                  <a:srgbClr val="64786A"/>
                </a:solidFill>
                <a:latin typeface="Arial"/>
                <a:ea typeface="Arial"/>
                <a:cs typeface="Arial"/>
              </a:defRPr>
            </a:lvl8pPr>
            <a:lvl9pPr>
              <a:defRPr sz="1350" b="0">
                <a:solidFill>
                  <a:srgbClr val="64786A"/>
                </a:solidFill>
                <a:latin typeface="Arial"/>
                <a:ea typeface="Arial"/>
                <a:cs typeface="Arial"/>
              </a:defRPr>
            </a:lvl9pPr>
          </a:lstStyle>
          <a:p xmlns:a="http://schemas.openxmlformats.org/drawingml/2006/main">
            <a:pPr>
              <a:defRPr sz="1350" b="0">
                <a:solidFill>
                  <a:srgbClr val="64786A"/>
                </a:solidFill>
                <a:latin typeface="Arial"/>
                <a:ea typeface="Arial"/>
                <a:cs typeface="Arial"/>
              </a:defRPr>
            </a:pPr>
            <a:r>
              <a:rPr sz="1350" b="0">
                <a:solidFill>
                  <a:srgbClr val="64786A"/>
                </a:solidFill>
                <a:latin typeface="Arial"/>
                <a:ea typeface="Arial"/>
                <a:cs typeface="Arial"/>
              </a:rPr>
              <a:t>Next: collect and annotate data, freeze the protocol, then measure and publish the results.</a:t>
            </a:r>
          </a:p>
        </p:txBody>
      </p:sp>
    </p:spTree>
    <p:extLst>
      <p:ext uri="{BB962C8B-B14F-4D97-AF65-F5344CB8AC3E}">
        <p14:creationId xmlns:p14="http://schemas.microsoft.com/office/powerpoint/2010/main" val="1666745224"/>
      </p:ext>
    </p:extLst>
  </p:cSld>
</p:sld>
</file>

<file path=ppt/slides/slide15.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2B43095-400D-450B-AA36-B41B79E60340}"/>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64786A"/>
                </a:solidFill>
                <a:latin typeface="Arial"/>
                <a:ea typeface="Arial"/>
                <a:cs typeface="Arial"/>
              </a:defRPr>
            </a:defPPr>
            <a:lvl1pPr>
              <a:defRPr sz="1200" b="1">
                <a:solidFill>
                  <a:srgbClr val="64786A"/>
                </a:solidFill>
                <a:latin typeface="Arial"/>
                <a:ea typeface="Arial"/>
                <a:cs typeface="Arial"/>
              </a:defRPr>
            </a:lvl1pPr>
            <a:lvl2pPr>
              <a:defRPr sz="1200" b="1">
                <a:solidFill>
                  <a:srgbClr val="64786A"/>
                </a:solidFill>
                <a:latin typeface="Arial"/>
                <a:ea typeface="Arial"/>
                <a:cs typeface="Arial"/>
              </a:defRPr>
            </a:lvl2pPr>
            <a:lvl3pPr>
              <a:defRPr sz="1200" b="1">
                <a:solidFill>
                  <a:srgbClr val="64786A"/>
                </a:solidFill>
                <a:latin typeface="Arial"/>
                <a:ea typeface="Arial"/>
                <a:cs typeface="Arial"/>
              </a:defRPr>
            </a:lvl3pPr>
            <a:lvl4pPr>
              <a:defRPr sz="1200" b="1">
                <a:solidFill>
                  <a:srgbClr val="64786A"/>
                </a:solidFill>
                <a:latin typeface="Arial"/>
                <a:ea typeface="Arial"/>
                <a:cs typeface="Arial"/>
              </a:defRPr>
            </a:lvl4pPr>
            <a:lvl5pPr>
              <a:defRPr sz="1200" b="1">
                <a:solidFill>
                  <a:srgbClr val="64786A"/>
                </a:solidFill>
                <a:latin typeface="Arial"/>
                <a:ea typeface="Arial"/>
                <a:cs typeface="Arial"/>
              </a:defRPr>
            </a:lvl5pPr>
            <a:lvl6pPr>
              <a:defRPr sz="1200" b="1">
                <a:solidFill>
                  <a:srgbClr val="64786A"/>
                </a:solidFill>
                <a:latin typeface="Arial"/>
                <a:ea typeface="Arial"/>
                <a:cs typeface="Arial"/>
              </a:defRPr>
            </a:lvl6pPr>
            <a:lvl7pPr>
              <a:defRPr sz="1200" b="1">
                <a:solidFill>
                  <a:srgbClr val="64786A"/>
                </a:solidFill>
                <a:latin typeface="Arial"/>
                <a:ea typeface="Arial"/>
                <a:cs typeface="Arial"/>
              </a:defRPr>
            </a:lvl7pPr>
            <a:lvl8pPr>
              <a:defRPr sz="1200" b="1">
                <a:solidFill>
                  <a:srgbClr val="64786A"/>
                </a:solidFill>
                <a:latin typeface="Arial"/>
                <a:ea typeface="Arial"/>
                <a:cs typeface="Arial"/>
              </a:defRPr>
            </a:lvl8pPr>
            <a:lvl9pPr>
              <a:defRPr sz="1200" b="1">
                <a:solidFill>
                  <a:srgbClr val="64786A"/>
                </a:solidFill>
                <a:latin typeface="Arial"/>
                <a:ea typeface="Arial"/>
                <a:cs typeface="Arial"/>
              </a:defRPr>
            </a:lvl9pPr>
          </a:lstStyle>
          <a:p xmlns:a="http://schemas.openxmlformats.org/drawingml/2006/main">
            <a:pPr>
              <a:defRPr sz="1200" b="1">
                <a:solidFill>
                  <a:srgbClr val="64786A"/>
                </a:solidFill>
                <a:latin typeface="Arial"/>
                <a:ea typeface="Arial"/>
                <a:cs typeface="Arial"/>
              </a:defRPr>
            </a:pPr>
            <a:r>
              <a:rPr sz="1200" b="1">
                <a:solidFill>
                  <a:srgbClr val="64786A"/>
                </a:solidFill>
                <a:latin typeface="Arial"/>
                <a:ea typeface="Arial"/>
                <a:cs typeface="Arial"/>
              </a:rPr>
              <a:t>VERIFIED PRIMARY SOURCES</a:t>
            </a:r>
          </a:p>
        </p:txBody>
      </p:sp>
      <p:sp>
        <p:nvSpPr>
          <p:cNvPr id="3" name="">
            <a:extLst xmlns:a="http://schemas.openxmlformats.org/drawingml/2006/main">
              <a:ext uri="{FF2B5EF4-FFF2-40B4-BE49-F238E27FC236}">
                <a16:creationId xmlns:a16="http://schemas.microsoft.com/office/drawing/2014/main" id="{E09F7EBB-44E2-4544-994C-B34BD24FF105}"/>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53A32"/>
                </a:solidFill>
                <a:latin typeface="Arial"/>
                <a:ea typeface="Arial"/>
                <a:cs typeface="Arial"/>
              </a:defRPr>
            </a:defPPr>
            <a:lvl1pPr>
              <a:defRPr sz="3150" b="1">
                <a:solidFill>
                  <a:srgbClr val="153A32"/>
                </a:solidFill>
                <a:latin typeface="Arial"/>
                <a:ea typeface="Arial"/>
                <a:cs typeface="Arial"/>
              </a:defRPr>
            </a:lvl1pPr>
            <a:lvl2pPr>
              <a:defRPr sz="3150" b="1">
                <a:solidFill>
                  <a:srgbClr val="153A32"/>
                </a:solidFill>
                <a:latin typeface="Arial"/>
                <a:ea typeface="Arial"/>
                <a:cs typeface="Arial"/>
              </a:defRPr>
            </a:lvl2pPr>
            <a:lvl3pPr>
              <a:defRPr sz="3150" b="1">
                <a:solidFill>
                  <a:srgbClr val="153A32"/>
                </a:solidFill>
                <a:latin typeface="Arial"/>
                <a:ea typeface="Arial"/>
                <a:cs typeface="Arial"/>
              </a:defRPr>
            </a:lvl3pPr>
            <a:lvl4pPr>
              <a:defRPr sz="3150" b="1">
                <a:solidFill>
                  <a:srgbClr val="153A32"/>
                </a:solidFill>
                <a:latin typeface="Arial"/>
                <a:ea typeface="Arial"/>
                <a:cs typeface="Arial"/>
              </a:defRPr>
            </a:lvl4pPr>
            <a:lvl5pPr>
              <a:defRPr sz="3150" b="1">
                <a:solidFill>
                  <a:srgbClr val="153A32"/>
                </a:solidFill>
                <a:latin typeface="Arial"/>
                <a:ea typeface="Arial"/>
                <a:cs typeface="Arial"/>
              </a:defRPr>
            </a:lvl5pPr>
            <a:lvl6pPr>
              <a:defRPr sz="3150" b="1">
                <a:solidFill>
                  <a:srgbClr val="153A32"/>
                </a:solidFill>
                <a:latin typeface="Arial"/>
                <a:ea typeface="Arial"/>
                <a:cs typeface="Arial"/>
              </a:defRPr>
            </a:lvl6pPr>
            <a:lvl7pPr>
              <a:defRPr sz="3150" b="1">
                <a:solidFill>
                  <a:srgbClr val="153A32"/>
                </a:solidFill>
                <a:latin typeface="Arial"/>
                <a:ea typeface="Arial"/>
                <a:cs typeface="Arial"/>
              </a:defRPr>
            </a:lvl7pPr>
            <a:lvl8pPr>
              <a:defRPr sz="3150" b="1">
                <a:solidFill>
                  <a:srgbClr val="153A32"/>
                </a:solidFill>
                <a:latin typeface="Arial"/>
                <a:ea typeface="Arial"/>
                <a:cs typeface="Arial"/>
              </a:defRPr>
            </a:lvl8pPr>
            <a:lvl9pPr>
              <a:defRPr sz="3150" b="1">
                <a:solidFill>
                  <a:srgbClr val="153A32"/>
                </a:solidFill>
                <a:latin typeface="Arial"/>
                <a:ea typeface="Arial"/>
                <a:cs typeface="Arial"/>
              </a:defRPr>
            </a:lvl9pPr>
          </a:lstStyle>
          <a:p xmlns:a="http://schemas.openxmlformats.org/drawingml/2006/main">
            <a:pPr>
              <a:defRPr sz="3150" b="1">
                <a:solidFill>
                  <a:srgbClr val="153A32"/>
                </a:solidFill>
                <a:latin typeface="Arial"/>
                <a:ea typeface="Arial"/>
                <a:cs typeface="Arial"/>
              </a:defRPr>
            </a:pPr>
            <a:r>
              <a:rPr sz="3150" b="1">
                <a:solidFill>
                  <a:srgbClr val="153A32"/>
                </a:solidFill>
                <a:latin typeface="Arial"/>
                <a:ea typeface="Arial"/>
                <a:cs typeface="Arial"/>
              </a:rPr>
              <a:t>Selected research references</a:t>
            </a:r>
          </a:p>
        </p:txBody>
      </p:sp>
      <p:sp>
        <p:nvSpPr>
          <p:cNvPr id="4" name="">
            <a:extLst xmlns:a="http://schemas.openxmlformats.org/drawingml/2006/main">
              <a:ext uri="{FF2B5EF4-FFF2-40B4-BE49-F238E27FC236}">
                <a16:creationId xmlns:a16="http://schemas.microsoft.com/office/drawing/2014/main" id="{7A104E9C-A4DF-43FC-AA1B-823BDF3DC1C1}"/>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15 / 16</a:t>
            </a:r>
          </a:p>
        </p:txBody>
      </p:sp>
      <p:sp>
        <p:nvSpPr>
          <p:cNvPr id="5" name="">
            <a:extLst xmlns:a="http://schemas.openxmlformats.org/drawingml/2006/main">
              <a:ext uri="{FF2B5EF4-FFF2-40B4-BE49-F238E27FC236}">
                <a16:creationId xmlns:a16="http://schemas.microsoft.com/office/drawing/2014/main" id="{E17FD20F-FC8F-4B4F-8D49-BDFA8DB6AC4C}"/>
              </a:ext>
            </a:extLst>
          </p:cNvPr>
          <p:cNvSpPr>
            <a:spLocks xmlns:a="http://schemas.openxmlformats.org/drawingml/2006/main" noGrp="1"/>
          </p:cNvSpPr>
          <p:nvPr/>
        </p:nvSpPr>
        <p:spPr>
          <a:xfrm xmlns:a="http://schemas.openxmlformats.org/drawingml/2006/main">
            <a:off x="609600" y="16764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64786A"/>
                </a:solidFill>
                <a:latin typeface="Arial"/>
                <a:ea typeface="Arial"/>
                <a:cs typeface="Arial"/>
              </a:defRPr>
            </a:defPPr>
            <a:lvl1pPr>
              <a:defRPr sz="1800" b="0">
                <a:solidFill>
                  <a:srgbClr val="64786A"/>
                </a:solidFill>
                <a:latin typeface="Arial"/>
                <a:ea typeface="Arial"/>
                <a:cs typeface="Arial"/>
              </a:defRPr>
            </a:lvl1pPr>
            <a:lvl2pPr>
              <a:defRPr sz="1800" b="0">
                <a:solidFill>
                  <a:srgbClr val="64786A"/>
                </a:solidFill>
                <a:latin typeface="Arial"/>
                <a:ea typeface="Arial"/>
                <a:cs typeface="Arial"/>
              </a:defRPr>
            </a:lvl2pPr>
            <a:lvl3pPr>
              <a:defRPr sz="1800" b="0">
                <a:solidFill>
                  <a:srgbClr val="64786A"/>
                </a:solidFill>
                <a:latin typeface="Arial"/>
                <a:ea typeface="Arial"/>
                <a:cs typeface="Arial"/>
              </a:defRPr>
            </a:lvl3pPr>
            <a:lvl4pPr>
              <a:defRPr sz="1800" b="0">
                <a:solidFill>
                  <a:srgbClr val="64786A"/>
                </a:solidFill>
                <a:latin typeface="Arial"/>
                <a:ea typeface="Arial"/>
                <a:cs typeface="Arial"/>
              </a:defRPr>
            </a:lvl4pPr>
            <a:lvl5pPr>
              <a:defRPr sz="1800" b="0">
                <a:solidFill>
                  <a:srgbClr val="64786A"/>
                </a:solidFill>
                <a:latin typeface="Arial"/>
                <a:ea typeface="Arial"/>
                <a:cs typeface="Arial"/>
              </a:defRPr>
            </a:lvl5pPr>
            <a:lvl6pPr>
              <a:defRPr sz="1800" b="0">
                <a:solidFill>
                  <a:srgbClr val="64786A"/>
                </a:solidFill>
                <a:latin typeface="Arial"/>
                <a:ea typeface="Arial"/>
                <a:cs typeface="Arial"/>
              </a:defRPr>
            </a:lvl6pPr>
            <a:lvl7pPr>
              <a:defRPr sz="1800" b="0">
                <a:solidFill>
                  <a:srgbClr val="64786A"/>
                </a:solidFill>
                <a:latin typeface="Arial"/>
                <a:ea typeface="Arial"/>
                <a:cs typeface="Arial"/>
              </a:defRPr>
            </a:lvl7pPr>
            <a:lvl8pPr>
              <a:defRPr sz="1800" b="0">
                <a:solidFill>
                  <a:srgbClr val="64786A"/>
                </a:solidFill>
                <a:latin typeface="Arial"/>
                <a:ea typeface="Arial"/>
                <a:cs typeface="Arial"/>
              </a:defRPr>
            </a:lvl8pPr>
            <a:lvl9pPr>
              <a:defRPr sz="1800" b="0">
                <a:solidFill>
                  <a:srgbClr val="64786A"/>
                </a:solidFill>
                <a:latin typeface="Arial"/>
                <a:ea typeface="Arial"/>
                <a:cs typeface="Arial"/>
              </a:defRPr>
            </a:lvl9pPr>
          </a:lstStyle>
          <a:p xmlns:a="http://schemas.openxmlformats.org/drawingml/2006/main">
            <a:pPr>
              <a:defRPr sz="1800" b="0">
                <a:solidFill>
                  <a:srgbClr val="64786A"/>
                </a:solidFill>
                <a:latin typeface="Arial"/>
                <a:ea typeface="Arial"/>
                <a:cs typeface="Arial"/>
              </a:defRPr>
            </a:pPr>
            <a:r>
              <a:rPr sz="1800" b="0">
                <a:solidFill>
                  <a:srgbClr val="64786A"/>
                </a:solidFill>
                <a:latin typeface="Arial"/>
                <a:ea typeface="Arial"/>
                <a:cs typeface="Arial"/>
              </a:rPr>
              <a:t>Barbieri, Espinosa Anke &amp; Camacho-Collados (LREC 2022)</a:t>
            </a:r>
          </a:p>
        </p:txBody>
      </p:sp>
      <p:sp>
        <p:nvSpPr>
          <p:cNvPr id="6" name="">
            <a:extLst xmlns:a="http://schemas.openxmlformats.org/drawingml/2006/main">
              <a:ext uri="{FF2B5EF4-FFF2-40B4-BE49-F238E27FC236}">
                <a16:creationId xmlns:a16="http://schemas.microsoft.com/office/drawing/2014/main" id="{41B7AC12-0D1E-4555-BA18-49446F345F69}"/>
              </a:ext>
            </a:extLst>
          </p:cNvPr>
          <p:cNvSpPr>
            <a:spLocks xmlns:a="http://schemas.openxmlformats.org/drawingml/2006/main" noGrp="1"/>
          </p:cNvSpPr>
          <p:nvPr/>
        </p:nvSpPr>
        <p:spPr>
          <a:xfrm xmlns:a="http://schemas.openxmlformats.org/drawingml/2006/main">
            <a:off x="609600" y="20574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1">
                <a:solidFill>
                  <a:srgbClr val="153A32"/>
                </a:solidFill>
                <a:latin typeface="Arial"/>
                <a:ea typeface="Arial"/>
                <a:cs typeface="Arial"/>
              </a:defRPr>
            </a:defPPr>
            <a:lvl1pPr>
              <a:defRPr sz="1725" b="1">
                <a:solidFill>
                  <a:srgbClr val="153A32"/>
                </a:solidFill>
                <a:latin typeface="Arial"/>
                <a:ea typeface="Arial"/>
                <a:cs typeface="Arial"/>
              </a:defRPr>
            </a:lvl1pPr>
            <a:lvl2pPr>
              <a:defRPr sz="1725" b="1">
                <a:solidFill>
                  <a:srgbClr val="153A32"/>
                </a:solidFill>
                <a:latin typeface="Arial"/>
                <a:ea typeface="Arial"/>
                <a:cs typeface="Arial"/>
              </a:defRPr>
            </a:lvl2pPr>
            <a:lvl3pPr>
              <a:defRPr sz="1725" b="1">
                <a:solidFill>
                  <a:srgbClr val="153A32"/>
                </a:solidFill>
                <a:latin typeface="Arial"/>
                <a:ea typeface="Arial"/>
                <a:cs typeface="Arial"/>
              </a:defRPr>
            </a:lvl3pPr>
            <a:lvl4pPr>
              <a:defRPr sz="1725" b="1">
                <a:solidFill>
                  <a:srgbClr val="153A32"/>
                </a:solidFill>
                <a:latin typeface="Arial"/>
                <a:ea typeface="Arial"/>
                <a:cs typeface="Arial"/>
              </a:defRPr>
            </a:lvl4pPr>
            <a:lvl5pPr>
              <a:defRPr sz="1725" b="1">
                <a:solidFill>
                  <a:srgbClr val="153A32"/>
                </a:solidFill>
                <a:latin typeface="Arial"/>
                <a:ea typeface="Arial"/>
                <a:cs typeface="Arial"/>
              </a:defRPr>
            </a:lvl5pPr>
            <a:lvl6pPr>
              <a:defRPr sz="1725" b="1">
                <a:solidFill>
                  <a:srgbClr val="153A32"/>
                </a:solidFill>
                <a:latin typeface="Arial"/>
                <a:ea typeface="Arial"/>
                <a:cs typeface="Arial"/>
              </a:defRPr>
            </a:lvl6pPr>
            <a:lvl7pPr>
              <a:defRPr sz="1725" b="1">
                <a:solidFill>
                  <a:srgbClr val="153A32"/>
                </a:solidFill>
                <a:latin typeface="Arial"/>
                <a:ea typeface="Arial"/>
                <a:cs typeface="Arial"/>
              </a:defRPr>
            </a:lvl7pPr>
            <a:lvl8pPr>
              <a:defRPr sz="1725" b="1">
                <a:solidFill>
                  <a:srgbClr val="153A32"/>
                </a:solidFill>
                <a:latin typeface="Arial"/>
                <a:ea typeface="Arial"/>
                <a:cs typeface="Arial"/>
              </a:defRPr>
            </a:lvl8pPr>
            <a:lvl9pPr>
              <a:defRPr sz="1725" b="1">
                <a:solidFill>
                  <a:srgbClr val="153A32"/>
                </a:solidFill>
                <a:latin typeface="Arial"/>
                <a:ea typeface="Arial"/>
                <a:cs typeface="Arial"/>
              </a:defRPr>
            </a:lvl9pPr>
          </a:lstStyle>
          <a:p xmlns:a="http://schemas.openxmlformats.org/drawingml/2006/main">
            <a:pPr>
              <a:defRPr sz="1725" b="1">
                <a:solidFill>
                  <a:srgbClr val="153A32"/>
                </a:solidFill>
                <a:latin typeface="Arial"/>
                <a:ea typeface="Arial"/>
                <a:cs typeface="Arial"/>
              </a:defRPr>
            </a:pPr>
            <a:r>
              <a:rPr sz="2300" u="sng">
                <a:solidFill>
                  <a:srgbClr val="153A32"/>
                </a:solidFill>
                <a:latin typeface="Arial"/>
                <a:ea typeface="Arial"/>
                <a:cs typeface="Arial"/>
                <a:hlinkClick xmlns:r="http://schemas.openxmlformats.org/officeDocument/2006/relationships" r:id="R1a826a28420a4eed"/>
              </a:rPr>
              <a:t>XLM-T: Multilingual Language Models in Twitter for Sentiment Analysis and Beyond</a:t>
            </a:r>
          </a:p>
        </p:txBody>
      </p:sp>
      <p:sp>
        <p:nvSpPr>
          <p:cNvPr id="7" name="">
            <a:extLst xmlns:a="http://schemas.openxmlformats.org/drawingml/2006/main">
              <a:ext uri="{FF2B5EF4-FFF2-40B4-BE49-F238E27FC236}">
                <a16:creationId xmlns:a16="http://schemas.microsoft.com/office/drawing/2014/main" id="{BBBD26EB-9037-4C64-918D-CB1F9D31D6C5}"/>
              </a:ext>
            </a:extLst>
          </p:cNvPr>
          <p:cNvSpPr>
            <a:spLocks xmlns:a="http://schemas.openxmlformats.org/drawingml/2006/main" noGrp="1"/>
          </p:cNvSpPr>
          <p:nvPr/>
        </p:nvSpPr>
        <p:spPr>
          <a:xfrm xmlns:a="http://schemas.openxmlformats.org/drawingml/2006/main">
            <a:off x="609600" y="2743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64786A"/>
                </a:solidFill>
                <a:latin typeface="Arial"/>
                <a:ea typeface="Arial"/>
                <a:cs typeface="Arial"/>
              </a:defRPr>
            </a:defPPr>
            <a:lvl1pPr>
              <a:defRPr sz="1800" b="0">
                <a:solidFill>
                  <a:srgbClr val="64786A"/>
                </a:solidFill>
                <a:latin typeface="Arial"/>
                <a:ea typeface="Arial"/>
                <a:cs typeface="Arial"/>
              </a:defRPr>
            </a:lvl1pPr>
            <a:lvl2pPr>
              <a:defRPr sz="1800" b="0">
                <a:solidFill>
                  <a:srgbClr val="64786A"/>
                </a:solidFill>
                <a:latin typeface="Arial"/>
                <a:ea typeface="Arial"/>
                <a:cs typeface="Arial"/>
              </a:defRPr>
            </a:lvl2pPr>
            <a:lvl3pPr>
              <a:defRPr sz="1800" b="0">
                <a:solidFill>
                  <a:srgbClr val="64786A"/>
                </a:solidFill>
                <a:latin typeface="Arial"/>
                <a:ea typeface="Arial"/>
                <a:cs typeface="Arial"/>
              </a:defRPr>
            </a:lvl3pPr>
            <a:lvl4pPr>
              <a:defRPr sz="1800" b="0">
                <a:solidFill>
                  <a:srgbClr val="64786A"/>
                </a:solidFill>
                <a:latin typeface="Arial"/>
                <a:ea typeface="Arial"/>
                <a:cs typeface="Arial"/>
              </a:defRPr>
            </a:lvl4pPr>
            <a:lvl5pPr>
              <a:defRPr sz="1800" b="0">
                <a:solidFill>
                  <a:srgbClr val="64786A"/>
                </a:solidFill>
                <a:latin typeface="Arial"/>
                <a:ea typeface="Arial"/>
                <a:cs typeface="Arial"/>
              </a:defRPr>
            </a:lvl5pPr>
            <a:lvl6pPr>
              <a:defRPr sz="1800" b="0">
                <a:solidFill>
                  <a:srgbClr val="64786A"/>
                </a:solidFill>
                <a:latin typeface="Arial"/>
                <a:ea typeface="Arial"/>
                <a:cs typeface="Arial"/>
              </a:defRPr>
            </a:lvl6pPr>
            <a:lvl7pPr>
              <a:defRPr sz="1800" b="0">
                <a:solidFill>
                  <a:srgbClr val="64786A"/>
                </a:solidFill>
                <a:latin typeface="Arial"/>
                <a:ea typeface="Arial"/>
                <a:cs typeface="Arial"/>
              </a:defRPr>
            </a:lvl7pPr>
            <a:lvl8pPr>
              <a:defRPr sz="1800" b="0">
                <a:solidFill>
                  <a:srgbClr val="64786A"/>
                </a:solidFill>
                <a:latin typeface="Arial"/>
                <a:ea typeface="Arial"/>
                <a:cs typeface="Arial"/>
              </a:defRPr>
            </a:lvl8pPr>
            <a:lvl9pPr>
              <a:defRPr sz="1800" b="0">
                <a:solidFill>
                  <a:srgbClr val="64786A"/>
                </a:solidFill>
                <a:latin typeface="Arial"/>
                <a:ea typeface="Arial"/>
                <a:cs typeface="Arial"/>
              </a:defRPr>
            </a:lvl9pPr>
          </a:lstStyle>
          <a:p xmlns:a="http://schemas.openxmlformats.org/drawingml/2006/main">
            <a:pPr>
              <a:defRPr sz="1800" b="0">
                <a:solidFill>
                  <a:srgbClr val="64786A"/>
                </a:solidFill>
                <a:latin typeface="Arial"/>
                <a:ea typeface="Arial"/>
                <a:cs typeface="Arial"/>
              </a:defRPr>
            </a:pPr>
            <a:r>
              <a:rPr sz="1800" b="0">
                <a:solidFill>
                  <a:srgbClr val="64786A"/>
                </a:solidFill>
                <a:latin typeface="Arial"/>
                <a:ea typeface="Arial"/>
                <a:cs typeface="Arial"/>
              </a:rPr>
              <a:t>Camacho-Collados et al. (EMNLP 2022, demos)</a:t>
            </a:r>
          </a:p>
        </p:txBody>
      </p:sp>
      <p:sp>
        <p:nvSpPr>
          <p:cNvPr id="8" name="">
            <a:extLst xmlns:a="http://schemas.openxmlformats.org/drawingml/2006/main">
              <a:ext uri="{FF2B5EF4-FFF2-40B4-BE49-F238E27FC236}">
                <a16:creationId xmlns:a16="http://schemas.microsoft.com/office/drawing/2014/main" id="{F33A3A93-DC74-4807-8AD3-D1AFDF0353A5}"/>
              </a:ext>
            </a:extLst>
          </p:cNvPr>
          <p:cNvSpPr>
            <a:spLocks xmlns:a="http://schemas.openxmlformats.org/drawingml/2006/main" noGrp="1"/>
          </p:cNvSpPr>
          <p:nvPr/>
        </p:nvSpPr>
        <p:spPr>
          <a:xfrm xmlns:a="http://schemas.openxmlformats.org/drawingml/2006/main">
            <a:off x="609600" y="3124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1">
                <a:solidFill>
                  <a:srgbClr val="153A32"/>
                </a:solidFill>
                <a:latin typeface="Arial"/>
                <a:ea typeface="Arial"/>
                <a:cs typeface="Arial"/>
              </a:defRPr>
            </a:defPPr>
            <a:lvl1pPr>
              <a:defRPr sz="1725" b="1">
                <a:solidFill>
                  <a:srgbClr val="153A32"/>
                </a:solidFill>
                <a:latin typeface="Arial"/>
                <a:ea typeface="Arial"/>
                <a:cs typeface="Arial"/>
              </a:defRPr>
            </a:lvl1pPr>
            <a:lvl2pPr>
              <a:defRPr sz="1725" b="1">
                <a:solidFill>
                  <a:srgbClr val="153A32"/>
                </a:solidFill>
                <a:latin typeface="Arial"/>
                <a:ea typeface="Arial"/>
                <a:cs typeface="Arial"/>
              </a:defRPr>
            </a:lvl2pPr>
            <a:lvl3pPr>
              <a:defRPr sz="1725" b="1">
                <a:solidFill>
                  <a:srgbClr val="153A32"/>
                </a:solidFill>
                <a:latin typeface="Arial"/>
                <a:ea typeface="Arial"/>
                <a:cs typeface="Arial"/>
              </a:defRPr>
            </a:lvl3pPr>
            <a:lvl4pPr>
              <a:defRPr sz="1725" b="1">
                <a:solidFill>
                  <a:srgbClr val="153A32"/>
                </a:solidFill>
                <a:latin typeface="Arial"/>
                <a:ea typeface="Arial"/>
                <a:cs typeface="Arial"/>
              </a:defRPr>
            </a:lvl4pPr>
            <a:lvl5pPr>
              <a:defRPr sz="1725" b="1">
                <a:solidFill>
                  <a:srgbClr val="153A32"/>
                </a:solidFill>
                <a:latin typeface="Arial"/>
                <a:ea typeface="Arial"/>
                <a:cs typeface="Arial"/>
              </a:defRPr>
            </a:lvl5pPr>
            <a:lvl6pPr>
              <a:defRPr sz="1725" b="1">
                <a:solidFill>
                  <a:srgbClr val="153A32"/>
                </a:solidFill>
                <a:latin typeface="Arial"/>
                <a:ea typeface="Arial"/>
                <a:cs typeface="Arial"/>
              </a:defRPr>
            </a:lvl6pPr>
            <a:lvl7pPr>
              <a:defRPr sz="1725" b="1">
                <a:solidFill>
                  <a:srgbClr val="153A32"/>
                </a:solidFill>
                <a:latin typeface="Arial"/>
                <a:ea typeface="Arial"/>
                <a:cs typeface="Arial"/>
              </a:defRPr>
            </a:lvl7pPr>
            <a:lvl8pPr>
              <a:defRPr sz="1725" b="1">
                <a:solidFill>
                  <a:srgbClr val="153A32"/>
                </a:solidFill>
                <a:latin typeface="Arial"/>
                <a:ea typeface="Arial"/>
                <a:cs typeface="Arial"/>
              </a:defRPr>
            </a:lvl8pPr>
            <a:lvl9pPr>
              <a:defRPr sz="1725" b="1">
                <a:solidFill>
                  <a:srgbClr val="153A32"/>
                </a:solidFill>
                <a:latin typeface="Arial"/>
                <a:ea typeface="Arial"/>
                <a:cs typeface="Arial"/>
              </a:defRPr>
            </a:lvl9pPr>
          </a:lstStyle>
          <a:p xmlns:a="http://schemas.openxmlformats.org/drawingml/2006/main">
            <a:pPr>
              <a:defRPr sz="1725" b="1">
                <a:solidFill>
                  <a:srgbClr val="153A32"/>
                </a:solidFill>
                <a:latin typeface="Arial"/>
                <a:ea typeface="Arial"/>
                <a:cs typeface="Arial"/>
              </a:defRPr>
            </a:pPr>
            <a:r>
              <a:rPr sz="2300" u="sng">
                <a:solidFill>
                  <a:srgbClr val="153A32"/>
                </a:solidFill>
                <a:latin typeface="Arial"/>
                <a:ea typeface="Arial"/>
                <a:cs typeface="Arial"/>
                <a:hlinkClick xmlns:r="http://schemas.openxmlformats.org/officeDocument/2006/relationships" r:id="Ra00f204ecbf940b0"/>
              </a:rPr>
              <a:t>TweetNLP: Cutting-Edge Natural Language Processing for Social Media</a:t>
            </a:r>
          </a:p>
        </p:txBody>
      </p:sp>
      <p:sp>
        <p:nvSpPr>
          <p:cNvPr id="9" name="">
            <a:extLst xmlns:a="http://schemas.openxmlformats.org/drawingml/2006/main">
              <a:ext uri="{FF2B5EF4-FFF2-40B4-BE49-F238E27FC236}">
                <a16:creationId xmlns:a16="http://schemas.microsoft.com/office/drawing/2014/main" id="{0B4C8BC1-158D-47C9-920B-889DA166AA87}"/>
              </a:ext>
            </a:extLst>
          </p:cNvPr>
          <p:cNvSpPr>
            <a:spLocks xmlns:a="http://schemas.openxmlformats.org/drawingml/2006/main" noGrp="1"/>
          </p:cNvSpPr>
          <p:nvPr/>
        </p:nvSpPr>
        <p:spPr>
          <a:xfrm xmlns:a="http://schemas.openxmlformats.org/drawingml/2006/main">
            <a:off x="609600" y="38100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64786A"/>
                </a:solidFill>
                <a:latin typeface="Arial"/>
                <a:ea typeface="Arial"/>
                <a:cs typeface="Arial"/>
              </a:defRPr>
            </a:defPPr>
            <a:lvl1pPr>
              <a:defRPr sz="1800" b="0">
                <a:solidFill>
                  <a:srgbClr val="64786A"/>
                </a:solidFill>
                <a:latin typeface="Arial"/>
                <a:ea typeface="Arial"/>
                <a:cs typeface="Arial"/>
              </a:defRPr>
            </a:lvl1pPr>
            <a:lvl2pPr>
              <a:defRPr sz="1800" b="0">
                <a:solidFill>
                  <a:srgbClr val="64786A"/>
                </a:solidFill>
                <a:latin typeface="Arial"/>
                <a:ea typeface="Arial"/>
                <a:cs typeface="Arial"/>
              </a:defRPr>
            </a:lvl2pPr>
            <a:lvl3pPr>
              <a:defRPr sz="1800" b="0">
                <a:solidFill>
                  <a:srgbClr val="64786A"/>
                </a:solidFill>
                <a:latin typeface="Arial"/>
                <a:ea typeface="Arial"/>
                <a:cs typeface="Arial"/>
              </a:defRPr>
            </a:lvl3pPr>
            <a:lvl4pPr>
              <a:defRPr sz="1800" b="0">
                <a:solidFill>
                  <a:srgbClr val="64786A"/>
                </a:solidFill>
                <a:latin typeface="Arial"/>
                <a:ea typeface="Arial"/>
                <a:cs typeface="Arial"/>
              </a:defRPr>
            </a:lvl4pPr>
            <a:lvl5pPr>
              <a:defRPr sz="1800" b="0">
                <a:solidFill>
                  <a:srgbClr val="64786A"/>
                </a:solidFill>
                <a:latin typeface="Arial"/>
                <a:ea typeface="Arial"/>
                <a:cs typeface="Arial"/>
              </a:defRPr>
            </a:lvl5pPr>
            <a:lvl6pPr>
              <a:defRPr sz="1800" b="0">
                <a:solidFill>
                  <a:srgbClr val="64786A"/>
                </a:solidFill>
                <a:latin typeface="Arial"/>
                <a:ea typeface="Arial"/>
                <a:cs typeface="Arial"/>
              </a:defRPr>
            </a:lvl6pPr>
            <a:lvl7pPr>
              <a:defRPr sz="1800" b="0">
                <a:solidFill>
                  <a:srgbClr val="64786A"/>
                </a:solidFill>
                <a:latin typeface="Arial"/>
                <a:ea typeface="Arial"/>
                <a:cs typeface="Arial"/>
              </a:defRPr>
            </a:lvl7pPr>
            <a:lvl8pPr>
              <a:defRPr sz="1800" b="0">
                <a:solidFill>
                  <a:srgbClr val="64786A"/>
                </a:solidFill>
                <a:latin typeface="Arial"/>
                <a:ea typeface="Arial"/>
                <a:cs typeface="Arial"/>
              </a:defRPr>
            </a:lvl8pPr>
            <a:lvl9pPr>
              <a:defRPr sz="1800" b="0">
                <a:solidFill>
                  <a:srgbClr val="64786A"/>
                </a:solidFill>
                <a:latin typeface="Arial"/>
                <a:ea typeface="Arial"/>
                <a:cs typeface="Arial"/>
              </a:defRPr>
            </a:lvl9pPr>
          </a:lstStyle>
          <a:p xmlns:a="http://schemas.openxmlformats.org/drawingml/2006/main">
            <a:pPr>
              <a:defRPr sz="1800" b="0">
                <a:solidFill>
                  <a:srgbClr val="64786A"/>
                </a:solidFill>
                <a:latin typeface="Arial"/>
                <a:ea typeface="Arial"/>
                <a:cs typeface="Arial"/>
              </a:defRPr>
            </a:pPr>
            <a:r>
              <a:rPr sz="1800" b="0">
                <a:solidFill>
                  <a:srgbClr val="64786A"/>
                </a:solidFill>
                <a:latin typeface="Arial"/>
                <a:ea typeface="Arial"/>
                <a:cs typeface="Arial"/>
              </a:rPr>
              <a:t>Gao, Yen, Yu &amp; Chen (EMNLP 2023)</a:t>
            </a:r>
          </a:p>
        </p:txBody>
      </p:sp>
      <p:sp>
        <p:nvSpPr>
          <p:cNvPr id="10" name="">
            <a:extLst xmlns:a="http://schemas.openxmlformats.org/drawingml/2006/main">
              <a:ext uri="{FF2B5EF4-FFF2-40B4-BE49-F238E27FC236}">
                <a16:creationId xmlns:a16="http://schemas.microsoft.com/office/drawing/2014/main" id="{8C5844EA-1442-4F24-BC7D-F5776007E723}"/>
              </a:ext>
            </a:extLst>
          </p:cNvPr>
          <p:cNvSpPr>
            <a:spLocks xmlns:a="http://schemas.openxmlformats.org/drawingml/2006/main" noGrp="1"/>
          </p:cNvSpPr>
          <p:nvPr/>
        </p:nvSpPr>
        <p:spPr>
          <a:xfrm xmlns:a="http://schemas.openxmlformats.org/drawingml/2006/main">
            <a:off x="609600" y="41910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1">
                <a:solidFill>
                  <a:srgbClr val="153A32"/>
                </a:solidFill>
                <a:latin typeface="Arial"/>
                <a:ea typeface="Arial"/>
                <a:cs typeface="Arial"/>
              </a:defRPr>
            </a:defPPr>
            <a:lvl1pPr>
              <a:defRPr sz="1725" b="1">
                <a:solidFill>
                  <a:srgbClr val="153A32"/>
                </a:solidFill>
                <a:latin typeface="Arial"/>
                <a:ea typeface="Arial"/>
                <a:cs typeface="Arial"/>
              </a:defRPr>
            </a:lvl1pPr>
            <a:lvl2pPr>
              <a:defRPr sz="1725" b="1">
                <a:solidFill>
                  <a:srgbClr val="153A32"/>
                </a:solidFill>
                <a:latin typeface="Arial"/>
                <a:ea typeface="Arial"/>
                <a:cs typeface="Arial"/>
              </a:defRPr>
            </a:lvl2pPr>
            <a:lvl3pPr>
              <a:defRPr sz="1725" b="1">
                <a:solidFill>
                  <a:srgbClr val="153A32"/>
                </a:solidFill>
                <a:latin typeface="Arial"/>
                <a:ea typeface="Arial"/>
                <a:cs typeface="Arial"/>
              </a:defRPr>
            </a:lvl3pPr>
            <a:lvl4pPr>
              <a:defRPr sz="1725" b="1">
                <a:solidFill>
                  <a:srgbClr val="153A32"/>
                </a:solidFill>
                <a:latin typeface="Arial"/>
                <a:ea typeface="Arial"/>
                <a:cs typeface="Arial"/>
              </a:defRPr>
            </a:lvl4pPr>
            <a:lvl5pPr>
              <a:defRPr sz="1725" b="1">
                <a:solidFill>
                  <a:srgbClr val="153A32"/>
                </a:solidFill>
                <a:latin typeface="Arial"/>
                <a:ea typeface="Arial"/>
                <a:cs typeface="Arial"/>
              </a:defRPr>
            </a:lvl5pPr>
            <a:lvl6pPr>
              <a:defRPr sz="1725" b="1">
                <a:solidFill>
                  <a:srgbClr val="153A32"/>
                </a:solidFill>
                <a:latin typeface="Arial"/>
                <a:ea typeface="Arial"/>
                <a:cs typeface="Arial"/>
              </a:defRPr>
            </a:lvl6pPr>
            <a:lvl7pPr>
              <a:defRPr sz="1725" b="1">
                <a:solidFill>
                  <a:srgbClr val="153A32"/>
                </a:solidFill>
                <a:latin typeface="Arial"/>
                <a:ea typeface="Arial"/>
                <a:cs typeface="Arial"/>
              </a:defRPr>
            </a:lvl7pPr>
            <a:lvl8pPr>
              <a:defRPr sz="1725" b="1">
                <a:solidFill>
                  <a:srgbClr val="153A32"/>
                </a:solidFill>
                <a:latin typeface="Arial"/>
                <a:ea typeface="Arial"/>
                <a:cs typeface="Arial"/>
              </a:defRPr>
            </a:lvl8pPr>
            <a:lvl9pPr>
              <a:defRPr sz="1725" b="1">
                <a:solidFill>
                  <a:srgbClr val="153A32"/>
                </a:solidFill>
                <a:latin typeface="Arial"/>
                <a:ea typeface="Arial"/>
                <a:cs typeface="Arial"/>
              </a:defRPr>
            </a:lvl9pPr>
          </a:lstStyle>
          <a:p xmlns:a="http://schemas.openxmlformats.org/drawingml/2006/main">
            <a:pPr>
              <a:defRPr sz="1725" b="1">
                <a:solidFill>
                  <a:srgbClr val="153A32"/>
                </a:solidFill>
                <a:latin typeface="Arial"/>
                <a:ea typeface="Arial"/>
                <a:cs typeface="Arial"/>
              </a:defRPr>
            </a:pPr>
            <a:r>
              <a:rPr sz="2300" u="sng">
                <a:solidFill>
                  <a:srgbClr val="153A32"/>
                </a:solidFill>
                <a:latin typeface="Arial"/>
                <a:ea typeface="Arial"/>
                <a:cs typeface="Arial"/>
                <a:hlinkClick xmlns:r="http://schemas.openxmlformats.org/officeDocument/2006/relationships" r:id="Rad3cf4a5ef614206"/>
              </a:rPr>
              <a:t>Enabling Large Language Models to Generate Text with Citations</a:t>
            </a:r>
          </a:p>
        </p:txBody>
      </p:sp>
      <p:sp>
        <p:nvSpPr>
          <p:cNvPr id="11" name="">
            <a:extLst xmlns:a="http://schemas.openxmlformats.org/drawingml/2006/main">
              <a:ext uri="{FF2B5EF4-FFF2-40B4-BE49-F238E27FC236}">
                <a16:creationId xmlns:a16="http://schemas.microsoft.com/office/drawing/2014/main" id="{7B68428F-0300-4805-9DE6-A0DA3083C1DD}"/>
              </a:ext>
            </a:extLst>
          </p:cNvPr>
          <p:cNvSpPr>
            <a:spLocks xmlns:a="http://schemas.openxmlformats.org/drawingml/2006/main" noGrp="1"/>
          </p:cNvSpPr>
          <p:nvPr/>
        </p:nvSpPr>
        <p:spPr>
          <a:xfrm xmlns:a="http://schemas.openxmlformats.org/drawingml/2006/main">
            <a:off x="609600" y="48768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64786A"/>
                </a:solidFill>
                <a:latin typeface="Arial"/>
                <a:ea typeface="Arial"/>
                <a:cs typeface="Arial"/>
              </a:defRPr>
            </a:defPPr>
            <a:lvl1pPr>
              <a:defRPr sz="1800" b="0">
                <a:solidFill>
                  <a:srgbClr val="64786A"/>
                </a:solidFill>
                <a:latin typeface="Arial"/>
                <a:ea typeface="Arial"/>
                <a:cs typeface="Arial"/>
              </a:defRPr>
            </a:lvl1pPr>
            <a:lvl2pPr>
              <a:defRPr sz="1800" b="0">
                <a:solidFill>
                  <a:srgbClr val="64786A"/>
                </a:solidFill>
                <a:latin typeface="Arial"/>
                <a:ea typeface="Arial"/>
                <a:cs typeface="Arial"/>
              </a:defRPr>
            </a:lvl2pPr>
            <a:lvl3pPr>
              <a:defRPr sz="1800" b="0">
                <a:solidFill>
                  <a:srgbClr val="64786A"/>
                </a:solidFill>
                <a:latin typeface="Arial"/>
                <a:ea typeface="Arial"/>
                <a:cs typeface="Arial"/>
              </a:defRPr>
            </a:lvl3pPr>
            <a:lvl4pPr>
              <a:defRPr sz="1800" b="0">
                <a:solidFill>
                  <a:srgbClr val="64786A"/>
                </a:solidFill>
                <a:latin typeface="Arial"/>
                <a:ea typeface="Arial"/>
                <a:cs typeface="Arial"/>
              </a:defRPr>
            </a:lvl4pPr>
            <a:lvl5pPr>
              <a:defRPr sz="1800" b="0">
                <a:solidFill>
                  <a:srgbClr val="64786A"/>
                </a:solidFill>
                <a:latin typeface="Arial"/>
                <a:ea typeface="Arial"/>
                <a:cs typeface="Arial"/>
              </a:defRPr>
            </a:lvl5pPr>
            <a:lvl6pPr>
              <a:defRPr sz="1800" b="0">
                <a:solidFill>
                  <a:srgbClr val="64786A"/>
                </a:solidFill>
                <a:latin typeface="Arial"/>
                <a:ea typeface="Arial"/>
                <a:cs typeface="Arial"/>
              </a:defRPr>
            </a:lvl6pPr>
            <a:lvl7pPr>
              <a:defRPr sz="1800" b="0">
                <a:solidFill>
                  <a:srgbClr val="64786A"/>
                </a:solidFill>
                <a:latin typeface="Arial"/>
                <a:ea typeface="Arial"/>
                <a:cs typeface="Arial"/>
              </a:defRPr>
            </a:lvl7pPr>
            <a:lvl8pPr>
              <a:defRPr sz="1800" b="0">
                <a:solidFill>
                  <a:srgbClr val="64786A"/>
                </a:solidFill>
                <a:latin typeface="Arial"/>
                <a:ea typeface="Arial"/>
                <a:cs typeface="Arial"/>
              </a:defRPr>
            </a:lvl8pPr>
            <a:lvl9pPr>
              <a:defRPr sz="1800" b="0">
                <a:solidFill>
                  <a:srgbClr val="64786A"/>
                </a:solidFill>
                <a:latin typeface="Arial"/>
                <a:ea typeface="Arial"/>
                <a:cs typeface="Arial"/>
              </a:defRPr>
            </a:lvl9pPr>
          </a:lstStyle>
          <a:p xmlns:a="http://schemas.openxmlformats.org/drawingml/2006/main">
            <a:pPr>
              <a:defRPr sz="1800" b="0">
                <a:solidFill>
                  <a:srgbClr val="64786A"/>
                </a:solidFill>
                <a:latin typeface="Arial"/>
                <a:ea typeface="Arial"/>
                <a:cs typeface="Arial"/>
              </a:defRPr>
            </a:pPr>
            <a:r>
              <a:rPr sz="1800" b="0">
                <a:solidFill>
                  <a:srgbClr val="64786A"/>
                </a:solidFill>
                <a:latin typeface="Arial"/>
                <a:ea typeface="Arial"/>
                <a:cs typeface="Arial"/>
              </a:rPr>
              <a:t>Patel et al. (NAACL 2024)</a:t>
            </a:r>
          </a:p>
        </p:txBody>
      </p:sp>
      <p:sp>
        <p:nvSpPr>
          <p:cNvPr id="12" name="">
            <a:extLst xmlns:a="http://schemas.openxmlformats.org/drawingml/2006/main">
              <a:ext uri="{FF2B5EF4-FFF2-40B4-BE49-F238E27FC236}">
                <a16:creationId xmlns:a16="http://schemas.microsoft.com/office/drawing/2014/main" id="{5B9C3A96-2AC5-4168-90C3-90C571CDE101}"/>
              </a:ext>
            </a:extLst>
          </p:cNvPr>
          <p:cNvSpPr>
            <a:spLocks xmlns:a="http://schemas.openxmlformats.org/drawingml/2006/main" noGrp="1"/>
          </p:cNvSpPr>
          <p:nvPr/>
        </p:nvSpPr>
        <p:spPr>
          <a:xfrm xmlns:a="http://schemas.openxmlformats.org/drawingml/2006/main">
            <a:off x="609600" y="52578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1">
                <a:solidFill>
                  <a:srgbClr val="153A32"/>
                </a:solidFill>
                <a:latin typeface="Arial"/>
                <a:ea typeface="Arial"/>
                <a:cs typeface="Arial"/>
              </a:defRPr>
            </a:defPPr>
            <a:lvl1pPr>
              <a:defRPr sz="1725" b="1">
                <a:solidFill>
                  <a:srgbClr val="153A32"/>
                </a:solidFill>
                <a:latin typeface="Arial"/>
                <a:ea typeface="Arial"/>
                <a:cs typeface="Arial"/>
              </a:defRPr>
            </a:lvl1pPr>
            <a:lvl2pPr>
              <a:defRPr sz="1725" b="1">
                <a:solidFill>
                  <a:srgbClr val="153A32"/>
                </a:solidFill>
                <a:latin typeface="Arial"/>
                <a:ea typeface="Arial"/>
                <a:cs typeface="Arial"/>
              </a:defRPr>
            </a:lvl2pPr>
            <a:lvl3pPr>
              <a:defRPr sz="1725" b="1">
                <a:solidFill>
                  <a:srgbClr val="153A32"/>
                </a:solidFill>
                <a:latin typeface="Arial"/>
                <a:ea typeface="Arial"/>
                <a:cs typeface="Arial"/>
              </a:defRPr>
            </a:lvl3pPr>
            <a:lvl4pPr>
              <a:defRPr sz="1725" b="1">
                <a:solidFill>
                  <a:srgbClr val="153A32"/>
                </a:solidFill>
                <a:latin typeface="Arial"/>
                <a:ea typeface="Arial"/>
                <a:cs typeface="Arial"/>
              </a:defRPr>
            </a:lvl4pPr>
            <a:lvl5pPr>
              <a:defRPr sz="1725" b="1">
                <a:solidFill>
                  <a:srgbClr val="153A32"/>
                </a:solidFill>
                <a:latin typeface="Arial"/>
                <a:ea typeface="Arial"/>
                <a:cs typeface="Arial"/>
              </a:defRPr>
            </a:lvl5pPr>
            <a:lvl6pPr>
              <a:defRPr sz="1725" b="1">
                <a:solidFill>
                  <a:srgbClr val="153A32"/>
                </a:solidFill>
                <a:latin typeface="Arial"/>
                <a:ea typeface="Arial"/>
                <a:cs typeface="Arial"/>
              </a:defRPr>
            </a:lvl6pPr>
            <a:lvl7pPr>
              <a:defRPr sz="1725" b="1">
                <a:solidFill>
                  <a:srgbClr val="153A32"/>
                </a:solidFill>
                <a:latin typeface="Arial"/>
                <a:ea typeface="Arial"/>
                <a:cs typeface="Arial"/>
              </a:defRPr>
            </a:lvl7pPr>
            <a:lvl8pPr>
              <a:defRPr sz="1725" b="1">
                <a:solidFill>
                  <a:srgbClr val="153A32"/>
                </a:solidFill>
                <a:latin typeface="Arial"/>
                <a:ea typeface="Arial"/>
                <a:cs typeface="Arial"/>
              </a:defRPr>
            </a:lvl8pPr>
            <a:lvl9pPr>
              <a:defRPr sz="1725" b="1">
                <a:solidFill>
                  <a:srgbClr val="153A32"/>
                </a:solidFill>
                <a:latin typeface="Arial"/>
                <a:ea typeface="Arial"/>
                <a:cs typeface="Arial"/>
              </a:defRPr>
            </a:lvl9pPr>
          </a:lstStyle>
          <a:p xmlns:a="http://schemas.openxmlformats.org/drawingml/2006/main">
            <a:pPr>
              <a:defRPr sz="1725" b="1">
                <a:solidFill>
                  <a:srgbClr val="153A32"/>
                </a:solidFill>
                <a:latin typeface="Arial"/>
                <a:ea typeface="Arial"/>
                <a:cs typeface="Arial"/>
              </a:defRPr>
            </a:pPr>
            <a:r>
              <a:rPr sz="2300" u="sng">
                <a:solidFill>
                  <a:srgbClr val="153A32"/>
                </a:solidFill>
                <a:latin typeface="Arial"/>
                <a:ea typeface="Arial"/>
                <a:cs typeface="Arial"/>
                <a:hlinkClick xmlns:r="http://schemas.openxmlformats.org/officeDocument/2006/relationships" r:id="Re0ba75774cee4784"/>
              </a:rPr>
              <a:t>Towards Improved Multi-Source Attribution for Long-Form Answer Generation</a:t>
            </a:r>
          </a:p>
        </p:txBody>
      </p:sp>
    </p:spTree>
    <p:extLst>
      <p:ext uri="{BB962C8B-B14F-4D97-AF65-F5344CB8AC3E}">
        <p14:creationId xmlns:p14="http://schemas.microsoft.com/office/powerpoint/2010/main" val="94266199"/>
      </p:ext>
    </p:extLst>
  </p:cSld>
</p:sld>
</file>

<file path=ppt/slides/slide16.xml><?xml version="1.0" encoding="utf-8"?>
<p:sld xmlns:p="http://schemas.openxmlformats.org/presentationml/2006/main">
  <p:cSld>
    <p:bg>
      <p:bgPr>
        <a:solidFill xmlns:a="http://schemas.openxmlformats.org/drawingml/2006/main">
          <a:srgbClr val="153A3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273B590-D617-4A45-A08F-DE16BC727F55}"/>
              </a:ext>
            </a:extLst>
          </p:cNvPr>
          <p:cNvSpPr>
            <a:spLocks xmlns:a="http://schemas.openxmlformats.org/drawingml/2006/main" noGrp="1"/>
          </p:cNvSpPr>
          <p:nvPr/>
        </p:nvSpPr>
        <p:spPr>
          <a:xfrm xmlns:a="http://schemas.openxmlformats.org/drawingml/2006/main">
            <a:off x="609600" y="3238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1">
                <a:solidFill>
                  <a:srgbClr val="BED78D"/>
                </a:solidFill>
                <a:latin typeface="Arial"/>
                <a:ea typeface="Arial"/>
                <a:cs typeface="Arial"/>
              </a:defRPr>
            </a:defPPr>
            <a:lvl1pPr>
              <a:defRPr sz="1200" b="1">
                <a:solidFill>
                  <a:srgbClr val="BED78D"/>
                </a:solidFill>
                <a:latin typeface="Arial"/>
                <a:ea typeface="Arial"/>
                <a:cs typeface="Arial"/>
              </a:defRPr>
            </a:lvl1pPr>
            <a:lvl2pPr>
              <a:defRPr sz="1200" b="1">
                <a:solidFill>
                  <a:srgbClr val="BED78D"/>
                </a:solidFill>
                <a:latin typeface="Arial"/>
                <a:ea typeface="Arial"/>
                <a:cs typeface="Arial"/>
              </a:defRPr>
            </a:lvl2pPr>
            <a:lvl3pPr>
              <a:defRPr sz="1200" b="1">
                <a:solidFill>
                  <a:srgbClr val="BED78D"/>
                </a:solidFill>
                <a:latin typeface="Arial"/>
                <a:ea typeface="Arial"/>
                <a:cs typeface="Arial"/>
              </a:defRPr>
            </a:lvl3pPr>
            <a:lvl4pPr>
              <a:defRPr sz="1200" b="1">
                <a:solidFill>
                  <a:srgbClr val="BED78D"/>
                </a:solidFill>
                <a:latin typeface="Arial"/>
                <a:ea typeface="Arial"/>
                <a:cs typeface="Arial"/>
              </a:defRPr>
            </a:lvl4pPr>
            <a:lvl5pPr>
              <a:defRPr sz="1200" b="1">
                <a:solidFill>
                  <a:srgbClr val="BED78D"/>
                </a:solidFill>
                <a:latin typeface="Arial"/>
                <a:ea typeface="Arial"/>
                <a:cs typeface="Arial"/>
              </a:defRPr>
            </a:lvl5pPr>
            <a:lvl6pPr>
              <a:defRPr sz="1200" b="1">
                <a:solidFill>
                  <a:srgbClr val="BED78D"/>
                </a:solidFill>
                <a:latin typeface="Arial"/>
                <a:ea typeface="Arial"/>
                <a:cs typeface="Arial"/>
              </a:defRPr>
            </a:lvl6pPr>
            <a:lvl7pPr>
              <a:defRPr sz="1200" b="1">
                <a:solidFill>
                  <a:srgbClr val="BED78D"/>
                </a:solidFill>
                <a:latin typeface="Arial"/>
                <a:ea typeface="Arial"/>
                <a:cs typeface="Arial"/>
              </a:defRPr>
            </a:lvl7pPr>
            <a:lvl8pPr>
              <a:defRPr sz="1200" b="1">
                <a:solidFill>
                  <a:srgbClr val="BED78D"/>
                </a:solidFill>
                <a:latin typeface="Arial"/>
                <a:ea typeface="Arial"/>
                <a:cs typeface="Arial"/>
              </a:defRPr>
            </a:lvl8pPr>
            <a:lvl9pPr>
              <a:defRPr sz="1200" b="1">
                <a:solidFill>
                  <a:srgbClr val="BED78D"/>
                </a:solidFill>
                <a:latin typeface="Arial"/>
                <a:ea typeface="Arial"/>
                <a:cs typeface="Arial"/>
              </a:defRPr>
            </a:lvl9pPr>
          </a:lstStyle>
          <a:p xmlns:a="http://schemas.openxmlformats.org/drawingml/2006/main">
            <a:pPr>
              <a:defRPr sz="1200" b="1">
                <a:solidFill>
                  <a:srgbClr val="BED78D"/>
                </a:solidFill>
                <a:latin typeface="Arial"/>
                <a:ea typeface="Arial"/>
                <a:cs typeface="Arial"/>
              </a:defRPr>
            </a:pPr>
            <a:r>
              <a:rPr sz="1200" b="1">
                <a:solidFill>
                  <a:srgbClr val="BED78D"/>
                </a:solidFill>
                <a:latin typeface="Arial"/>
                <a:ea typeface="Arial"/>
                <a:cs typeface="Arial"/>
              </a:rPr>
              <a:t>REPOSITORY AND DISCUSSION</a:t>
            </a:r>
          </a:p>
        </p:txBody>
      </p:sp>
      <p:sp>
        <p:nvSpPr>
          <p:cNvPr id="3" name="">
            <a:extLst xmlns:a="http://schemas.openxmlformats.org/drawingml/2006/main">
              <a:ext uri="{FF2B5EF4-FFF2-40B4-BE49-F238E27FC236}">
                <a16:creationId xmlns:a16="http://schemas.microsoft.com/office/drawing/2014/main" id="{C6F04FB0-793B-4B7F-90E9-D322ADF9D5A3}"/>
              </a:ext>
            </a:extLst>
          </p:cNvPr>
          <p:cNvSpPr>
            <a:spLocks xmlns:a="http://schemas.openxmlformats.org/drawingml/2006/main" noGrp="1"/>
          </p:cNvSpPr>
          <p:nvPr/>
        </p:nvSpPr>
        <p:spPr>
          <a:xfrm xmlns:a="http://schemas.openxmlformats.org/drawingml/2006/main">
            <a:off x="609600" y="790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FFFFFF"/>
                </a:solidFill>
                <a:latin typeface="Arial"/>
                <a:ea typeface="Arial"/>
                <a:cs typeface="Arial"/>
              </a:defRPr>
            </a:defPPr>
            <a:lvl1pPr>
              <a:defRPr sz="3150" b="1">
                <a:solidFill>
                  <a:srgbClr val="FFFFFF"/>
                </a:solidFill>
                <a:latin typeface="Arial"/>
                <a:ea typeface="Arial"/>
                <a:cs typeface="Arial"/>
              </a:defRPr>
            </a:lvl1pPr>
            <a:lvl2pPr>
              <a:defRPr sz="3150" b="1">
                <a:solidFill>
                  <a:srgbClr val="FFFFFF"/>
                </a:solidFill>
                <a:latin typeface="Arial"/>
                <a:ea typeface="Arial"/>
                <a:cs typeface="Arial"/>
              </a:defRPr>
            </a:lvl2pPr>
            <a:lvl3pPr>
              <a:defRPr sz="3150" b="1">
                <a:solidFill>
                  <a:srgbClr val="FFFFFF"/>
                </a:solidFill>
                <a:latin typeface="Arial"/>
                <a:ea typeface="Arial"/>
                <a:cs typeface="Arial"/>
              </a:defRPr>
            </a:lvl3pPr>
            <a:lvl4pPr>
              <a:defRPr sz="3150" b="1">
                <a:solidFill>
                  <a:srgbClr val="FFFFFF"/>
                </a:solidFill>
                <a:latin typeface="Arial"/>
                <a:ea typeface="Arial"/>
                <a:cs typeface="Arial"/>
              </a:defRPr>
            </a:lvl4pPr>
            <a:lvl5pPr>
              <a:defRPr sz="3150" b="1">
                <a:solidFill>
                  <a:srgbClr val="FFFFFF"/>
                </a:solidFill>
                <a:latin typeface="Arial"/>
                <a:ea typeface="Arial"/>
                <a:cs typeface="Arial"/>
              </a:defRPr>
            </a:lvl5pPr>
            <a:lvl6pPr>
              <a:defRPr sz="3150" b="1">
                <a:solidFill>
                  <a:srgbClr val="FFFFFF"/>
                </a:solidFill>
                <a:latin typeface="Arial"/>
                <a:ea typeface="Arial"/>
                <a:cs typeface="Arial"/>
              </a:defRPr>
            </a:lvl6pPr>
            <a:lvl7pPr>
              <a:defRPr sz="3150" b="1">
                <a:solidFill>
                  <a:srgbClr val="FFFFFF"/>
                </a:solidFill>
                <a:latin typeface="Arial"/>
                <a:ea typeface="Arial"/>
                <a:cs typeface="Arial"/>
              </a:defRPr>
            </a:lvl7pPr>
            <a:lvl8pPr>
              <a:defRPr sz="3150" b="1">
                <a:solidFill>
                  <a:srgbClr val="FFFFFF"/>
                </a:solidFill>
                <a:latin typeface="Arial"/>
                <a:ea typeface="Arial"/>
                <a:cs typeface="Arial"/>
              </a:defRPr>
            </a:lvl8pPr>
            <a:lvl9pPr>
              <a:defRPr sz="3150" b="1">
                <a:solidFill>
                  <a:srgbClr val="FFFFFF"/>
                </a:solidFill>
                <a:latin typeface="Arial"/>
                <a:ea typeface="Arial"/>
                <a:cs typeface="Arial"/>
              </a:defRPr>
            </a:lvl9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Social Ear: source and research protocol</a:t>
            </a:r>
          </a:p>
        </p:txBody>
      </p:sp>
      <p:sp>
        <p:nvSpPr>
          <p:cNvPr id="4" name="">
            <a:extLst xmlns:a="http://schemas.openxmlformats.org/drawingml/2006/main">
              <a:ext uri="{FF2B5EF4-FFF2-40B4-BE49-F238E27FC236}">
                <a16:creationId xmlns:a16="http://schemas.microsoft.com/office/drawing/2014/main" id="{CAD896EB-EC2E-4B9A-AB52-788030202013}"/>
              </a:ext>
            </a:extLst>
          </p:cNvPr>
          <p:cNvSpPr>
            <a:spLocks xmlns:a="http://schemas.openxmlformats.org/drawingml/2006/main" noGrp="1"/>
          </p:cNvSpPr>
          <p:nvPr/>
        </p:nvSpPr>
        <p:spPr>
          <a:xfrm xmlns:a="http://schemas.openxmlformats.org/drawingml/2006/main">
            <a:off x="10620375" y="6419850"/>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BED78D"/>
                </a:solidFill>
                <a:latin typeface="Arial"/>
                <a:ea typeface="Arial"/>
                <a:cs typeface="Arial"/>
              </a:defRPr>
            </a:defPPr>
            <a:lvl1pPr>
              <a:defRPr sz="1125" b="0">
                <a:solidFill>
                  <a:srgbClr val="BED78D"/>
                </a:solidFill>
                <a:latin typeface="Arial"/>
                <a:ea typeface="Arial"/>
                <a:cs typeface="Arial"/>
              </a:defRPr>
            </a:lvl1pPr>
            <a:lvl2pPr>
              <a:defRPr sz="1125" b="0">
                <a:solidFill>
                  <a:srgbClr val="BED78D"/>
                </a:solidFill>
                <a:latin typeface="Arial"/>
                <a:ea typeface="Arial"/>
                <a:cs typeface="Arial"/>
              </a:defRPr>
            </a:lvl2pPr>
            <a:lvl3pPr>
              <a:defRPr sz="1125" b="0">
                <a:solidFill>
                  <a:srgbClr val="BED78D"/>
                </a:solidFill>
                <a:latin typeface="Arial"/>
                <a:ea typeface="Arial"/>
                <a:cs typeface="Arial"/>
              </a:defRPr>
            </a:lvl3pPr>
            <a:lvl4pPr>
              <a:defRPr sz="1125" b="0">
                <a:solidFill>
                  <a:srgbClr val="BED78D"/>
                </a:solidFill>
                <a:latin typeface="Arial"/>
                <a:ea typeface="Arial"/>
                <a:cs typeface="Arial"/>
              </a:defRPr>
            </a:lvl4pPr>
            <a:lvl5pPr>
              <a:defRPr sz="1125" b="0">
                <a:solidFill>
                  <a:srgbClr val="BED78D"/>
                </a:solidFill>
                <a:latin typeface="Arial"/>
                <a:ea typeface="Arial"/>
                <a:cs typeface="Arial"/>
              </a:defRPr>
            </a:lvl5pPr>
            <a:lvl6pPr>
              <a:defRPr sz="1125" b="0">
                <a:solidFill>
                  <a:srgbClr val="BED78D"/>
                </a:solidFill>
                <a:latin typeface="Arial"/>
                <a:ea typeface="Arial"/>
                <a:cs typeface="Arial"/>
              </a:defRPr>
            </a:lvl6pPr>
            <a:lvl7pPr>
              <a:defRPr sz="1125" b="0">
                <a:solidFill>
                  <a:srgbClr val="BED78D"/>
                </a:solidFill>
                <a:latin typeface="Arial"/>
                <a:ea typeface="Arial"/>
                <a:cs typeface="Arial"/>
              </a:defRPr>
            </a:lvl7pPr>
            <a:lvl8pPr>
              <a:defRPr sz="1125" b="0">
                <a:solidFill>
                  <a:srgbClr val="BED78D"/>
                </a:solidFill>
                <a:latin typeface="Arial"/>
                <a:ea typeface="Arial"/>
                <a:cs typeface="Arial"/>
              </a:defRPr>
            </a:lvl8pPr>
            <a:lvl9pPr>
              <a:defRPr sz="1125" b="0">
                <a:solidFill>
                  <a:srgbClr val="BED78D"/>
                </a:solidFill>
                <a:latin typeface="Arial"/>
                <a:ea typeface="Arial"/>
                <a:cs typeface="Arial"/>
              </a:defRPr>
            </a:lvl9pPr>
          </a:lstStyle>
          <a:p xmlns:a="http://schemas.openxmlformats.org/drawingml/2006/main">
            <a:pPr>
              <a:defRPr sz="1125" b="0">
                <a:solidFill>
                  <a:srgbClr val="BED78D"/>
                </a:solidFill>
                <a:latin typeface="Arial"/>
                <a:ea typeface="Arial"/>
                <a:cs typeface="Arial"/>
              </a:defRPr>
            </a:pPr>
            <a:r>
              <a:rPr sz="1125" b="0">
                <a:solidFill>
                  <a:srgbClr val="BED78D"/>
                </a:solidFill>
                <a:latin typeface="Arial"/>
                <a:ea typeface="Arial"/>
                <a:cs typeface="Arial"/>
              </a:rPr>
              <a:t>16 / 16</a:t>
            </a:r>
          </a:p>
        </p:txBody>
      </p:sp>
      <p:sp>
        <p:nvSpPr>
          <p:cNvPr id="5" name="">
            <a:extLst xmlns:a="http://schemas.openxmlformats.org/drawingml/2006/main">
              <a:ext uri="{FF2B5EF4-FFF2-40B4-BE49-F238E27FC236}">
                <a16:creationId xmlns:a16="http://schemas.microsoft.com/office/drawing/2014/main" id="{B23D6B8B-D265-48B7-BC2F-A3E8A7260C6C}"/>
              </a:ext>
            </a:extLst>
          </p:cNvPr>
          <p:cNvSpPr>
            <a:spLocks xmlns:a="http://schemas.openxmlformats.org/drawingml/2006/main" noGrp="1"/>
          </p:cNvSpPr>
          <p:nvPr/>
        </p:nvSpPr>
        <p:spPr>
          <a:xfrm xmlns:a="http://schemas.openxmlformats.org/drawingml/2006/main">
            <a:off x="685800" y="2047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275" b="1">
                <a:solidFill>
                  <a:srgbClr val="FFFFFF"/>
                </a:solidFill>
                <a:latin typeface="Arial"/>
                <a:ea typeface="Arial"/>
                <a:cs typeface="Arial"/>
              </a:defRPr>
            </a:defPPr>
            <a:lvl1pPr>
              <a:defRPr sz="4275" b="1">
                <a:solidFill>
                  <a:srgbClr val="FFFFFF"/>
                </a:solidFill>
                <a:latin typeface="Arial"/>
                <a:ea typeface="Arial"/>
                <a:cs typeface="Arial"/>
              </a:defRPr>
            </a:lvl1pPr>
            <a:lvl2pPr>
              <a:defRPr sz="4275" b="1">
                <a:solidFill>
                  <a:srgbClr val="FFFFFF"/>
                </a:solidFill>
                <a:latin typeface="Arial"/>
                <a:ea typeface="Arial"/>
                <a:cs typeface="Arial"/>
              </a:defRPr>
            </a:lvl2pPr>
            <a:lvl3pPr>
              <a:defRPr sz="4275" b="1">
                <a:solidFill>
                  <a:srgbClr val="FFFFFF"/>
                </a:solidFill>
                <a:latin typeface="Arial"/>
                <a:ea typeface="Arial"/>
                <a:cs typeface="Arial"/>
              </a:defRPr>
            </a:lvl3pPr>
            <a:lvl4pPr>
              <a:defRPr sz="4275" b="1">
                <a:solidFill>
                  <a:srgbClr val="FFFFFF"/>
                </a:solidFill>
                <a:latin typeface="Arial"/>
                <a:ea typeface="Arial"/>
                <a:cs typeface="Arial"/>
              </a:defRPr>
            </a:lvl4pPr>
            <a:lvl5pPr>
              <a:defRPr sz="4275" b="1">
                <a:solidFill>
                  <a:srgbClr val="FFFFFF"/>
                </a:solidFill>
                <a:latin typeface="Arial"/>
                <a:ea typeface="Arial"/>
                <a:cs typeface="Arial"/>
              </a:defRPr>
            </a:lvl5pPr>
            <a:lvl6pPr>
              <a:defRPr sz="4275" b="1">
                <a:solidFill>
                  <a:srgbClr val="FFFFFF"/>
                </a:solidFill>
                <a:latin typeface="Arial"/>
                <a:ea typeface="Arial"/>
                <a:cs typeface="Arial"/>
              </a:defRPr>
            </a:lvl6pPr>
            <a:lvl7pPr>
              <a:defRPr sz="4275" b="1">
                <a:solidFill>
                  <a:srgbClr val="FFFFFF"/>
                </a:solidFill>
                <a:latin typeface="Arial"/>
                <a:ea typeface="Arial"/>
                <a:cs typeface="Arial"/>
              </a:defRPr>
            </a:lvl7pPr>
            <a:lvl8pPr>
              <a:defRPr sz="4275" b="1">
                <a:solidFill>
                  <a:srgbClr val="FFFFFF"/>
                </a:solidFill>
                <a:latin typeface="Arial"/>
                <a:ea typeface="Arial"/>
                <a:cs typeface="Arial"/>
              </a:defRPr>
            </a:lvl8pPr>
            <a:lvl9pPr>
              <a:defRPr sz="4275" b="1">
                <a:solidFill>
                  <a:srgbClr val="FFFFFF"/>
                </a:solidFill>
                <a:latin typeface="Arial"/>
                <a:ea typeface="Arial"/>
                <a:cs typeface="Arial"/>
              </a:defRPr>
            </a:lvl9pPr>
          </a:lstStyle>
          <a:p xmlns:a="http://schemas.openxmlformats.org/drawingml/2006/main">
            <a:pPr>
              <a:defRPr sz="4275" b="1">
                <a:solidFill>
                  <a:srgbClr val="FFFFFF"/>
                </a:solidFill>
                <a:latin typeface="Arial"/>
                <a:ea typeface="Arial"/>
                <a:cs typeface="Arial"/>
              </a:defRPr>
            </a:pPr>
            <a:r>
              <a:rPr sz="4275" b="1">
                <a:solidFill>
                  <a:srgbClr val="FFFFFF"/>
                </a:solidFill>
                <a:latin typeface="Arial"/>
                <a:ea typeface="Arial"/>
                <a:cs typeface="Arial"/>
              </a:rPr>
              <a:t>Quality. Evidence. Human review.</a:t>
            </a:r>
          </a:p>
        </p:txBody>
      </p:sp>
      <p:sp>
        <p:nvSpPr>
          <p:cNvPr id="6" name="">
            <a:extLst xmlns:a="http://schemas.openxmlformats.org/drawingml/2006/main">
              <a:ext uri="{FF2B5EF4-FFF2-40B4-BE49-F238E27FC236}">
                <a16:creationId xmlns:a16="http://schemas.microsoft.com/office/drawing/2014/main" id="{F949D969-F5C6-4F05-9FA6-47D28F8735F6}"/>
              </a:ext>
            </a:extLst>
          </p:cNvPr>
          <p:cNvSpPr>
            <a:spLocks xmlns:a="http://schemas.openxmlformats.org/drawingml/2006/main" noGrp="1"/>
          </p:cNvSpPr>
          <p:nvPr/>
        </p:nvSpPr>
        <p:spPr>
          <a:xfrm xmlns:a="http://schemas.openxmlformats.org/drawingml/2006/main">
            <a:off x="723900" y="333375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How well can a local feedback platform balance</a:t>
            </a:r>
          </a:p>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these goals under realistic constraints?</a:t>
            </a:r>
          </a:p>
        </p:txBody>
      </p:sp>
      <p:sp>
        <p:nvSpPr>
          <p:cNvPr id="7" name="">
            <a:extLst xmlns:a="http://schemas.openxmlformats.org/drawingml/2006/main">
              <a:ext uri="{FF2B5EF4-FFF2-40B4-BE49-F238E27FC236}">
                <a16:creationId xmlns:a16="http://schemas.microsoft.com/office/drawing/2014/main" id="{59DF56BE-9A67-4B37-A574-98985236D49A}"/>
              </a:ext>
            </a:extLst>
          </p:cNvPr>
          <p:cNvSpPr>
            <a:spLocks xmlns:a="http://schemas.openxmlformats.org/drawingml/2006/main" noGrp="1"/>
          </p:cNvSpPr>
          <p:nvPr/>
        </p:nvSpPr>
        <p:spPr>
          <a:xfrm xmlns:a="http://schemas.openxmlformats.org/drawingml/2006/main">
            <a:off x="723900" y="4953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BED78D"/>
                </a:solidFill>
                <a:latin typeface="Arial"/>
                <a:ea typeface="Arial"/>
                <a:cs typeface="Arial"/>
              </a:defRPr>
            </a:defPPr>
            <a:lvl1pPr>
              <a:defRPr sz="2550" b="1">
                <a:solidFill>
                  <a:srgbClr val="BED78D"/>
                </a:solidFill>
                <a:latin typeface="Arial"/>
                <a:ea typeface="Arial"/>
                <a:cs typeface="Arial"/>
              </a:defRPr>
            </a:lvl1pPr>
            <a:lvl2pPr>
              <a:defRPr sz="2550" b="1">
                <a:solidFill>
                  <a:srgbClr val="BED78D"/>
                </a:solidFill>
                <a:latin typeface="Arial"/>
                <a:ea typeface="Arial"/>
                <a:cs typeface="Arial"/>
              </a:defRPr>
            </a:lvl2pPr>
            <a:lvl3pPr>
              <a:defRPr sz="2550" b="1">
                <a:solidFill>
                  <a:srgbClr val="BED78D"/>
                </a:solidFill>
                <a:latin typeface="Arial"/>
                <a:ea typeface="Arial"/>
                <a:cs typeface="Arial"/>
              </a:defRPr>
            </a:lvl3pPr>
            <a:lvl4pPr>
              <a:defRPr sz="2550" b="1">
                <a:solidFill>
                  <a:srgbClr val="BED78D"/>
                </a:solidFill>
                <a:latin typeface="Arial"/>
                <a:ea typeface="Arial"/>
                <a:cs typeface="Arial"/>
              </a:defRPr>
            </a:lvl4pPr>
            <a:lvl5pPr>
              <a:defRPr sz="2550" b="1">
                <a:solidFill>
                  <a:srgbClr val="BED78D"/>
                </a:solidFill>
                <a:latin typeface="Arial"/>
                <a:ea typeface="Arial"/>
                <a:cs typeface="Arial"/>
              </a:defRPr>
            </a:lvl5pPr>
            <a:lvl6pPr>
              <a:defRPr sz="2550" b="1">
                <a:solidFill>
                  <a:srgbClr val="BED78D"/>
                </a:solidFill>
                <a:latin typeface="Arial"/>
                <a:ea typeface="Arial"/>
                <a:cs typeface="Arial"/>
              </a:defRPr>
            </a:lvl6pPr>
            <a:lvl7pPr>
              <a:defRPr sz="2550" b="1">
                <a:solidFill>
                  <a:srgbClr val="BED78D"/>
                </a:solidFill>
                <a:latin typeface="Arial"/>
                <a:ea typeface="Arial"/>
                <a:cs typeface="Arial"/>
              </a:defRPr>
            </a:lvl7pPr>
            <a:lvl8pPr>
              <a:defRPr sz="2550" b="1">
                <a:solidFill>
                  <a:srgbClr val="BED78D"/>
                </a:solidFill>
                <a:latin typeface="Arial"/>
                <a:ea typeface="Arial"/>
                <a:cs typeface="Arial"/>
              </a:defRPr>
            </a:lvl8pPr>
            <a:lvl9pPr>
              <a:defRPr sz="2550" b="1">
                <a:solidFill>
                  <a:srgbClr val="BED78D"/>
                </a:solidFill>
                <a:latin typeface="Arial"/>
                <a:ea typeface="Arial"/>
                <a:cs typeface="Arial"/>
              </a:defRPr>
            </a:lvl9pPr>
          </a:lstStyle>
          <a:p xmlns:a="http://schemas.openxmlformats.org/drawingml/2006/main">
            <a:pPr>
              <a:defRPr sz="2550" b="1">
                <a:solidFill>
                  <a:srgbClr val="BED78D"/>
                </a:solidFill>
                <a:latin typeface="Arial"/>
                <a:ea typeface="Arial"/>
                <a:cs typeface="Arial"/>
              </a:defRPr>
            </a:pPr>
            <a:r>
              <a:rPr sz="3400" u="sng">
                <a:solidFill>
                  <a:srgbClr val="BED78D"/>
                </a:solidFill>
                <a:latin typeface="Arial"/>
                <a:ea typeface="Arial"/>
                <a:cs typeface="Arial"/>
                <a:hlinkClick xmlns:r="http://schemas.openxmlformats.org/officeDocument/2006/relationships" r:id="R241a44ae7f5e4abe"/>
              </a:rPr>
              <a:t>github.com/HamzaElhaddaji/social-ear</a:t>
            </a:r>
          </a:p>
        </p:txBody>
      </p:sp>
      <p:sp>
        <p:nvSpPr>
          <p:cNvPr id="8" name="">
            <a:extLst xmlns:a="http://schemas.openxmlformats.org/drawingml/2006/main">
              <a:ext uri="{FF2B5EF4-FFF2-40B4-BE49-F238E27FC236}">
                <a16:creationId xmlns:a16="http://schemas.microsoft.com/office/drawing/2014/main" id="{A382FF89-2C8C-4A79-A672-92E8B6A3A973}"/>
              </a:ext>
            </a:extLst>
          </p:cNvPr>
          <p:cNvSpPr>
            <a:spLocks xmlns:a="http://schemas.openxmlformats.org/drawingml/2006/main" noGrp="1"/>
          </p:cNvSpPr>
          <p:nvPr/>
        </p:nvSpPr>
        <p:spPr>
          <a:xfrm xmlns:a="http://schemas.openxmlformats.org/drawingml/2006/main">
            <a:off x="742950" y="60007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BED78D"/>
                </a:solidFill>
                <a:latin typeface="Arial"/>
                <a:ea typeface="Arial"/>
                <a:cs typeface="Arial"/>
              </a:defRPr>
            </a:defPPr>
            <a:lvl1pPr>
              <a:defRPr sz="1725" b="0">
                <a:solidFill>
                  <a:srgbClr val="BED78D"/>
                </a:solidFill>
                <a:latin typeface="Arial"/>
                <a:ea typeface="Arial"/>
                <a:cs typeface="Arial"/>
              </a:defRPr>
            </a:lvl1pPr>
            <a:lvl2pPr>
              <a:defRPr sz="1725" b="0">
                <a:solidFill>
                  <a:srgbClr val="BED78D"/>
                </a:solidFill>
                <a:latin typeface="Arial"/>
                <a:ea typeface="Arial"/>
                <a:cs typeface="Arial"/>
              </a:defRPr>
            </a:lvl2pPr>
            <a:lvl3pPr>
              <a:defRPr sz="1725" b="0">
                <a:solidFill>
                  <a:srgbClr val="BED78D"/>
                </a:solidFill>
                <a:latin typeface="Arial"/>
                <a:ea typeface="Arial"/>
                <a:cs typeface="Arial"/>
              </a:defRPr>
            </a:lvl3pPr>
            <a:lvl4pPr>
              <a:defRPr sz="1725" b="0">
                <a:solidFill>
                  <a:srgbClr val="BED78D"/>
                </a:solidFill>
                <a:latin typeface="Arial"/>
                <a:ea typeface="Arial"/>
                <a:cs typeface="Arial"/>
              </a:defRPr>
            </a:lvl4pPr>
            <a:lvl5pPr>
              <a:defRPr sz="1725" b="0">
                <a:solidFill>
                  <a:srgbClr val="BED78D"/>
                </a:solidFill>
                <a:latin typeface="Arial"/>
                <a:ea typeface="Arial"/>
                <a:cs typeface="Arial"/>
              </a:defRPr>
            </a:lvl5pPr>
            <a:lvl6pPr>
              <a:defRPr sz="1725" b="0">
                <a:solidFill>
                  <a:srgbClr val="BED78D"/>
                </a:solidFill>
                <a:latin typeface="Arial"/>
                <a:ea typeface="Arial"/>
                <a:cs typeface="Arial"/>
              </a:defRPr>
            </a:lvl6pPr>
            <a:lvl7pPr>
              <a:defRPr sz="1725" b="0">
                <a:solidFill>
                  <a:srgbClr val="BED78D"/>
                </a:solidFill>
                <a:latin typeface="Arial"/>
                <a:ea typeface="Arial"/>
                <a:cs typeface="Arial"/>
              </a:defRPr>
            </a:lvl7pPr>
            <a:lvl8pPr>
              <a:defRPr sz="1725" b="0">
                <a:solidFill>
                  <a:srgbClr val="BED78D"/>
                </a:solidFill>
                <a:latin typeface="Arial"/>
                <a:ea typeface="Arial"/>
                <a:cs typeface="Arial"/>
              </a:defRPr>
            </a:lvl8pPr>
            <a:lvl9pPr>
              <a:defRPr sz="1725" b="0">
                <a:solidFill>
                  <a:srgbClr val="BED78D"/>
                </a:solidFill>
                <a:latin typeface="Arial"/>
                <a:ea typeface="Arial"/>
                <a:cs typeface="Arial"/>
              </a:defRPr>
            </a:lvl9pPr>
          </a:lstStyle>
          <a:p xmlns:a="http://schemas.openxmlformats.org/drawingml/2006/main">
            <a:pPr>
              <a:defRPr sz="1725" b="0">
                <a:solidFill>
                  <a:srgbClr val="BED78D"/>
                </a:solidFill>
                <a:latin typeface="Arial"/>
                <a:ea typeface="Arial"/>
                <a:cs typeface="Arial"/>
              </a:defRPr>
            </a:pPr>
            <a:r>
              <a:rPr sz="1725" b="0">
                <a:solidFill>
                  <a:srgbClr val="BED78D"/>
                </a:solidFill>
                <a:latin typeface="Arial"/>
                <a:ea typeface="Arial"/>
                <a:cs typeface="Arial"/>
              </a:rPr>
              <a:t>Private repository. Owner permission is required for access.</a:t>
            </a:r>
          </a:p>
        </p:txBody>
      </p:sp>
    </p:spTree>
    <p:extLst>
      <p:ext uri="{BB962C8B-B14F-4D97-AF65-F5344CB8AC3E}">
        <p14:creationId xmlns:p14="http://schemas.microsoft.com/office/powerpoint/2010/main" val="16056003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2026-10-20T15:12:05.5510000Z</dcterms:created>
  <dcterms:modified xsi:type="dcterms:W3CDTF">2026-10-20T15:12:05.5510000Z</dcterms:modified>
</coreProperties>
</file>